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Lst>
  <p:sldSz cx="18288000" cy="10287000"/>
  <p:notesSz cx="6858000" cy="9144000"/>
  <p:embeddedFontLst>
    <p:embeddedFont>
      <p:font typeface="Pattanakarn Heavy" charset="1" panose="00000000000000000000"/>
      <p:regular r:id="rId16"/>
    </p:embeddedFont>
    <p:embeddedFont>
      <p:font typeface="Open Sans" charset="1" panose="00000000000000000000"/>
      <p:regular r:id="rId17"/>
    </p:embeddedFont>
    <p:embeddedFont>
      <p:font typeface="Open Sans Medium" charset="1" panose="00000000000000000000"/>
      <p:regular r:id="rId18"/>
    </p:embeddedFont>
    <p:embeddedFont>
      <p:font typeface="Open Sans Bold Italics" charset="1" panose="00000000000000000000"/>
      <p:regular r:id="rId19"/>
    </p:embeddedFont>
    <p:embeddedFont>
      <p:font typeface="Handelson Two" charset="1" panose="00000100000000000000"/>
      <p:regular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fonts/font16.fntdata" Type="http://schemas.openxmlformats.org/officeDocument/2006/relationships/font"/><Relationship Id="rId17" Target="fonts/font17.fntdata" Type="http://schemas.openxmlformats.org/officeDocument/2006/relationships/font"/><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20" Target="fonts/font20.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jpeg" Type="http://schemas.openxmlformats.org/officeDocument/2006/relationships/image"/><Relationship Id="rId7" Target="../media/image6.jpe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050A30"/>
        </a:solidFill>
      </p:bgPr>
    </p:bg>
    <p:spTree>
      <p:nvGrpSpPr>
        <p:cNvPr id="1" name=""/>
        <p:cNvGrpSpPr/>
        <p:nvPr/>
      </p:nvGrpSpPr>
      <p:grpSpPr>
        <a:xfrm>
          <a:off x="0" y="0"/>
          <a:ext cx="0" cy="0"/>
          <a:chOff x="0" y="0"/>
          <a:chExt cx="0" cy="0"/>
        </a:xfrm>
      </p:grpSpPr>
      <p:sp>
        <p:nvSpPr>
          <p:cNvPr name="Freeform 2" id="2"/>
          <p:cNvSpPr/>
          <p:nvPr/>
        </p:nvSpPr>
        <p:spPr>
          <a:xfrm flipH="false" flipV="false" rot="-10800000">
            <a:off x="5446863" y="1446363"/>
            <a:ext cx="7394274" cy="7394274"/>
          </a:xfrm>
          <a:custGeom>
            <a:avLst/>
            <a:gdLst/>
            <a:ahLst/>
            <a:cxnLst/>
            <a:rect r="r" b="b" t="t" l="l"/>
            <a:pathLst>
              <a:path h="7394274" w="7394274">
                <a:moveTo>
                  <a:pt x="0" y="0"/>
                </a:moveTo>
                <a:lnTo>
                  <a:pt x="7394274" y="0"/>
                </a:lnTo>
                <a:lnTo>
                  <a:pt x="7394274" y="7394274"/>
                </a:lnTo>
                <a:lnTo>
                  <a:pt x="0" y="7394274"/>
                </a:lnTo>
                <a:lnTo>
                  <a:pt x="0" y="0"/>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6901637" y="1028700"/>
            <a:ext cx="357663" cy="271117"/>
            <a:chOff x="0" y="0"/>
            <a:chExt cx="476884" cy="361489"/>
          </a:xfrm>
        </p:grpSpPr>
        <p:sp>
          <p:nvSpPr>
            <p:cNvPr name="AutoShape 4" id="4"/>
            <p:cNvSpPr/>
            <p:nvPr/>
          </p:nvSpPr>
          <p:spPr>
            <a:xfrm>
              <a:off x="0" y="19050"/>
              <a:ext cx="476884" cy="0"/>
            </a:xfrm>
            <a:prstGeom prst="line">
              <a:avLst/>
            </a:prstGeom>
            <a:ln cap="flat" w="38100">
              <a:solidFill>
                <a:srgbClr val="FFFFFF"/>
              </a:solidFill>
              <a:prstDash val="solid"/>
              <a:headEnd type="none" len="sm" w="sm"/>
              <a:tailEnd type="none" len="sm" w="sm"/>
            </a:ln>
          </p:spPr>
        </p:sp>
        <p:sp>
          <p:nvSpPr>
            <p:cNvPr name="AutoShape 5" id="5"/>
            <p:cNvSpPr/>
            <p:nvPr/>
          </p:nvSpPr>
          <p:spPr>
            <a:xfrm>
              <a:off x="0" y="180744"/>
              <a:ext cx="476884" cy="0"/>
            </a:xfrm>
            <a:prstGeom prst="line">
              <a:avLst/>
            </a:prstGeom>
            <a:ln cap="flat" w="38100">
              <a:solidFill>
                <a:srgbClr val="FFFFFF"/>
              </a:solidFill>
              <a:prstDash val="solid"/>
              <a:headEnd type="none" len="sm" w="sm"/>
              <a:tailEnd type="none" len="sm" w="sm"/>
            </a:ln>
          </p:spPr>
        </p:sp>
        <p:sp>
          <p:nvSpPr>
            <p:cNvPr name="AutoShape 6" id="6"/>
            <p:cNvSpPr/>
            <p:nvPr/>
          </p:nvSpPr>
          <p:spPr>
            <a:xfrm>
              <a:off x="0" y="342439"/>
              <a:ext cx="476884" cy="0"/>
            </a:xfrm>
            <a:prstGeom prst="line">
              <a:avLst/>
            </a:prstGeom>
            <a:ln cap="flat" w="38100">
              <a:solidFill>
                <a:srgbClr val="FFFFFF"/>
              </a:solidFill>
              <a:prstDash val="solid"/>
              <a:headEnd type="none" len="sm" w="sm"/>
              <a:tailEnd type="none" len="sm" w="sm"/>
            </a:ln>
          </p:spPr>
        </p:sp>
      </p:grpSp>
      <p:sp>
        <p:nvSpPr>
          <p:cNvPr name="Freeform 7" id="7"/>
          <p:cNvSpPr/>
          <p:nvPr/>
        </p:nvSpPr>
        <p:spPr>
          <a:xfrm flipH="false" flipV="false" rot="0">
            <a:off x="1028700" y="8770994"/>
            <a:ext cx="471358" cy="487306"/>
          </a:xfrm>
          <a:custGeom>
            <a:avLst/>
            <a:gdLst/>
            <a:ahLst/>
            <a:cxnLst/>
            <a:rect r="r" b="b" t="t" l="l"/>
            <a:pathLst>
              <a:path h="487306" w="471358">
                <a:moveTo>
                  <a:pt x="0" y="0"/>
                </a:moveTo>
                <a:lnTo>
                  <a:pt x="471358" y="0"/>
                </a:lnTo>
                <a:lnTo>
                  <a:pt x="471358" y="487306"/>
                </a:lnTo>
                <a:lnTo>
                  <a:pt x="0" y="48730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8" id="8"/>
          <p:cNvSpPr txBox="true"/>
          <p:nvPr/>
        </p:nvSpPr>
        <p:spPr>
          <a:xfrm rot="0">
            <a:off x="3261051" y="3879476"/>
            <a:ext cx="12058423" cy="1732260"/>
          </a:xfrm>
          <a:prstGeom prst="rect">
            <a:avLst/>
          </a:prstGeom>
        </p:spPr>
        <p:txBody>
          <a:bodyPr anchor="t" rtlCol="false" tIns="0" lIns="0" bIns="0" rIns="0">
            <a:spAutoFit/>
          </a:bodyPr>
          <a:lstStyle/>
          <a:p>
            <a:pPr algn="ctr">
              <a:lnSpc>
                <a:spcPts val="14246"/>
              </a:lnSpc>
              <a:spcBef>
                <a:spcPct val="0"/>
              </a:spcBef>
            </a:pPr>
            <a:r>
              <a:rPr lang="en-US" b="true" sz="10175">
                <a:solidFill>
                  <a:srgbClr val="FFFFFF"/>
                </a:solidFill>
                <a:latin typeface="Pattanakarn Heavy"/>
                <a:ea typeface="Pattanakarn Heavy"/>
                <a:cs typeface="Pattanakarn Heavy"/>
                <a:sym typeface="Pattanakarn Heavy"/>
              </a:rPr>
              <a:t>SIGN - 2 - TEXT</a:t>
            </a:r>
          </a:p>
        </p:txBody>
      </p:sp>
      <p:sp>
        <p:nvSpPr>
          <p:cNvPr name="TextBox 9" id="9"/>
          <p:cNvSpPr txBox="true"/>
          <p:nvPr/>
        </p:nvSpPr>
        <p:spPr>
          <a:xfrm rot="0">
            <a:off x="6305476" y="8328846"/>
            <a:ext cx="5677047" cy="712472"/>
          </a:xfrm>
          <a:prstGeom prst="rect">
            <a:avLst/>
          </a:prstGeom>
        </p:spPr>
        <p:txBody>
          <a:bodyPr anchor="t" rtlCol="false" tIns="0" lIns="0" bIns="0" rIns="0">
            <a:spAutoFit/>
          </a:bodyPr>
          <a:lstStyle/>
          <a:p>
            <a:pPr algn="ctr">
              <a:lnSpc>
                <a:spcPts val="5879"/>
              </a:lnSpc>
              <a:spcBef>
                <a:spcPct val="0"/>
              </a:spcBef>
            </a:pPr>
            <a:r>
              <a:rPr lang="en-US" sz="4199">
                <a:solidFill>
                  <a:srgbClr val="FFFFFF"/>
                </a:solidFill>
                <a:latin typeface="Open Sans"/>
                <a:ea typeface="Open Sans"/>
                <a:cs typeface="Open Sans"/>
                <a:sym typeface="Open Sans"/>
              </a:rPr>
              <a:t>Team Number : 232</a:t>
            </a:r>
          </a:p>
        </p:txBody>
      </p:sp>
      <p:sp>
        <p:nvSpPr>
          <p:cNvPr name="TextBox 10" id="10"/>
          <p:cNvSpPr txBox="true"/>
          <p:nvPr/>
        </p:nvSpPr>
        <p:spPr>
          <a:xfrm rot="0">
            <a:off x="1028700" y="962025"/>
            <a:ext cx="1229970" cy="613411"/>
          </a:xfrm>
          <a:prstGeom prst="rect">
            <a:avLst/>
          </a:prstGeom>
        </p:spPr>
        <p:txBody>
          <a:bodyPr anchor="t" rtlCol="false" tIns="0" lIns="0" bIns="0" rIns="0">
            <a:spAutoFit/>
          </a:bodyPr>
          <a:lstStyle/>
          <a:p>
            <a:pPr algn="l">
              <a:lnSpc>
                <a:spcPts val="5039"/>
              </a:lnSpc>
              <a:spcBef>
                <a:spcPct val="0"/>
              </a:spcBef>
            </a:pPr>
            <a:r>
              <a:rPr lang="en-US" b="true" sz="3599">
                <a:solidFill>
                  <a:srgbClr val="FFFFFF"/>
                </a:solidFill>
                <a:latin typeface="Open Sans Medium"/>
                <a:ea typeface="Open Sans Medium"/>
                <a:cs typeface="Open Sans Medium"/>
                <a:sym typeface="Open Sans Medium"/>
              </a:rPr>
              <a:t>DEPI</a:t>
            </a:r>
          </a:p>
        </p:txBody>
      </p:sp>
      <p:sp>
        <p:nvSpPr>
          <p:cNvPr name="Freeform 11" id="11"/>
          <p:cNvSpPr/>
          <p:nvPr/>
        </p:nvSpPr>
        <p:spPr>
          <a:xfrm flipH="false" flipV="false" rot="0">
            <a:off x="16787942" y="8723182"/>
            <a:ext cx="471358" cy="487306"/>
          </a:xfrm>
          <a:custGeom>
            <a:avLst/>
            <a:gdLst/>
            <a:ahLst/>
            <a:cxnLst/>
            <a:rect r="r" b="b" t="t" l="l"/>
            <a:pathLst>
              <a:path h="487306" w="471358">
                <a:moveTo>
                  <a:pt x="0" y="0"/>
                </a:moveTo>
                <a:lnTo>
                  <a:pt x="471358" y="0"/>
                </a:lnTo>
                <a:lnTo>
                  <a:pt x="471358" y="487306"/>
                </a:lnTo>
                <a:lnTo>
                  <a:pt x="0" y="48730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050A30"/>
        </a:solidFill>
      </p:bgPr>
    </p:bg>
    <p:spTree>
      <p:nvGrpSpPr>
        <p:cNvPr id="1" name=""/>
        <p:cNvGrpSpPr/>
        <p:nvPr/>
      </p:nvGrpSpPr>
      <p:grpSpPr>
        <a:xfrm>
          <a:off x="0" y="0"/>
          <a:ext cx="0" cy="0"/>
          <a:chOff x="0" y="0"/>
          <a:chExt cx="0" cy="0"/>
        </a:xfrm>
      </p:grpSpPr>
      <p:sp>
        <p:nvSpPr>
          <p:cNvPr name="Freeform 2" id="2"/>
          <p:cNvSpPr/>
          <p:nvPr/>
        </p:nvSpPr>
        <p:spPr>
          <a:xfrm flipH="false" flipV="false" rot="-10800000">
            <a:off x="13383331" y="6589863"/>
            <a:ext cx="7394274" cy="7394274"/>
          </a:xfrm>
          <a:custGeom>
            <a:avLst/>
            <a:gdLst/>
            <a:ahLst/>
            <a:cxnLst/>
            <a:rect r="r" b="b" t="t" l="l"/>
            <a:pathLst>
              <a:path h="7394274" w="7394274">
                <a:moveTo>
                  <a:pt x="0" y="0"/>
                </a:moveTo>
                <a:lnTo>
                  <a:pt x="7394275" y="0"/>
                </a:lnTo>
                <a:lnTo>
                  <a:pt x="7394275" y="7394274"/>
                </a:lnTo>
                <a:lnTo>
                  <a:pt x="0" y="7394274"/>
                </a:lnTo>
                <a:lnTo>
                  <a:pt x="0" y="0"/>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6901637" y="1028700"/>
            <a:ext cx="357663" cy="271117"/>
            <a:chOff x="0" y="0"/>
            <a:chExt cx="476884" cy="361489"/>
          </a:xfrm>
        </p:grpSpPr>
        <p:sp>
          <p:nvSpPr>
            <p:cNvPr name="AutoShape 4" id="4"/>
            <p:cNvSpPr/>
            <p:nvPr/>
          </p:nvSpPr>
          <p:spPr>
            <a:xfrm>
              <a:off x="0" y="19050"/>
              <a:ext cx="476884" cy="0"/>
            </a:xfrm>
            <a:prstGeom prst="line">
              <a:avLst/>
            </a:prstGeom>
            <a:ln cap="flat" w="38100">
              <a:solidFill>
                <a:srgbClr val="FFFFFF"/>
              </a:solidFill>
              <a:prstDash val="solid"/>
              <a:headEnd type="none" len="sm" w="sm"/>
              <a:tailEnd type="none" len="sm" w="sm"/>
            </a:ln>
          </p:spPr>
        </p:sp>
        <p:sp>
          <p:nvSpPr>
            <p:cNvPr name="AutoShape 5" id="5"/>
            <p:cNvSpPr/>
            <p:nvPr/>
          </p:nvSpPr>
          <p:spPr>
            <a:xfrm>
              <a:off x="0" y="180744"/>
              <a:ext cx="476884" cy="0"/>
            </a:xfrm>
            <a:prstGeom prst="line">
              <a:avLst/>
            </a:prstGeom>
            <a:ln cap="flat" w="38100">
              <a:solidFill>
                <a:srgbClr val="FFFFFF"/>
              </a:solidFill>
              <a:prstDash val="solid"/>
              <a:headEnd type="none" len="sm" w="sm"/>
              <a:tailEnd type="none" len="sm" w="sm"/>
            </a:ln>
          </p:spPr>
        </p:sp>
        <p:sp>
          <p:nvSpPr>
            <p:cNvPr name="AutoShape 6" id="6"/>
            <p:cNvSpPr/>
            <p:nvPr/>
          </p:nvSpPr>
          <p:spPr>
            <a:xfrm>
              <a:off x="0" y="342439"/>
              <a:ext cx="476884" cy="0"/>
            </a:xfrm>
            <a:prstGeom prst="line">
              <a:avLst/>
            </a:prstGeom>
            <a:ln cap="flat" w="38100">
              <a:solidFill>
                <a:srgbClr val="FFFFFF"/>
              </a:solidFill>
              <a:prstDash val="solid"/>
              <a:headEnd type="none" len="sm" w="sm"/>
              <a:tailEnd type="none" len="sm" w="sm"/>
            </a:ln>
          </p:spPr>
        </p:sp>
      </p:grpSp>
      <p:sp>
        <p:nvSpPr>
          <p:cNvPr name="Freeform 7" id="7"/>
          <p:cNvSpPr/>
          <p:nvPr/>
        </p:nvSpPr>
        <p:spPr>
          <a:xfrm flipH="false" flipV="false" rot="0">
            <a:off x="413715" y="9492744"/>
            <a:ext cx="471358" cy="487306"/>
          </a:xfrm>
          <a:custGeom>
            <a:avLst/>
            <a:gdLst/>
            <a:ahLst/>
            <a:cxnLst/>
            <a:rect r="r" b="b" t="t" l="l"/>
            <a:pathLst>
              <a:path h="487306" w="471358">
                <a:moveTo>
                  <a:pt x="0" y="0"/>
                </a:moveTo>
                <a:lnTo>
                  <a:pt x="471358" y="0"/>
                </a:lnTo>
                <a:lnTo>
                  <a:pt x="471358" y="487307"/>
                </a:lnTo>
                <a:lnTo>
                  <a:pt x="0" y="48730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8" id="8"/>
          <p:cNvSpPr txBox="true"/>
          <p:nvPr/>
        </p:nvSpPr>
        <p:spPr>
          <a:xfrm rot="0">
            <a:off x="413715" y="885825"/>
            <a:ext cx="9523205" cy="1260439"/>
          </a:xfrm>
          <a:prstGeom prst="rect">
            <a:avLst/>
          </a:prstGeom>
        </p:spPr>
        <p:txBody>
          <a:bodyPr anchor="t" rtlCol="false" tIns="0" lIns="0" bIns="0" rIns="0">
            <a:spAutoFit/>
          </a:bodyPr>
          <a:lstStyle/>
          <a:p>
            <a:pPr algn="ctr">
              <a:lnSpc>
                <a:spcPts val="10327"/>
              </a:lnSpc>
              <a:spcBef>
                <a:spcPct val="0"/>
              </a:spcBef>
            </a:pPr>
            <a:r>
              <a:rPr lang="en-US" b="true" sz="7376">
                <a:solidFill>
                  <a:srgbClr val="FFFFFF"/>
                </a:solidFill>
                <a:latin typeface="Pattanakarn Heavy"/>
                <a:ea typeface="Pattanakarn Heavy"/>
                <a:cs typeface="Pattanakarn Heavy"/>
                <a:sym typeface="Pattanakarn Heavy"/>
              </a:rPr>
              <a:t>TEAM MEMBERS </a:t>
            </a:r>
          </a:p>
        </p:txBody>
      </p:sp>
      <p:sp>
        <p:nvSpPr>
          <p:cNvPr name="TextBox 9" id="9"/>
          <p:cNvSpPr txBox="true"/>
          <p:nvPr/>
        </p:nvSpPr>
        <p:spPr>
          <a:xfrm rot="0">
            <a:off x="413715" y="337746"/>
            <a:ext cx="1229970" cy="537846"/>
          </a:xfrm>
          <a:prstGeom prst="rect">
            <a:avLst/>
          </a:prstGeom>
        </p:spPr>
        <p:txBody>
          <a:bodyPr anchor="t" rtlCol="false" tIns="0" lIns="0" bIns="0" rIns="0">
            <a:spAutoFit/>
          </a:bodyPr>
          <a:lstStyle/>
          <a:p>
            <a:pPr algn="l">
              <a:lnSpc>
                <a:spcPts val="4479"/>
              </a:lnSpc>
              <a:spcBef>
                <a:spcPct val="0"/>
              </a:spcBef>
            </a:pPr>
            <a:r>
              <a:rPr lang="en-US" b="true" sz="3199">
                <a:solidFill>
                  <a:srgbClr val="FFFFFF"/>
                </a:solidFill>
                <a:latin typeface="Open Sans Medium"/>
                <a:ea typeface="Open Sans Medium"/>
                <a:cs typeface="Open Sans Medium"/>
                <a:sym typeface="Open Sans Medium"/>
              </a:rPr>
              <a:t>DEPI</a:t>
            </a:r>
          </a:p>
        </p:txBody>
      </p:sp>
      <p:sp>
        <p:nvSpPr>
          <p:cNvPr name="Freeform 10" id="10"/>
          <p:cNvSpPr/>
          <p:nvPr/>
        </p:nvSpPr>
        <p:spPr>
          <a:xfrm flipH="false" flipV="false" rot="0">
            <a:off x="16787942" y="8723182"/>
            <a:ext cx="471358" cy="487306"/>
          </a:xfrm>
          <a:custGeom>
            <a:avLst/>
            <a:gdLst/>
            <a:ahLst/>
            <a:cxnLst/>
            <a:rect r="r" b="b" t="t" l="l"/>
            <a:pathLst>
              <a:path h="487306" w="471358">
                <a:moveTo>
                  <a:pt x="0" y="0"/>
                </a:moveTo>
                <a:lnTo>
                  <a:pt x="471358" y="0"/>
                </a:lnTo>
                <a:lnTo>
                  <a:pt x="471358" y="487306"/>
                </a:lnTo>
                <a:lnTo>
                  <a:pt x="0" y="48730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1" id="11"/>
          <p:cNvGrpSpPr/>
          <p:nvPr/>
        </p:nvGrpSpPr>
        <p:grpSpPr>
          <a:xfrm rot="0">
            <a:off x="1028700" y="2582288"/>
            <a:ext cx="1228279" cy="1228279"/>
            <a:chOff x="0" y="0"/>
            <a:chExt cx="323497" cy="323497"/>
          </a:xfrm>
        </p:grpSpPr>
        <p:sp>
          <p:nvSpPr>
            <p:cNvPr name="Freeform 12" id="12"/>
            <p:cNvSpPr/>
            <p:nvPr/>
          </p:nvSpPr>
          <p:spPr>
            <a:xfrm flipH="false" flipV="false" rot="0">
              <a:off x="0" y="0"/>
              <a:ext cx="323497" cy="323497"/>
            </a:xfrm>
            <a:custGeom>
              <a:avLst/>
              <a:gdLst/>
              <a:ahLst/>
              <a:cxnLst/>
              <a:rect r="r" b="b" t="t" l="l"/>
              <a:pathLst>
                <a:path h="323497" w="323497">
                  <a:moveTo>
                    <a:pt x="161749" y="0"/>
                  </a:moveTo>
                  <a:lnTo>
                    <a:pt x="161749" y="0"/>
                  </a:lnTo>
                  <a:cubicBezTo>
                    <a:pt x="251080" y="0"/>
                    <a:pt x="323497" y="72417"/>
                    <a:pt x="323497" y="161749"/>
                  </a:cubicBezTo>
                  <a:lnTo>
                    <a:pt x="323497" y="161749"/>
                  </a:lnTo>
                  <a:cubicBezTo>
                    <a:pt x="323497" y="251080"/>
                    <a:pt x="251080" y="323497"/>
                    <a:pt x="161749" y="323497"/>
                  </a:cubicBezTo>
                  <a:lnTo>
                    <a:pt x="161749" y="323497"/>
                  </a:lnTo>
                  <a:cubicBezTo>
                    <a:pt x="72417" y="323497"/>
                    <a:pt x="0" y="251080"/>
                    <a:pt x="0" y="161749"/>
                  </a:cubicBezTo>
                  <a:lnTo>
                    <a:pt x="0" y="161749"/>
                  </a:lnTo>
                  <a:cubicBezTo>
                    <a:pt x="0" y="72417"/>
                    <a:pt x="72417" y="0"/>
                    <a:pt x="161749" y="0"/>
                  </a:cubicBezTo>
                  <a:close/>
                </a:path>
              </a:pathLst>
            </a:custGeom>
            <a:solidFill>
              <a:srgbClr val="E2A9F1"/>
            </a:solidFill>
          </p:spPr>
        </p:sp>
        <p:sp>
          <p:nvSpPr>
            <p:cNvPr name="TextBox 13" id="13"/>
            <p:cNvSpPr txBox="true"/>
            <p:nvPr/>
          </p:nvSpPr>
          <p:spPr>
            <a:xfrm>
              <a:off x="0" y="-57150"/>
              <a:ext cx="323497" cy="380647"/>
            </a:xfrm>
            <a:prstGeom prst="rect">
              <a:avLst/>
            </a:prstGeom>
          </p:spPr>
          <p:txBody>
            <a:bodyPr anchor="ctr" rtlCol="false" tIns="50800" lIns="50800" bIns="50800" rIns="50800"/>
            <a:lstStyle/>
            <a:p>
              <a:pPr algn="ctr">
                <a:lnSpc>
                  <a:spcPts val="3501"/>
                </a:lnSpc>
              </a:pPr>
            </a:p>
          </p:txBody>
        </p:sp>
      </p:grpSp>
      <p:sp>
        <p:nvSpPr>
          <p:cNvPr name="TextBox 14" id="14"/>
          <p:cNvSpPr txBox="true"/>
          <p:nvPr/>
        </p:nvSpPr>
        <p:spPr>
          <a:xfrm rot="0">
            <a:off x="1236598" y="2951970"/>
            <a:ext cx="812484" cy="431766"/>
          </a:xfrm>
          <a:prstGeom prst="rect">
            <a:avLst/>
          </a:prstGeom>
        </p:spPr>
        <p:txBody>
          <a:bodyPr anchor="t" rtlCol="false" tIns="0" lIns="0" bIns="0" rIns="0">
            <a:spAutoFit/>
          </a:bodyPr>
          <a:lstStyle/>
          <a:p>
            <a:pPr algn="ctr">
              <a:lnSpc>
                <a:spcPts val="3501"/>
              </a:lnSpc>
              <a:spcBef>
                <a:spcPct val="0"/>
              </a:spcBef>
            </a:pPr>
            <a:r>
              <a:rPr lang="en-US" b="true" sz="2501">
                <a:solidFill>
                  <a:srgbClr val="FFFFFF"/>
                </a:solidFill>
                <a:latin typeface="Open Sans Medium"/>
                <a:ea typeface="Open Sans Medium"/>
                <a:cs typeface="Open Sans Medium"/>
                <a:sym typeface="Open Sans Medium"/>
              </a:rPr>
              <a:t>01</a:t>
            </a:r>
          </a:p>
        </p:txBody>
      </p:sp>
      <p:grpSp>
        <p:nvGrpSpPr>
          <p:cNvPr name="Group 15" id="15"/>
          <p:cNvGrpSpPr/>
          <p:nvPr/>
        </p:nvGrpSpPr>
        <p:grpSpPr>
          <a:xfrm rot="0">
            <a:off x="1029546" y="4917558"/>
            <a:ext cx="1228279" cy="1228279"/>
            <a:chOff x="0" y="0"/>
            <a:chExt cx="323497" cy="323497"/>
          </a:xfrm>
        </p:grpSpPr>
        <p:sp>
          <p:nvSpPr>
            <p:cNvPr name="Freeform 16" id="16"/>
            <p:cNvSpPr/>
            <p:nvPr/>
          </p:nvSpPr>
          <p:spPr>
            <a:xfrm flipH="false" flipV="false" rot="0">
              <a:off x="0" y="0"/>
              <a:ext cx="323497" cy="323497"/>
            </a:xfrm>
            <a:custGeom>
              <a:avLst/>
              <a:gdLst/>
              <a:ahLst/>
              <a:cxnLst/>
              <a:rect r="r" b="b" t="t" l="l"/>
              <a:pathLst>
                <a:path h="323497" w="323497">
                  <a:moveTo>
                    <a:pt x="161749" y="0"/>
                  </a:moveTo>
                  <a:lnTo>
                    <a:pt x="161749" y="0"/>
                  </a:lnTo>
                  <a:cubicBezTo>
                    <a:pt x="251080" y="0"/>
                    <a:pt x="323497" y="72417"/>
                    <a:pt x="323497" y="161749"/>
                  </a:cubicBezTo>
                  <a:lnTo>
                    <a:pt x="323497" y="161749"/>
                  </a:lnTo>
                  <a:cubicBezTo>
                    <a:pt x="323497" y="251080"/>
                    <a:pt x="251080" y="323497"/>
                    <a:pt x="161749" y="323497"/>
                  </a:cubicBezTo>
                  <a:lnTo>
                    <a:pt x="161749" y="323497"/>
                  </a:lnTo>
                  <a:cubicBezTo>
                    <a:pt x="72417" y="323497"/>
                    <a:pt x="0" y="251080"/>
                    <a:pt x="0" y="161749"/>
                  </a:cubicBezTo>
                  <a:lnTo>
                    <a:pt x="0" y="161749"/>
                  </a:lnTo>
                  <a:cubicBezTo>
                    <a:pt x="0" y="72417"/>
                    <a:pt x="72417" y="0"/>
                    <a:pt x="161749" y="0"/>
                  </a:cubicBezTo>
                  <a:close/>
                </a:path>
              </a:pathLst>
            </a:custGeom>
            <a:solidFill>
              <a:srgbClr val="E2A9F1"/>
            </a:solidFill>
          </p:spPr>
        </p:sp>
        <p:sp>
          <p:nvSpPr>
            <p:cNvPr name="TextBox 17" id="17"/>
            <p:cNvSpPr txBox="true"/>
            <p:nvPr/>
          </p:nvSpPr>
          <p:spPr>
            <a:xfrm>
              <a:off x="0" y="-57150"/>
              <a:ext cx="323497" cy="380647"/>
            </a:xfrm>
            <a:prstGeom prst="rect">
              <a:avLst/>
            </a:prstGeom>
          </p:spPr>
          <p:txBody>
            <a:bodyPr anchor="ctr" rtlCol="false" tIns="50800" lIns="50800" bIns="50800" rIns="50800"/>
            <a:lstStyle/>
            <a:p>
              <a:pPr algn="ctr">
                <a:lnSpc>
                  <a:spcPts val="3501"/>
                </a:lnSpc>
              </a:pPr>
            </a:p>
          </p:txBody>
        </p:sp>
      </p:grpSp>
      <p:sp>
        <p:nvSpPr>
          <p:cNvPr name="TextBox 18" id="18"/>
          <p:cNvSpPr txBox="true"/>
          <p:nvPr/>
        </p:nvSpPr>
        <p:spPr>
          <a:xfrm rot="0">
            <a:off x="1237443" y="5287240"/>
            <a:ext cx="812484" cy="431766"/>
          </a:xfrm>
          <a:prstGeom prst="rect">
            <a:avLst/>
          </a:prstGeom>
        </p:spPr>
        <p:txBody>
          <a:bodyPr anchor="t" rtlCol="false" tIns="0" lIns="0" bIns="0" rIns="0">
            <a:spAutoFit/>
          </a:bodyPr>
          <a:lstStyle/>
          <a:p>
            <a:pPr algn="ctr">
              <a:lnSpc>
                <a:spcPts val="3501"/>
              </a:lnSpc>
              <a:spcBef>
                <a:spcPct val="0"/>
              </a:spcBef>
            </a:pPr>
            <a:r>
              <a:rPr lang="en-US" b="true" sz="2501">
                <a:solidFill>
                  <a:srgbClr val="FFFFFF"/>
                </a:solidFill>
                <a:latin typeface="Open Sans Medium"/>
                <a:ea typeface="Open Sans Medium"/>
                <a:cs typeface="Open Sans Medium"/>
                <a:sym typeface="Open Sans Medium"/>
              </a:rPr>
              <a:t>03</a:t>
            </a:r>
          </a:p>
        </p:txBody>
      </p:sp>
      <p:grpSp>
        <p:nvGrpSpPr>
          <p:cNvPr name="Group 19" id="19"/>
          <p:cNvGrpSpPr/>
          <p:nvPr/>
        </p:nvGrpSpPr>
        <p:grpSpPr>
          <a:xfrm rot="0">
            <a:off x="1029546" y="7479337"/>
            <a:ext cx="1228279" cy="1228279"/>
            <a:chOff x="0" y="0"/>
            <a:chExt cx="323497" cy="323497"/>
          </a:xfrm>
        </p:grpSpPr>
        <p:sp>
          <p:nvSpPr>
            <p:cNvPr name="Freeform 20" id="20"/>
            <p:cNvSpPr/>
            <p:nvPr/>
          </p:nvSpPr>
          <p:spPr>
            <a:xfrm flipH="false" flipV="false" rot="0">
              <a:off x="0" y="0"/>
              <a:ext cx="323497" cy="323497"/>
            </a:xfrm>
            <a:custGeom>
              <a:avLst/>
              <a:gdLst/>
              <a:ahLst/>
              <a:cxnLst/>
              <a:rect r="r" b="b" t="t" l="l"/>
              <a:pathLst>
                <a:path h="323497" w="323497">
                  <a:moveTo>
                    <a:pt x="161749" y="0"/>
                  </a:moveTo>
                  <a:lnTo>
                    <a:pt x="161749" y="0"/>
                  </a:lnTo>
                  <a:cubicBezTo>
                    <a:pt x="251080" y="0"/>
                    <a:pt x="323497" y="72417"/>
                    <a:pt x="323497" y="161749"/>
                  </a:cubicBezTo>
                  <a:lnTo>
                    <a:pt x="323497" y="161749"/>
                  </a:lnTo>
                  <a:cubicBezTo>
                    <a:pt x="323497" y="251080"/>
                    <a:pt x="251080" y="323497"/>
                    <a:pt x="161749" y="323497"/>
                  </a:cubicBezTo>
                  <a:lnTo>
                    <a:pt x="161749" y="323497"/>
                  </a:lnTo>
                  <a:cubicBezTo>
                    <a:pt x="72417" y="323497"/>
                    <a:pt x="0" y="251080"/>
                    <a:pt x="0" y="161749"/>
                  </a:cubicBezTo>
                  <a:lnTo>
                    <a:pt x="0" y="161749"/>
                  </a:lnTo>
                  <a:cubicBezTo>
                    <a:pt x="0" y="72417"/>
                    <a:pt x="72417" y="0"/>
                    <a:pt x="161749" y="0"/>
                  </a:cubicBezTo>
                  <a:close/>
                </a:path>
              </a:pathLst>
            </a:custGeom>
            <a:solidFill>
              <a:srgbClr val="E2A9F1"/>
            </a:solidFill>
          </p:spPr>
        </p:sp>
        <p:sp>
          <p:nvSpPr>
            <p:cNvPr name="TextBox 21" id="21"/>
            <p:cNvSpPr txBox="true"/>
            <p:nvPr/>
          </p:nvSpPr>
          <p:spPr>
            <a:xfrm>
              <a:off x="0" y="-57150"/>
              <a:ext cx="323497" cy="380647"/>
            </a:xfrm>
            <a:prstGeom prst="rect">
              <a:avLst/>
            </a:prstGeom>
          </p:spPr>
          <p:txBody>
            <a:bodyPr anchor="ctr" rtlCol="false" tIns="50800" lIns="50800" bIns="50800" rIns="50800"/>
            <a:lstStyle/>
            <a:p>
              <a:pPr algn="ctr">
                <a:lnSpc>
                  <a:spcPts val="3501"/>
                </a:lnSpc>
              </a:pPr>
            </a:p>
          </p:txBody>
        </p:sp>
      </p:grpSp>
      <p:sp>
        <p:nvSpPr>
          <p:cNvPr name="TextBox 22" id="22"/>
          <p:cNvSpPr txBox="true"/>
          <p:nvPr/>
        </p:nvSpPr>
        <p:spPr>
          <a:xfrm rot="0">
            <a:off x="1237443" y="7849018"/>
            <a:ext cx="812484" cy="431766"/>
          </a:xfrm>
          <a:prstGeom prst="rect">
            <a:avLst/>
          </a:prstGeom>
        </p:spPr>
        <p:txBody>
          <a:bodyPr anchor="t" rtlCol="false" tIns="0" lIns="0" bIns="0" rIns="0">
            <a:spAutoFit/>
          </a:bodyPr>
          <a:lstStyle/>
          <a:p>
            <a:pPr algn="ctr">
              <a:lnSpc>
                <a:spcPts val="3501"/>
              </a:lnSpc>
              <a:spcBef>
                <a:spcPct val="0"/>
              </a:spcBef>
            </a:pPr>
            <a:r>
              <a:rPr lang="en-US" b="true" sz="2501">
                <a:solidFill>
                  <a:srgbClr val="FFFFFF"/>
                </a:solidFill>
                <a:latin typeface="Open Sans Medium"/>
                <a:ea typeface="Open Sans Medium"/>
                <a:cs typeface="Open Sans Medium"/>
                <a:sym typeface="Open Sans Medium"/>
              </a:rPr>
              <a:t>05</a:t>
            </a:r>
          </a:p>
        </p:txBody>
      </p:sp>
      <p:grpSp>
        <p:nvGrpSpPr>
          <p:cNvPr name="Group 23" id="23"/>
          <p:cNvGrpSpPr/>
          <p:nvPr/>
        </p:nvGrpSpPr>
        <p:grpSpPr>
          <a:xfrm rot="0">
            <a:off x="9322781" y="2598798"/>
            <a:ext cx="1228279" cy="1228279"/>
            <a:chOff x="0" y="0"/>
            <a:chExt cx="323497" cy="323497"/>
          </a:xfrm>
        </p:grpSpPr>
        <p:sp>
          <p:nvSpPr>
            <p:cNvPr name="Freeform 24" id="24"/>
            <p:cNvSpPr/>
            <p:nvPr/>
          </p:nvSpPr>
          <p:spPr>
            <a:xfrm flipH="false" flipV="false" rot="0">
              <a:off x="0" y="0"/>
              <a:ext cx="323497" cy="323497"/>
            </a:xfrm>
            <a:custGeom>
              <a:avLst/>
              <a:gdLst/>
              <a:ahLst/>
              <a:cxnLst/>
              <a:rect r="r" b="b" t="t" l="l"/>
              <a:pathLst>
                <a:path h="323497" w="323497">
                  <a:moveTo>
                    <a:pt x="161749" y="0"/>
                  </a:moveTo>
                  <a:lnTo>
                    <a:pt x="161749" y="0"/>
                  </a:lnTo>
                  <a:cubicBezTo>
                    <a:pt x="251080" y="0"/>
                    <a:pt x="323497" y="72417"/>
                    <a:pt x="323497" y="161749"/>
                  </a:cubicBezTo>
                  <a:lnTo>
                    <a:pt x="323497" y="161749"/>
                  </a:lnTo>
                  <a:cubicBezTo>
                    <a:pt x="323497" y="251080"/>
                    <a:pt x="251080" y="323497"/>
                    <a:pt x="161749" y="323497"/>
                  </a:cubicBezTo>
                  <a:lnTo>
                    <a:pt x="161749" y="323497"/>
                  </a:lnTo>
                  <a:cubicBezTo>
                    <a:pt x="72417" y="323497"/>
                    <a:pt x="0" y="251080"/>
                    <a:pt x="0" y="161749"/>
                  </a:cubicBezTo>
                  <a:lnTo>
                    <a:pt x="0" y="161749"/>
                  </a:lnTo>
                  <a:cubicBezTo>
                    <a:pt x="0" y="72417"/>
                    <a:pt x="72417" y="0"/>
                    <a:pt x="161749" y="0"/>
                  </a:cubicBezTo>
                  <a:close/>
                </a:path>
              </a:pathLst>
            </a:custGeom>
            <a:solidFill>
              <a:srgbClr val="E2A9F1"/>
            </a:solidFill>
          </p:spPr>
        </p:sp>
        <p:sp>
          <p:nvSpPr>
            <p:cNvPr name="TextBox 25" id="25"/>
            <p:cNvSpPr txBox="true"/>
            <p:nvPr/>
          </p:nvSpPr>
          <p:spPr>
            <a:xfrm>
              <a:off x="0" y="-57150"/>
              <a:ext cx="323497" cy="380647"/>
            </a:xfrm>
            <a:prstGeom prst="rect">
              <a:avLst/>
            </a:prstGeom>
          </p:spPr>
          <p:txBody>
            <a:bodyPr anchor="ctr" rtlCol="false" tIns="50800" lIns="50800" bIns="50800" rIns="50800"/>
            <a:lstStyle/>
            <a:p>
              <a:pPr algn="ctr">
                <a:lnSpc>
                  <a:spcPts val="3501"/>
                </a:lnSpc>
              </a:pPr>
            </a:p>
          </p:txBody>
        </p:sp>
      </p:grpSp>
      <p:sp>
        <p:nvSpPr>
          <p:cNvPr name="TextBox 26" id="26"/>
          <p:cNvSpPr txBox="true"/>
          <p:nvPr/>
        </p:nvSpPr>
        <p:spPr>
          <a:xfrm rot="0">
            <a:off x="9530678" y="2968480"/>
            <a:ext cx="812484" cy="431766"/>
          </a:xfrm>
          <a:prstGeom prst="rect">
            <a:avLst/>
          </a:prstGeom>
        </p:spPr>
        <p:txBody>
          <a:bodyPr anchor="t" rtlCol="false" tIns="0" lIns="0" bIns="0" rIns="0">
            <a:spAutoFit/>
          </a:bodyPr>
          <a:lstStyle/>
          <a:p>
            <a:pPr algn="ctr">
              <a:lnSpc>
                <a:spcPts val="3501"/>
              </a:lnSpc>
              <a:spcBef>
                <a:spcPct val="0"/>
              </a:spcBef>
            </a:pPr>
            <a:r>
              <a:rPr lang="en-US" b="true" sz="2501">
                <a:solidFill>
                  <a:srgbClr val="FFFFFF"/>
                </a:solidFill>
                <a:latin typeface="Open Sans Medium"/>
                <a:ea typeface="Open Sans Medium"/>
                <a:cs typeface="Open Sans Medium"/>
                <a:sym typeface="Open Sans Medium"/>
              </a:rPr>
              <a:t>02</a:t>
            </a:r>
          </a:p>
        </p:txBody>
      </p:sp>
      <p:grpSp>
        <p:nvGrpSpPr>
          <p:cNvPr name="Group 27" id="27"/>
          <p:cNvGrpSpPr/>
          <p:nvPr/>
        </p:nvGrpSpPr>
        <p:grpSpPr>
          <a:xfrm rot="0">
            <a:off x="9321935" y="4933124"/>
            <a:ext cx="1228279" cy="1228279"/>
            <a:chOff x="0" y="0"/>
            <a:chExt cx="323497" cy="323497"/>
          </a:xfrm>
        </p:grpSpPr>
        <p:sp>
          <p:nvSpPr>
            <p:cNvPr name="Freeform 28" id="28"/>
            <p:cNvSpPr/>
            <p:nvPr/>
          </p:nvSpPr>
          <p:spPr>
            <a:xfrm flipH="false" flipV="false" rot="0">
              <a:off x="0" y="0"/>
              <a:ext cx="323497" cy="323497"/>
            </a:xfrm>
            <a:custGeom>
              <a:avLst/>
              <a:gdLst/>
              <a:ahLst/>
              <a:cxnLst/>
              <a:rect r="r" b="b" t="t" l="l"/>
              <a:pathLst>
                <a:path h="323497" w="323497">
                  <a:moveTo>
                    <a:pt x="161749" y="0"/>
                  </a:moveTo>
                  <a:lnTo>
                    <a:pt x="161749" y="0"/>
                  </a:lnTo>
                  <a:cubicBezTo>
                    <a:pt x="251080" y="0"/>
                    <a:pt x="323497" y="72417"/>
                    <a:pt x="323497" y="161749"/>
                  </a:cubicBezTo>
                  <a:lnTo>
                    <a:pt x="323497" y="161749"/>
                  </a:lnTo>
                  <a:cubicBezTo>
                    <a:pt x="323497" y="251080"/>
                    <a:pt x="251080" y="323497"/>
                    <a:pt x="161749" y="323497"/>
                  </a:cubicBezTo>
                  <a:lnTo>
                    <a:pt x="161749" y="323497"/>
                  </a:lnTo>
                  <a:cubicBezTo>
                    <a:pt x="72417" y="323497"/>
                    <a:pt x="0" y="251080"/>
                    <a:pt x="0" y="161749"/>
                  </a:cubicBezTo>
                  <a:lnTo>
                    <a:pt x="0" y="161749"/>
                  </a:lnTo>
                  <a:cubicBezTo>
                    <a:pt x="0" y="72417"/>
                    <a:pt x="72417" y="0"/>
                    <a:pt x="161749" y="0"/>
                  </a:cubicBezTo>
                  <a:close/>
                </a:path>
              </a:pathLst>
            </a:custGeom>
            <a:solidFill>
              <a:srgbClr val="E2A9F1"/>
            </a:solidFill>
          </p:spPr>
        </p:sp>
        <p:sp>
          <p:nvSpPr>
            <p:cNvPr name="TextBox 29" id="29"/>
            <p:cNvSpPr txBox="true"/>
            <p:nvPr/>
          </p:nvSpPr>
          <p:spPr>
            <a:xfrm>
              <a:off x="0" y="-57150"/>
              <a:ext cx="323497" cy="380647"/>
            </a:xfrm>
            <a:prstGeom prst="rect">
              <a:avLst/>
            </a:prstGeom>
          </p:spPr>
          <p:txBody>
            <a:bodyPr anchor="ctr" rtlCol="false" tIns="50800" lIns="50800" bIns="50800" rIns="50800"/>
            <a:lstStyle/>
            <a:p>
              <a:pPr algn="ctr">
                <a:lnSpc>
                  <a:spcPts val="3501"/>
                </a:lnSpc>
              </a:pPr>
            </a:p>
          </p:txBody>
        </p:sp>
      </p:grpSp>
      <p:sp>
        <p:nvSpPr>
          <p:cNvPr name="TextBox 30" id="30"/>
          <p:cNvSpPr txBox="true"/>
          <p:nvPr/>
        </p:nvSpPr>
        <p:spPr>
          <a:xfrm rot="0">
            <a:off x="9529833" y="5302805"/>
            <a:ext cx="812484" cy="431766"/>
          </a:xfrm>
          <a:prstGeom prst="rect">
            <a:avLst/>
          </a:prstGeom>
        </p:spPr>
        <p:txBody>
          <a:bodyPr anchor="t" rtlCol="false" tIns="0" lIns="0" bIns="0" rIns="0">
            <a:spAutoFit/>
          </a:bodyPr>
          <a:lstStyle/>
          <a:p>
            <a:pPr algn="ctr">
              <a:lnSpc>
                <a:spcPts val="3501"/>
              </a:lnSpc>
              <a:spcBef>
                <a:spcPct val="0"/>
              </a:spcBef>
            </a:pPr>
            <a:r>
              <a:rPr lang="en-US" b="true" sz="2501">
                <a:solidFill>
                  <a:srgbClr val="FFFFFF"/>
                </a:solidFill>
                <a:latin typeface="Open Sans Medium"/>
                <a:ea typeface="Open Sans Medium"/>
                <a:cs typeface="Open Sans Medium"/>
                <a:sym typeface="Open Sans Medium"/>
              </a:rPr>
              <a:t>04</a:t>
            </a:r>
          </a:p>
        </p:txBody>
      </p:sp>
      <p:grpSp>
        <p:nvGrpSpPr>
          <p:cNvPr name="Group 31" id="31"/>
          <p:cNvGrpSpPr/>
          <p:nvPr/>
        </p:nvGrpSpPr>
        <p:grpSpPr>
          <a:xfrm rot="0">
            <a:off x="9322781" y="7494903"/>
            <a:ext cx="1228279" cy="1228279"/>
            <a:chOff x="0" y="0"/>
            <a:chExt cx="323497" cy="323497"/>
          </a:xfrm>
        </p:grpSpPr>
        <p:sp>
          <p:nvSpPr>
            <p:cNvPr name="Freeform 32" id="32"/>
            <p:cNvSpPr/>
            <p:nvPr/>
          </p:nvSpPr>
          <p:spPr>
            <a:xfrm flipH="false" flipV="false" rot="0">
              <a:off x="0" y="0"/>
              <a:ext cx="323497" cy="323497"/>
            </a:xfrm>
            <a:custGeom>
              <a:avLst/>
              <a:gdLst/>
              <a:ahLst/>
              <a:cxnLst/>
              <a:rect r="r" b="b" t="t" l="l"/>
              <a:pathLst>
                <a:path h="323497" w="323497">
                  <a:moveTo>
                    <a:pt x="161749" y="0"/>
                  </a:moveTo>
                  <a:lnTo>
                    <a:pt x="161749" y="0"/>
                  </a:lnTo>
                  <a:cubicBezTo>
                    <a:pt x="251080" y="0"/>
                    <a:pt x="323497" y="72417"/>
                    <a:pt x="323497" y="161749"/>
                  </a:cubicBezTo>
                  <a:lnTo>
                    <a:pt x="323497" y="161749"/>
                  </a:lnTo>
                  <a:cubicBezTo>
                    <a:pt x="323497" y="251080"/>
                    <a:pt x="251080" y="323497"/>
                    <a:pt x="161749" y="323497"/>
                  </a:cubicBezTo>
                  <a:lnTo>
                    <a:pt x="161749" y="323497"/>
                  </a:lnTo>
                  <a:cubicBezTo>
                    <a:pt x="72417" y="323497"/>
                    <a:pt x="0" y="251080"/>
                    <a:pt x="0" y="161749"/>
                  </a:cubicBezTo>
                  <a:lnTo>
                    <a:pt x="0" y="161749"/>
                  </a:lnTo>
                  <a:cubicBezTo>
                    <a:pt x="0" y="72417"/>
                    <a:pt x="72417" y="0"/>
                    <a:pt x="161749" y="0"/>
                  </a:cubicBezTo>
                  <a:close/>
                </a:path>
              </a:pathLst>
            </a:custGeom>
            <a:solidFill>
              <a:srgbClr val="E2A9F1"/>
            </a:solidFill>
          </p:spPr>
        </p:sp>
        <p:sp>
          <p:nvSpPr>
            <p:cNvPr name="TextBox 33" id="33"/>
            <p:cNvSpPr txBox="true"/>
            <p:nvPr/>
          </p:nvSpPr>
          <p:spPr>
            <a:xfrm>
              <a:off x="0" y="-57150"/>
              <a:ext cx="323497" cy="380647"/>
            </a:xfrm>
            <a:prstGeom prst="rect">
              <a:avLst/>
            </a:prstGeom>
          </p:spPr>
          <p:txBody>
            <a:bodyPr anchor="ctr" rtlCol="false" tIns="50800" lIns="50800" bIns="50800" rIns="50800"/>
            <a:lstStyle/>
            <a:p>
              <a:pPr algn="ctr">
                <a:lnSpc>
                  <a:spcPts val="3501"/>
                </a:lnSpc>
              </a:pPr>
            </a:p>
          </p:txBody>
        </p:sp>
      </p:grpSp>
      <p:sp>
        <p:nvSpPr>
          <p:cNvPr name="TextBox 34" id="34"/>
          <p:cNvSpPr txBox="true"/>
          <p:nvPr/>
        </p:nvSpPr>
        <p:spPr>
          <a:xfrm rot="0">
            <a:off x="9530678" y="7864584"/>
            <a:ext cx="812484" cy="431766"/>
          </a:xfrm>
          <a:prstGeom prst="rect">
            <a:avLst/>
          </a:prstGeom>
        </p:spPr>
        <p:txBody>
          <a:bodyPr anchor="t" rtlCol="false" tIns="0" lIns="0" bIns="0" rIns="0">
            <a:spAutoFit/>
          </a:bodyPr>
          <a:lstStyle/>
          <a:p>
            <a:pPr algn="ctr">
              <a:lnSpc>
                <a:spcPts val="3501"/>
              </a:lnSpc>
              <a:spcBef>
                <a:spcPct val="0"/>
              </a:spcBef>
            </a:pPr>
            <a:r>
              <a:rPr lang="en-US" b="true" sz="2501">
                <a:solidFill>
                  <a:srgbClr val="FFFFFF"/>
                </a:solidFill>
                <a:latin typeface="Open Sans Medium"/>
                <a:ea typeface="Open Sans Medium"/>
                <a:cs typeface="Open Sans Medium"/>
                <a:sym typeface="Open Sans Medium"/>
              </a:rPr>
              <a:t>06</a:t>
            </a:r>
          </a:p>
        </p:txBody>
      </p:sp>
      <p:sp>
        <p:nvSpPr>
          <p:cNvPr name="TextBox 35" id="35"/>
          <p:cNvSpPr txBox="true"/>
          <p:nvPr/>
        </p:nvSpPr>
        <p:spPr>
          <a:xfrm rot="0">
            <a:off x="2625940" y="2721764"/>
            <a:ext cx="5732800" cy="887097"/>
          </a:xfrm>
          <a:prstGeom prst="rect">
            <a:avLst/>
          </a:prstGeom>
        </p:spPr>
        <p:txBody>
          <a:bodyPr anchor="t" rtlCol="false" tIns="0" lIns="0" bIns="0" rIns="0">
            <a:spAutoFit/>
          </a:bodyPr>
          <a:lstStyle/>
          <a:p>
            <a:pPr algn="ctr">
              <a:lnSpc>
                <a:spcPts val="7279"/>
              </a:lnSpc>
            </a:pPr>
            <a:r>
              <a:rPr lang="en-US" b="true" sz="5199" i="true">
                <a:solidFill>
                  <a:srgbClr val="FFFFFF"/>
                </a:solidFill>
                <a:latin typeface="Open Sans Bold Italics"/>
                <a:ea typeface="Open Sans Bold Italics"/>
                <a:cs typeface="Open Sans Bold Italics"/>
                <a:sym typeface="Open Sans Bold Italics"/>
              </a:rPr>
              <a:t>Z</a:t>
            </a:r>
            <a:r>
              <a:rPr lang="en-US" b="true" sz="5199" i="true">
                <a:solidFill>
                  <a:srgbClr val="FFFFFF"/>
                </a:solidFill>
                <a:latin typeface="Open Sans Bold Italics"/>
                <a:ea typeface="Open Sans Bold Italics"/>
                <a:cs typeface="Open Sans Bold Italics"/>
                <a:sym typeface="Open Sans Bold Italics"/>
              </a:rPr>
              <a:t>enab Osama </a:t>
            </a:r>
          </a:p>
        </p:txBody>
      </p:sp>
      <p:sp>
        <p:nvSpPr>
          <p:cNvPr name="TextBox 36" id="36"/>
          <p:cNvSpPr txBox="true"/>
          <p:nvPr/>
        </p:nvSpPr>
        <p:spPr>
          <a:xfrm rot="0">
            <a:off x="2625940" y="5048250"/>
            <a:ext cx="5732800" cy="887097"/>
          </a:xfrm>
          <a:prstGeom prst="rect">
            <a:avLst/>
          </a:prstGeom>
        </p:spPr>
        <p:txBody>
          <a:bodyPr anchor="t" rtlCol="false" tIns="0" lIns="0" bIns="0" rIns="0">
            <a:spAutoFit/>
          </a:bodyPr>
          <a:lstStyle/>
          <a:p>
            <a:pPr algn="ctr">
              <a:lnSpc>
                <a:spcPts val="7279"/>
              </a:lnSpc>
            </a:pPr>
            <a:r>
              <a:rPr lang="en-US" b="true" sz="5199" i="true">
                <a:solidFill>
                  <a:srgbClr val="FFFFFF"/>
                </a:solidFill>
                <a:latin typeface="Open Sans Bold Italics"/>
                <a:ea typeface="Open Sans Bold Italics"/>
                <a:cs typeface="Open Sans Bold Italics"/>
                <a:sym typeface="Open Sans Bold Italics"/>
              </a:rPr>
              <a:t>Ha</a:t>
            </a:r>
            <a:r>
              <a:rPr lang="en-US" b="true" sz="5199" i="true">
                <a:solidFill>
                  <a:srgbClr val="FFFFFF"/>
                </a:solidFill>
                <a:latin typeface="Open Sans Bold Italics"/>
                <a:ea typeface="Open Sans Bold Italics"/>
                <a:cs typeface="Open Sans Bold Italics"/>
                <a:sym typeface="Open Sans Bold Italics"/>
              </a:rPr>
              <a:t>na Ibrahim</a:t>
            </a:r>
          </a:p>
        </p:txBody>
      </p:sp>
      <p:sp>
        <p:nvSpPr>
          <p:cNvPr name="TextBox 37" id="37"/>
          <p:cNvSpPr txBox="true"/>
          <p:nvPr/>
        </p:nvSpPr>
        <p:spPr>
          <a:xfrm rot="0">
            <a:off x="2626786" y="7602303"/>
            <a:ext cx="5732800" cy="887097"/>
          </a:xfrm>
          <a:prstGeom prst="rect">
            <a:avLst/>
          </a:prstGeom>
        </p:spPr>
        <p:txBody>
          <a:bodyPr anchor="t" rtlCol="false" tIns="0" lIns="0" bIns="0" rIns="0">
            <a:spAutoFit/>
          </a:bodyPr>
          <a:lstStyle/>
          <a:p>
            <a:pPr algn="ctr">
              <a:lnSpc>
                <a:spcPts val="7279"/>
              </a:lnSpc>
            </a:pPr>
            <a:r>
              <a:rPr lang="en-US" b="true" sz="5199" i="true">
                <a:solidFill>
                  <a:srgbClr val="FFFFFF"/>
                </a:solidFill>
                <a:latin typeface="Open Sans Bold Italics"/>
                <a:ea typeface="Open Sans Bold Italics"/>
                <a:cs typeface="Open Sans Bold Italics"/>
                <a:sym typeface="Open Sans Bold Italics"/>
              </a:rPr>
              <a:t>Ahm</a:t>
            </a:r>
            <a:r>
              <a:rPr lang="en-US" b="true" sz="5199" i="true">
                <a:solidFill>
                  <a:srgbClr val="FFFFFF"/>
                </a:solidFill>
                <a:latin typeface="Open Sans Bold Italics"/>
                <a:ea typeface="Open Sans Bold Italics"/>
                <a:cs typeface="Open Sans Bold Italics"/>
                <a:sym typeface="Open Sans Bold Italics"/>
              </a:rPr>
              <a:t>ed Saeed</a:t>
            </a:r>
          </a:p>
        </p:txBody>
      </p:sp>
      <p:sp>
        <p:nvSpPr>
          <p:cNvPr name="TextBox 38" id="38"/>
          <p:cNvSpPr txBox="true"/>
          <p:nvPr/>
        </p:nvSpPr>
        <p:spPr>
          <a:xfrm rot="0">
            <a:off x="10757904" y="2721764"/>
            <a:ext cx="7353637" cy="887097"/>
          </a:xfrm>
          <a:prstGeom prst="rect">
            <a:avLst/>
          </a:prstGeom>
        </p:spPr>
        <p:txBody>
          <a:bodyPr anchor="t" rtlCol="false" tIns="0" lIns="0" bIns="0" rIns="0">
            <a:spAutoFit/>
          </a:bodyPr>
          <a:lstStyle/>
          <a:p>
            <a:pPr algn="ctr">
              <a:lnSpc>
                <a:spcPts val="7279"/>
              </a:lnSpc>
            </a:pPr>
            <a:r>
              <a:rPr lang="en-US" b="true" sz="5199" i="true">
                <a:solidFill>
                  <a:srgbClr val="FFFFFF"/>
                </a:solidFill>
                <a:latin typeface="Open Sans Bold Italics"/>
                <a:ea typeface="Open Sans Bold Italics"/>
                <a:cs typeface="Open Sans Bold Italics"/>
                <a:sym typeface="Open Sans Bold Italics"/>
              </a:rPr>
              <a:t>Abd</a:t>
            </a:r>
            <a:r>
              <a:rPr lang="en-US" b="true" sz="5199" i="true">
                <a:solidFill>
                  <a:srgbClr val="FFFFFF"/>
                </a:solidFill>
                <a:latin typeface="Open Sans Bold Italics"/>
                <a:ea typeface="Open Sans Bold Italics"/>
                <a:cs typeface="Open Sans Bold Italics"/>
                <a:sym typeface="Open Sans Bold Italics"/>
              </a:rPr>
              <a:t>elrahman Darwish</a:t>
            </a:r>
          </a:p>
        </p:txBody>
      </p:sp>
      <p:sp>
        <p:nvSpPr>
          <p:cNvPr name="TextBox 39" id="39"/>
          <p:cNvSpPr txBox="true"/>
          <p:nvPr/>
        </p:nvSpPr>
        <p:spPr>
          <a:xfrm rot="0">
            <a:off x="11526500" y="5048250"/>
            <a:ext cx="5732800" cy="887097"/>
          </a:xfrm>
          <a:prstGeom prst="rect">
            <a:avLst/>
          </a:prstGeom>
        </p:spPr>
        <p:txBody>
          <a:bodyPr anchor="t" rtlCol="false" tIns="0" lIns="0" bIns="0" rIns="0">
            <a:spAutoFit/>
          </a:bodyPr>
          <a:lstStyle/>
          <a:p>
            <a:pPr algn="ctr">
              <a:lnSpc>
                <a:spcPts val="7279"/>
              </a:lnSpc>
            </a:pPr>
            <a:r>
              <a:rPr lang="en-US" b="true" sz="5199" i="true">
                <a:solidFill>
                  <a:srgbClr val="FFFFFF"/>
                </a:solidFill>
                <a:latin typeface="Open Sans Bold Italics"/>
                <a:ea typeface="Open Sans Bold Italics"/>
                <a:cs typeface="Open Sans Bold Italics"/>
                <a:sym typeface="Open Sans Bold Italics"/>
              </a:rPr>
              <a:t>Amr</a:t>
            </a:r>
            <a:r>
              <a:rPr lang="en-US" b="true" sz="5199" i="true">
                <a:solidFill>
                  <a:srgbClr val="FFFFFF"/>
                </a:solidFill>
                <a:latin typeface="Open Sans Bold Italics"/>
                <a:ea typeface="Open Sans Bold Italics"/>
                <a:cs typeface="Open Sans Bold Italics"/>
                <a:sym typeface="Open Sans Bold Italics"/>
              </a:rPr>
              <a:t> Fouad</a:t>
            </a:r>
          </a:p>
        </p:txBody>
      </p:sp>
      <p:sp>
        <p:nvSpPr>
          <p:cNvPr name="TextBox 40" id="40"/>
          <p:cNvSpPr txBox="true"/>
          <p:nvPr/>
        </p:nvSpPr>
        <p:spPr>
          <a:xfrm rot="0">
            <a:off x="11527346" y="7636060"/>
            <a:ext cx="5732800" cy="887097"/>
          </a:xfrm>
          <a:prstGeom prst="rect">
            <a:avLst/>
          </a:prstGeom>
        </p:spPr>
        <p:txBody>
          <a:bodyPr anchor="t" rtlCol="false" tIns="0" lIns="0" bIns="0" rIns="0">
            <a:spAutoFit/>
          </a:bodyPr>
          <a:lstStyle/>
          <a:p>
            <a:pPr algn="ctr">
              <a:lnSpc>
                <a:spcPts val="7279"/>
              </a:lnSpc>
            </a:pPr>
            <a:r>
              <a:rPr lang="en-US" b="true" sz="5199" i="true">
                <a:solidFill>
                  <a:srgbClr val="FFFFFF"/>
                </a:solidFill>
                <a:latin typeface="Open Sans Bold Italics"/>
                <a:ea typeface="Open Sans Bold Italics"/>
                <a:cs typeface="Open Sans Bold Italics"/>
                <a:sym typeface="Open Sans Bold Italics"/>
              </a:rPr>
              <a:t>M</a:t>
            </a:r>
            <a:r>
              <a:rPr lang="en-US" b="true" sz="5199" i="true">
                <a:solidFill>
                  <a:srgbClr val="FFFFFF"/>
                </a:solidFill>
                <a:latin typeface="Open Sans Bold Italics"/>
                <a:ea typeface="Open Sans Bold Italics"/>
                <a:cs typeface="Open Sans Bold Italics"/>
                <a:sym typeface="Open Sans Bold Italics"/>
              </a:rPr>
              <a:t>ahmoud Hallul</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050A30"/>
        </a:solidFill>
      </p:bgPr>
    </p:bg>
    <p:spTree>
      <p:nvGrpSpPr>
        <p:cNvPr id="1" name=""/>
        <p:cNvGrpSpPr/>
        <p:nvPr/>
      </p:nvGrpSpPr>
      <p:grpSpPr>
        <a:xfrm>
          <a:off x="0" y="0"/>
          <a:ext cx="0" cy="0"/>
          <a:chOff x="0" y="0"/>
          <a:chExt cx="0" cy="0"/>
        </a:xfrm>
      </p:grpSpPr>
      <p:sp>
        <p:nvSpPr>
          <p:cNvPr name="Freeform 2" id="2"/>
          <p:cNvSpPr/>
          <p:nvPr/>
        </p:nvSpPr>
        <p:spPr>
          <a:xfrm flipH="false" flipV="false" rot="-10800000">
            <a:off x="3881099" y="-3883348"/>
            <a:ext cx="7394274" cy="7394274"/>
          </a:xfrm>
          <a:custGeom>
            <a:avLst/>
            <a:gdLst/>
            <a:ahLst/>
            <a:cxnLst/>
            <a:rect r="r" b="b" t="t" l="l"/>
            <a:pathLst>
              <a:path h="7394274" w="7394274">
                <a:moveTo>
                  <a:pt x="0" y="0"/>
                </a:moveTo>
                <a:lnTo>
                  <a:pt x="7394275" y="0"/>
                </a:lnTo>
                <a:lnTo>
                  <a:pt x="7394275" y="7394275"/>
                </a:lnTo>
                <a:lnTo>
                  <a:pt x="0" y="7394275"/>
                </a:lnTo>
                <a:lnTo>
                  <a:pt x="0" y="0"/>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true" rot="-10800000">
            <a:off x="-4156279" y="7523558"/>
            <a:ext cx="7394274" cy="7394274"/>
          </a:xfrm>
          <a:custGeom>
            <a:avLst/>
            <a:gdLst/>
            <a:ahLst/>
            <a:cxnLst/>
            <a:rect r="r" b="b" t="t" l="l"/>
            <a:pathLst>
              <a:path h="7394274" w="7394274">
                <a:moveTo>
                  <a:pt x="7394274" y="7394274"/>
                </a:moveTo>
                <a:lnTo>
                  <a:pt x="0" y="7394274"/>
                </a:lnTo>
                <a:lnTo>
                  <a:pt x="0" y="0"/>
                </a:lnTo>
                <a:lnTo>
                  <a:pt x="7394274" y="0"/>
                </a:lnTo>
                <a:lnTo>
                  <a:pt x="7394274" y="7394274"/>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p:spPr>
      </p:sp>
      <p:grpSp>
        <p:nvGrpSpPr>
          <p:cNvPr name="Group 4" id="4"/>
          <p:cNvGrpSpPr/>
          <p:nvPr/>
        </p:nvGrpSpPr>
        <p:grpSpPr>
          <a:xfrm rot="0">
            <a:off x="17259300" y="501367"/>
            <a:ext cx="357663" cy="271117"/>
            <a:chOff x="0" y="0"/>
            <a:chExt cx="476884" cy="361489"/>
          </a:xfrm>
        </p:grpSpPr>
        <p:sp>
          <p:nvSpPr>
            <p:cNvPr name="AutoShape 5" id="5"/>
            <p:cNvSpPr/>
            <p:nvPr/>
          </p:nvSpPr>
          <p:spPr>
            <a:xfrm>
              <a:off x="0" y="19050"/>
              <a:ext cx="476884" cy="0"/>
            </a:xfrm>
            <a:prstGeom prst="line">
              <a:avLst/>
            </a:prstGeom>
            <a:ln cap="flat" w="38100">
              <a:solidFill>
                <a:srgbClr val="FFFFFF"/>
              </a:solidFill>
              <a:prstDash val="solid"/>
              <a:headEnd type="none" len="sm" w="sm"/>
              <a:tailEnd type="none" len="sm" w="sm"/>
            </a:ln>
          </p:spPr>
        </p:sp>
        <p:sp>
          <p:nvSpPr>
            <p:cNvPr name="AutoShape 6" id="6"/>
            <p:cNvSpPr/>
            <p:nvPr/>
          </p:nvSpPr>
          <p:spPr>
            <a:xfrm>
              <a:off x="0" y="180744"/>
              <a:ext cx="476884" cy="0"/>
            </a:xfrm>
            <a:prstGeom prst="line">
              <a:avLst/>
            </a:prstGeom>
            <a:ln cap="flat" w="38100">
              <a:solidFill>
                <a:srgbClr val="FFFFFF"/>
              </a:solidFill>
              <a:prstDash val="solid"/>
              <a:headEnd type="none" len="sm" w="sm"/>
              <a:tailEnd type="none" len="sm" w="sm"/>
            </a:ln>
          </p:spPr>
        </p:sp>
        <p:sp>
          <p:nvSpPr>
            <p:cNvPr name="AutoShape 7" id="7"/>
            <p:cNvSpPr/>
            <p:nvPr/>
          </p:nvSpPr>
          <p:spPr>
            <a:xfrm>
              <a:off x="0" y="342439"/>
              <a:ext cx="476884" cy="0"/>
            </a:xfrm>
            <a:prstGeom prst="line">
              <a:avLst/>
            </a:prstGeom>
            <a:ln cap="flat" w="38100">
              <a:solidFill>
                <a:srgbClr val="FFFFFF"/>
              </a:solidFill>
              <a:prstDash val="solid"/>
              <a:headEnd type="none" len="sm" w="sm"/>
              <a:tailEnd type="none" len="sm" w="sm"/>
            </a:ln>
          </p:spPr>
        </p:sp>
      </p:grpSp>
      <p:sp>
        <p:nvSpPr>
          <p:cNvPr name="AutoShape 8" id="8"/>
          <p:cNvSpPr/>
          <p:nvPr/>
        </p:nvSpPr>
        <p:spPr>
          <a:xfrm>
            <a:off x="2081527" y="4187731"/>
            <a:ext cx="5982250" cy="0"/>
          </a:xfrm>
          <a:prstGeom prst="line">
            <a:avLst/>
          </a:prstGeom>
          <a:ln cap="flat" w="28575">
            <a:solidFill>
              <a:srgbClr val="FFFFFF"/>
            </a:solidFill>
            <a:prstDash val="solid"/>
            <a:headEnd type="none" len="sm" w="sm"/>
            <a:tailEnd type="none" len="sm" w="sm"/>
          </a:ln>
        </p:spPr>
      </p:sp>
      <p:grpSp>
        <p:nvGrpSpPr>
          <p:cNvPr name="Group 9" id="9"/>
          <p:cNvGrpSpPr/>
          <p:nvPr/>
        </p:nvGrpSpPr>
        <p:grpSpPr>
          <a:xfrm rot="0">
            <a:off x="384810" y="2146264"/>
            <a:ext cx="1228279" cy="1228279"/>
            <a:chOff x="0" y="0"/>
            <a:chExt cx="323497" cy="323497"/>
          </a:xfrm>
        </p:grpSpPr>
        <p:sp>
          <p:nvSpPr>
            <p:cNvPr name="Freeform 10" id="10"/>
            <p:cNvSpPr/>
            <p:nvPr/>
          </p:nvSpPr>
          <p:spPr>
            <a:xfrm flipH="false" flipV="false" rot="0">
              <a:off x="0" y="0"/>
              <a:ext cx="323497" cy="323497"/>
            </a:xfrm>
            <a:custGeom>
              <a:avLst/>
              <a:gdLst/>
              <a:ahLst/>
              <a:cxnLst/>
              <a:rect r="r" b="b" t="t" l="l"/>
              <a:pathLst>
                <a:path h="323497" w="323497">
                  <a:moveTo>
                    <a:pt x="161749" y="0"/>
                  </a:moveTo>
                  <a:lnTo>
                    <a:pt x="161749" y="0"/>
                  </a:lnTo>
                  <a:cubicBezTo>
                    <a:pt x="251080" y="0"/>
                    <a:pt x="323497" y="72417"/>
                    <a:pt x="323497" y="161749"/>
                  </a:cubicBezTo>
                  <a:lnTo>
                    <a:pt x="323497" y="161749"/>
                  </a:lnTo>
                  <a:cubicBezTo>
                    <a:pt x="323497" y="251080"/>
                    <a:pt x="251080" y="323497"/>
                    <a:pt x="161749" y="323497"/>
                  </a:cubicBezTo>
                  <a:lnTo>
                    <a:pt x="161749" y="323497"/>
                  </a:lnTo>
                  <a:cubicBezTo>
                    <a:pt x="72417" y="323497"/>
                    <a:pt x="0" y="251080"/>
                    <a:pt x="0" y="161749"/>
                  </a:cubicBezTo>
                  <a:lnTo>
                    <a:pt x="0" y="161749"/>
                  </a:lnTo>
                  <a:cubicBezTo>
                    <a:pt x="0" y="72417"/>
                    <a:pt x="72417" y="0"/>
                    <a:pt x="161749" y="0"/>
                  </a:cubicBezTo>
                  <a:close/>
                </a:path>
              </a:pathLst>
            </a:custGeom>
            <a:solidFill>
              <a:srgbClr val="E2A9F1"/>
            </a:solidFill>
          </p:spPr>
        </p:sp>
        <p:sp>
          <p:nvSpPr>
            <p:cNvPr name="TextBox 11" id="11"/>
            <p:cNvSpPr txBox="true"/>
            <p:nvPr/>
          </p:nvSpPr>
          <p:spPr>
            <a:xfrm>
              <a:off x="0" y="-57150"/>
              <a:ext cx="323497" cy="380647"/>
            </a:xfrm>
            <a:prstGeom prst="rect">
              <a:avLst/>
            </a:prstGeom>
          </p:spPr>
          <p:txBody>
            <a:bodyPr anchor="ctr" rtlCol="false" tIns="50800" lIns="50800" bIns="50800" rIns="50800"/>
            <a:lstStyle/>
            <a:p>
              <a:pPr algn="ctr">
                <a:lnSpc>
                  <a:spcPts val="3501"/>
                </a:lnSpc>
              </a:pPr>
            </a:p>
          </p:txBody>
        </p:sp>
      </p:grpSp>
      <p:sp>
        <p:nvSpPr>
          <p:cNvPr name="TextBox 12" id="12"/>
          <p:cNvSpPr txBox="true"/>
          <p:nvPr/>
        </p:nvSpPr>
        <p:spPr>
          <a:xfrm rot="0">
            <a:off x="2081527" y="2753513"/>
            <a:ext cx="13431747" cy="1153795"/>
          </a:xfrm>
          <a:prstGeom prst="rect">
            <a:avLst/>
          </a:prstGeom>
        </p:spPr>
        <p:txBody>
          <a:bodyPr anchor="t" rtlCol="false" tIns="0" lIns="0" bIns="0" rIns="0">
            <a:spAutoFit/>
          </a:bodyPr>
          <a:lstStyle/>
          <a:p>
            <a:pPr algn="just">
              <a:lnSpc>
                <a:spcPts val="3079"/>
              </a:lnSpc>
              <a:spcBef>
                <a:spcPct val="0"/>
              </a:spcBef>
            </a:pPr>
            <a:r>
              <a:rPr lang="en-US" sz="2199">
                <a:solidFill>
                  <a:srgbClr val="FFFFFF"/>
                </a:solidFill>
                <a:latin typeface="Open Sans"/>
                <a:ea typeface="Open Sans"/>
                <a:cs typeface="Open Sans"/>
                <a:sym typeface="Open Sans"/>
              </a:rPr>
              <a:t>start by establishing the importance of Sign Language (SL) and the goal of bridging the communication gap using technology. Define the project's scope: real-time recognition of the manual alphabet (fingerspelling) using Computer Vision.</a:t>
            </a:r>
          </a:p>
        </p:txBody>
      </p:sp>
      <p:sp>
        <p:nvSpPr>
          <p:cNvPr name="TextBox 13" id="13"/>
          <p:cNvSpPr txBox="true"/>
          <p:nvPr/>
        </p:nvSpPr>
        <p:spPr>
          <a:xfrm rot="0">
            <a:off x="2081527" y="2089114"/>
            <a:ext cx="5982250" cy="436086"/>
          </a:xfrm>
          <a:prstGeom prst="rect">
            <a:avLst/>
          </a:prstGeom>
        </p:spPr>
        <p:txBody>
          <a:bodyPr anchor="t" rtlCol="false" tIns="0" lIns="0" bIns="0" rIns="0">
            <a:spAutoFit/>
          </a:bodyPr>
          <a:lstStyle/>
          <a:p>
            <a:pPr algn="l">
              <a:lnSpc>
                <a:spcPts val="3501"/>
              </a:lnSpc>
              <a:spcBef>
                <a:spcPct val="0"/>
              </a:spcBef>
            </a:pPr>
            <a:r>
              <a:rPr lang="en-US" b="true" sz="2501">
                <a:solidFill>
                  <a:srgbClr val="FF2768"/>
                </a:solidFill>
                <a:latin typeface="Open Sans Medium"/>
                <a:ea typeface="Open Sans Medium"/>
                <a:cs typeface="Open Sans Medium"/>
                <a:sym typeface="Open Sans Medium"/>
              </a:rPr>
              <a:t>Introduction</a:t>
            </a:r>
          </a:p>
        </p:txBody>
      </p:sp>
      <p:sp>
        <p:nvSpPr>
          <p:cNvPr name="TextBox 14" id="14"/>
          <p:cNvSpPr txBox="true"/>
          <p:nvPr/>
        </p:nvSpPr>
        <p:spPr>
          <a:xfrm rot="0">
            <a:off x="1902695" y="4918092"/>
            <a:ext cx="15535436" cy="1470660"/>
          </a:xfrm>
          <a:prstGeom prst="rect">
            <a:avLst/>
          </a:prstGeom>
        </p:spPr>
        <p:txBody>
          <a:bodyPr anchor="t" rtlCol="false" tIns="0" lIns="0" bIns="0" rIns="0">
            <a:spAutoFit/>
          </a:bodyPr>
          <a:lstStyle/>
          <a:p>
            <a:pPr algn="just">
              <a:lnSpc>
                <a:spcPts val="2939"/>
              </a:lnSpc>
              <a:spcBef>
                <a:spcPct val="0"/>
              </a:spcBef>
            </a:pPr>
            <a:r>
              <a:rPr lang="en-US" sz="2099">
                <a:solidFill>
                  <a:srgbClr val="FFFFFF"/>
                </a:solidFill>
                <a:latin typeface="Open Sans"/>
                <a:ea typeface="Open Sans"/>
                <a:cs typeface="Open Sans"/>
                <a:sym typeface="Open Sans"/>
              </a:rPr>
              <a:t>Detail the initial attempt using the widely known SNL (Sign Language) dataset and the CNN (Convolutional Neural Network) architecture. Describe the unexpected failure: High accuracy on static images but poor, random prediction in real-time camera feed. Mention the hypothesis: The variance in the public dataset (lighting, backgrounds, and hand physiology) was too high to generalize effectively to a live camera feed.</a:t>
            </a:r>
          </a:p>
        </p:txBody>
      </p:sp>
      <p:sp>
        <p:nvSpPr>
          <p:cNvPr name="TextBox 15" id="15"/>
          <p:cNvSpPr txBox="true"/>
          <p:nvPr/>
        </p:nvSpPr>
        <p:spPr>
          <a:xfrm rot="0">
            <a:off x="1902695" y="4332487"/>
            <a:ext cx="5982250" cy="436086"/>
          </a:xfrm>
          <a:prstGeom prst="rect">
            <a:avLst/>
          </a:prstGeom>
        </p:spPr>
        <p:txBody>
          <a:bodyPr anchor="t" rtlCol="false" tIns="0" lIns="0" bIns="0" rIns="0">
            <a:spAutoFit/>
          </a:bodyPr>
          <a:lstStyle/>
          <a:p>
            <a:pPr algn="l">
              <a:lnSpc>
                <a:spcPts val="3501"/>
              </a:lnSpc>
              <a:spcBef>
                <a:spcPct val="0"/>
              </a:spcBef>
            </a:pPr>
            <a:r>
              <a:rPr lang="en-US" b="true" sz="2501">
                <a:solidFill>
                  <a:srgbClr val="FF2768"/>
                </a:solidFill>
                <a:latin typeface="Open Sans Medium"/>
                <a:ea typeface="Open Sans Medium"/>
                <a:cs typeface="Open Sans Medium"/>
                <a:sym typeface="Open Sans Medium"/>
              </a:rPr>
              <a:t>The Initial Challenge</a:t>
            </a:r>
          </a:p>
        </p:txBody>
      </p:sp>
      <p:grpSp>
        <p:nvGrpSpPr>
          <p:cNvPr name="Group 16" id="16"/>
          <p:cNvGrpSpPr/>
          <p:nvPr/>
        </p:nvGrpSpPr>
        <p:grpSpPr>
          <a:xfrm rot="0">
            <a:off x="384810" y="4529361"/>
            <a:ext cx="1228279" cy="1228279"/>
            <a:chOff x="0" y="0"/>
            <a:chExt cx="323497" cy="323497"/>
          </a:xfrm>
        </p:grpSpPr>
        <p:sp>
          <p:nvSpPr>
            <p:cNvPr name="Freeform 17" id="17"/>
            <p:cNvSpPr/>
            <p:nvPr/>
          </p:nvSpPr>
          <p:spPr>
            <a:xfrm flipH="false" flipV="false" rot="0">
              <a:off x="0" y="0"/>
              <a:ext cx="323497" cy="323497"/>
            </a:xfrm>
            <a:custGeom>
              <a:avLst/>
              <a:gdLst/>
              <a:ahLst/>
              <a:cxnLst/>
              <a:rect r="r" b="b" t="t" l="l"/>
              <a:pathLst>
                <a:path h="323497" w="323497">
                  <a:moveTo>
                    <a:pt x="161749" y="0"/>
                  </a:moveTo>
                  <a:lnTo>
                    <a:pt x="161749" y="0"/>
                  </a:lnTo>
                  <a:cubicBezTo>
                    <a:pt x="251080" y="0"/>
                    <a:pt x="323497" y="72417"/>
                    <a:pt x="323497" y="161749"/>
                  </a:cubicBezTo>
                  <a:lnTo>
                    <a:pt x="323497" y="161749"/>
                  </a:lnTo>
                  <a:cubicBezTo>
                    <a:pt x="323497" y="251080"/>
                    <a:pt x="251080" y="323497"/>
                    <a:pt x="161749" y="323497"/>
                  </a:cubicBezTo>
                  <a:lnTo>
                    <a:pt x="161749" y="323497"/>
                  </a:lnTo>
                  <a:cubicBezTo>
                    <a:pt x="72417" y="323497"/>
                    <a:pt x="0" y="251080"/>
                    <a:pt x="0" y="161749"/>
                  </a:cubicBezTo>
                  <a:lnTo>
                    <a:pt x="0" y="161749"/>
                  </a:lnTo>
                  <a:cubicBezTo>
                    <a:pt x="0" y="72417"/>
                    <a:pt x="72417" y="0"/>
                    <a:pt x="161749" y="0"/>
                  </a:cubicBezTo>
                  <a:close/>
                </a:path>
              </a:pathLst>
            </a:custGeom>
            <a:solidFill>
              <a:srgbClr val="E2A9F1"/>
            </a:solidFill>
          </p:spPr>
        </p:sp>
        <p:sp>
          <p:nvSpPr>
            <p:cNvPr name="TextBox 18" id="18"/>
            <p:cNvSpPr txBox="true"/>
            <p:nvPr/>
          </p:nvSpPr>
          <p:spPr>
            <a:xfrm>
              <a:off x="0" y="-57150"/>
              <a:ext cx="323497" cy="380647"/>
            </a:xfrm>
            <a:prstGeom prst="rect">
              <a:avLst/>
            </a:prstGeom>
          </p:spPr>
          <p:txBody>
            <a:bodyPr anchor="ctr" rtlCol="false" tIns="50800" lIns="50800" bIns="50800" rIns="50800"/>
            <a:lstStyle/>
            <a:p>
              <a:pPr algn="ctr">
                <a:lnSpc>
                  <a:spcPts val="3501"/>
                </a:lnSpc>
              </a:pPr>
            </a:p>
          </p:txBody>
        </p:sp>
      </p:grpSp>
      <p:sp>
        <p:nvSpPr>
          <p:cNvPr name="TextBox 19" id="19"/>
          <p:cNvSpPr txBox="true"/>
          <p:nvPr/>
        </p:nvSpPr>
        <p:spPr>
          <a:xfrm rot="0">
            <a:off x="592708" y="2515945"/>
            <a:ext cx="812484" cy="431766"/>
          </a:xfrm>
          <a:prstGeom prst="rect">
            <a:avLst/>
          </a:prstGeom>
        </p:spPr>
        <p:txBody>
          <a:bodyPr anchor="t" rtlCol="false" tIns="0" lIns="0" bIns="0" rIns="0">
            <a:spAutoFit/>
          </a:bodyPr>
          <a:lstStyle/>
          <a:p>
            <a:pPr algn="ctr">
              <a:lnSpc>
                <a:spcPts val="3501"/>
              </a:lnSpc>
              <a:spcBef>
                <a:spcPct val="0"/>
              </a:spcBef>
            </a:pPr>
            <a:r>
              <a:rPr lang="en-US" b="true" sz="2501">
                <a:solidFill>
                  <a:srgbClr val="FFFFFF"/>
                </a:solidFill>
                <a:latin typeface="Open Sans Medium"/>
                <a:ea typeface="Open Sans Medium"/>
                <a:cs typeface="Open Sans Medium"/>
                <a:sym typeface="Open Sans Medium"/>
              </a:rPr>
              <a:t>01</a:t>
            </a:r>
          </a:p>
        </p:txBody>
      </p:sp>
      <p:sp>
        <p:nvSpPr>
          <p:cNvPr name="TextBox 20" id="20"/>
          <p:cNvSpPr txBox="true"/>
          <p:nvPr/>
        </p:nvSpPr>
        <p:spPr>
          <a:xfrm rot="0">
            <a:off x="592708" y="4899042"/>
            <a:ext cx="812484" cy="431766"/>
          </a:xfrm>
          <a:prstGeom prst="rect">
            <a:avLst/>
          </a:prstGeom>
        </p:spPr>
        <p:txBody>
          <a:bodyPr anchor="t" rtlCol="false" tIns="0" lIns="0" bIns="0" rIns="0">
            <a:spAutoFit/>
          </a:bodyPr>
          <a:lstStyle/>
          <a:p>
            <a:pPr algn="ctr">
              <a:lnSpc>
                <a:spcPts val="3501"/>
              </a:lnSpc>
              <a:spcBef>
                <a:spcPct val="0"/>
              </a:spcBef>
            </a:pPr>
            <a:r>
              <a:rPr lang="en-US" b="true" sz="2501">
                <a:solidFill>
                  <a:srgbClr val="FFFFFF"/>
                </a:solidFill>
                <a:latin typeface="Open Sans Medium"/>
                <a:ea typeface="Open Sans Medium"/>
                <a:cs typeface="Open Sans Medium"/>
                <a:sym typeface="Open Sans Medium"/>
              </a:rPr>
              <a:t>02</a:t>
            </a:r>
          </a:p>
        </p:txBody>
      </p:sp>
      <p:sp>
        <p:nvSpPr>
          <p:cNvPr name="Freeform 21" id="21"/>
          <p:cNvSpPr/>
          <p:nvPr/>
        </p:nvSpPr>
        <p:spPr>
          <a:xfrm flipH="false" flipV="false" rot="0">
            <a:off x="13018811" y="1658957"/>
            <a:ext cx="471358" cy="487306"/>
          </a:xfrm>
          <a:custGeom>
            <a:avLst/>
            <a:gdLst/>
            <a:ahLst/>
            <a:cxnLst/>
            <a:rect r="r" b="b" t="t" l="l"/>
            <a:pathLst>
              <a:path h="487306" w="471358">
                <a:moveTo>
                  <a:pt x="0" y="0"/>
                </a:moveTo>
                <a:lnTo>
                  <a:pt x="471358" y="0"/>
                </a:lnTo>
                <a:lnTo>
                  <a:pt x="471358" y="487307"/>
                </a:lnTo>
                <a:lnTo>
                  <a:pt x="0" y="48730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22" id="22"/>
          <p:cNvSpPr txBox="true"/>
          <p:nvPr/>
        </p:nvSpPr>
        <p:spPr>
          <a:xfrm rot="0">
            <a:off x="181724" y="99080"/>
            <a:ext cx="1229970" cy="537846"/>
          </a:xfrm>
          <a:prstGeom prst="rect">
            <a:avLst/>
          </a:prstGeom>
        </p:spPr>
        <p:txBody>
          <a:bodyPr anchor="t" rtlCol="false" tIns="0" lIns="0" bIns="0" rIns="0">
            <a:spAutoFit/>
          </a:bodyPr>
          <a:lstStyle/>
          <a:p>
            <a:pPr algn="l">
              <a:lnSpc>
                <a:spcPts val="4479"/>
              </a:lnSpc>
              <a:spcBef>
                <a:spcPct val="0"/>
              </a:spcBef>
            </a:pPr>
            <a:r>
              <a:rPr lang="en-US" b="true" sz="3199">
                <a:solidFill>
                  <a:srgbClr val="FFFFFF"/>
                </a:solidFill>
                <a:latin typeface="Open Sans Medium"/>
                <a:ea typeface="Open Sans Medium"/>
                <a:cs typeface="Open Sans Medium"/>
                <a:sym typeface="Open Sans Medium"/>
              </a:rPr>
              <a:t>DEPI</a:t>
            </a:r>
          </a:p>
        </p:txBody>
      </p:sp>
      <p:sp>
        <p:nvSpPr>
          <p:cNvPr name="TextBox 23" id="23"/>
          <p:cNvSpPr txBox="true"/>
          <p:nvPr/>
        </p:nvSpPr>
        <p:spPr>
          <a:xfrm rot="0">
            <a:off x="181724" y="629609"/>
            <a:ext cx="11812273" cy="1260439"/>
          </a:xfrm>
          <a:prstGeom prst="rect">
            <a:avLst/>
          </a:prstGeom>
        </p:spPr>
        <p:txBody>
          <a:bodyPr anchor="t" rtlCol="false" tIns="0" lIns="0" bIns="0" rIns="0">
            <a:spAutoFit/>
          </a:bodyPr>
          <a:lstStyle/>
          <a:p>
            <a:pPr algn="ctr">
              <a:lnSpc>
                <a:spcPts val="10327"/>
              </a:lnSpc>
              <a:spcBef>
                <a:spcPct val="0"/>
              </a:spcBef>
            </a:pPr>
            <a:r>
              <a:rPr lang="en-US" b="true" sz="7376">
                <a:solidFill>
                  <a:srgbClr val="FFFFFF"/>
                </a:solidFill>
                <a:latin typeface="Pattanakarn Heavy"/>
                <a:ea typeface="Pattanakarn Heavy"/>
                <a:cs typeface="Pattanakarn Heavy"/>
                <a:sym typeface="Pattanakarn Heavy"/>
              </a:rPr>
              <a:t>PROJECT OVERVIEW</a:t>
            </a:r>
          </a:p>
        </p:txBody>
      </p:sp>
      <p:sp>
        <p:nvSpPr>
          <p:cNvPr name="AutoShape 24" id="24"/>
          <p:cNvSpPr/>
          <p:nvPr/>
        </p:nvSpPr>
        <p:spPr>
          <a:xfrm>
            <a:off x="2081527" y="6758005"/>
            <a:ext cx="5982250" cy="0"/>
          </a:xfrm>
          <a:prstGeom prst="line">
            <a:avLst/>
          </a:prstGeom>
          <a:ln cap="flat" w="28575">
            <a:solidFill>
              <a:srgbClr val="FFFFFF"/>
            </a:solidFill>
            <a:prstDash val="solid"/>
            <a:headEnd type="none" len="sm" w="sm"/>
            <a:tailEnd type="none" len="sm" w="sm"/>
          </a:ln>
        </p:spPr>
      </p:sp>
      <p:sp>
        <p:nvSpPr>
          <p:cNvPr name="TextBox 25" id="25"/>
          <p:cNvSpPr txBox="true"/>
          <p:nvPr/>
        </p:nvSpPr>
        <p:spPr>
          <a:xfrm rot="0">
            <a:off x="1902695" y="7478841"/>
            <a:ext cx="15535436" cy="860425"/>
          </a:xfrm>
          <a:prstGeom prst="rect">
            <a:avLst/>
          </a:prstGeom>
        </p:spPr>
        <p:txBody>
          <a:bodyPr anchor="t" rtlCol="false" tIns="0" lIns="0" bIns="0" rIns="0">
            <a:spAutoFit/>
          </a:bodyPr>
          <a:lstStyle/>
          <a:p>
            <a:pPr algn="just">
              <a:lnSpc>
                <a:spcPts val="3499"/>
              </a:lnSpc>
              <a:spcBef>
                <a:spcPct val="0"/>
              </a:spcBef>
            </a:pPr>
            <a:r>
              <a:rPr lang="en-US" sz="2499">
                <a:solidFill>
                  <a:srgbClr val="FFFFFF"/>
                </a:solidFill>
                <a:latin typeface="Open Sans"/>
                <a:ea typeface="Open Sans"/>
                <a:cs typeface="Open Sans"/>
                <a:sym typeface="Open Sans"/>
              </a:rPr>
              <a:t>Introduce the critical decision to create a custom dataset. Mention the diversity gained from different team members' hands (finger size, length, and shape variations) and how this improved data relevance.</a:t>
            </a:r>
          </a:p>
        </p:txBody>
      </p:sp>
      <p:sp>
        <p:nvSpPr>
          <p:cNvPr name="TextBox 26" id="26"/>
          <p:cNvSpPr txBox="true"/>
          <p:nvPr/>
        </p:nvSpPr>
        <p:spPr>
          <a:xfrm rot="0">
            <a:off x="1902695" y="6902761"/>
            <a:ext cx="5982250" cy="436086"/>
          </a:xfrm>
          <a:prstGeom prst="rect">
            <a:avLst/>
          </a:prstGeom>
        </p:spPr>
        <p:txBody>
          <a:bodyPr anchor="t" rtlCol="false" tIns="0" lIns="0" bIns="0" rIns="0">
            <a:spAutoFit/>
          </a:bodyPr>
          <a:lstStyle/>
          <a:p>
            <a:pPr algn="l">
              <a:lnSpc>
                <a:spcPts val="3501"/>
              </a:lnSpc>
              <a:spcBef>
                <a:spcPct val="0"/>
              </a:spcBef>
            </a:pPr>
            <a:r>
              <a:rPr lang="en-US" b="true" sz="2501">
                <a:solidFill>
                  <a:srgbClr val="FF2768"/>
                </a:solidFill>
                <a:latin typeface="Open Sans Medium"/>
                <a:ea typeface="Open Sans Medium"/>
                <a:cs typeface="Open Sans Medium"/>
                <a:sym typeface="Open Sans Medium"/>
              </a:rPr>
              <a:t>The Pivotal Shift</a:t>
            </a:r>
          </a:p>
        </p:txBody>
      </p:sp>
      <p:grpSp>
        <p:nvGrpSpPr>
          <p:cNvPr name="Group 27" id="27"/>
          <p:cNvGrpSpPr/>
          <p:nvPr/>
        </p:nvGrpSpPr>
        <p:grpSpPr>
          <a:xfrm rot="0">
            <a:off x="384810" y="7099634"/>
            <a:ext cx="1228279" cy="1228279"/>
            <a:chOff x="0" y="0"/>
            <a:chExt cx="323497" cy="323497"/>
          </a:xfrm>
        </p:grpSpPr>
        <p:sp>
          <p:nvSpPr>
            <p:cNvPr name="Freeform 28" id="28"/>
            <p:cNvSpPr/>
            <p:nvPr/>
          </p:nvSpPr>
          <p:spPr>
            <a:xfrm flipH="false" flipV="false" rot="0">
              <a:off x="0" y="0"/>
              <a:ext cx="323497" cy="323497"/>
            </a:xfrm>
            <a:custGeom>
              <a:avLst/>
              <a:gdLst/>
              <a:ahLst/>
              <a:cxnLst/>
              <a:rect r="r" b="b" t="t" l="l"/>
              <a:pathLst>
                <a:path h="323497" w="323497">
                  <a:moveTo>
                    <a:pt x="161749" y="0"/>
                  </a:moveTo>
                  <a:lnTo>
                    <a:pt x="161749" y="0"/>
                  </a:lnTo>
                  <a:cubicBezTo>
                    <a:pt x="251080" y="0"/>
                    <a:pt x="323497" y="72417"/>
                    <a:pt x="323497" y="161749"/>
                  </a:cubicBezTo>
                  <a:lnTo>
                    <a:pt x="323497" y="161749"/>
                  </a:lnTo>
                  <a:cubicBezTo>
                    <a:pt x="323497" y="251080"/>
                    <a:pt x="251080" y="323497"/>
                    <a:pt x="161749" y="323497"/>
                  </a:cubicBezTo>
                  <a:lnTo>
                    <a:pt x="161749" y="323497"/>
                  </a:lnTo>
                  <a:cubicBezTo>
                    <a:pt x="72417" y="323497"/>
                    <a:pt x="0" y="251080"/>
                    <a:pt x="0" y="161749"/>
                  </a:cubicBezTo>
                  <a:lnTo>
                    <a:pt x="0" y="161749"/>
                  </a:lnTo>
                  <a:cubicBezTo>
                    <a:pt x="0" y="72417"/>
                    <a:pt x="72417" y="0"/>
                    <a:pt x="161749" y="0"/>
                  </a:cubicBezTo>
                  <a:close/>
                </a:path>
              </a:pathLst>
            </a:custGeom>
            <a:solidFill>
              <a:srgbClr val="E2A9F1"/>
            </a:solidFill>
          </p:spPr>
        </p:sp>
        <p:sp>
          <p:nvSpPr>
            <p:cNvPr name="TextBox 29" id="29"/>
            <p:cNvSpPr txBox="true"/>
            <p:nvPr/>
          </p:nvSpPr>
          <p:spPr>
            <a:xfrm>
              <a:off x="0" y="-57150"/>
              <a:ext cx="323497" cy="380647"/>
            </a:xfrm>
            <a:prstGeom prst="rect">
              <a:avLst/>
            </a:prstGeom>
          </p:spPr>
          <p:txBody>
            <a:bodyPr anchor="ctr" rtlCol="false" tIns="50800" lIns="50800" bIns="50800" rIns="50800"/>
            <a:lstStyle/>
            <a:p>
              <a:pPr algn="ctr">
                <a:lnSpc>
                  <a:spcPts val="3501"/>
                </a:lnSpc>
              </a:pPr>
            </a:p>
          </p:txBody>
        </p:sp>
      </p:grpSp>
      <p:sp>
        <p:nvSpPr>
          <p:cNvPr name="TextBox 30" id="30"/>
          <p:cNvSpPr txBox="true"/>
          <p:nvPr/>
        </p:nvSpPr>
        <p:spPr>
          <a:xfrm rot="0">
            <a:off x="592708" y="7469316"/>
            <a:ext cx="812484" cy="431766"/>
          </a:xfrm>
          <a:prstGeom prst="rect">
            <a:avLst/>
          </a:prstGeom>
        </p:spPr>
        <p:txBody>
          <a:bodyPr anchor="t" rtlCol="false" tIns="0" lIns="0" bIns="0" rIns="0">
            <a:spAutoFit/>
          </a:bodyPr>
          <a:lstStyle/>
          <a:p>
            <a:pPr algn="ctr">
              <a:lnSpc>
                <a:spcPts val="3501"/>
              </a:lnSpc>
              <a:spcBef>
                <a:spcPct val="0"/>
              </a:spcBef>
            </a:pPr>
            <a:r>
              <a:rPr lang="en-US" b="true" sz="2501">
                <a:solidFill>
                  <a:srgbClr val="FFFFFF"/>
                </a:solidFill>
                <a:latin typeface="Open Sans Medium"/>
                <a:ea typeface="Open Sans Medium"/>
                <a:cs typeface="Open Sans Medium"/>
                <a:sym typeface="Open Sans Medium"/>
              </a:rPr>
              <a:t>03</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050A30"/>
        </a:solidFill>
      </p:bgPr>
    </p:bg>
    <p:spTree>
      <p:nvGrpSpPr>
        <p:cNvPr id="1" name=""/>
        <p:cNvGrpSpPr/>
        <p:nvPr/>
      </p:nvGrpSpPr>
      <p:grpSpPr>
        <a:xfrm>
          <a:off x="0" y="0"/>
          <a:ext cx="0" cy="0"/>
          <a:chOff x="0" y="0"/>
          <a:chExt cx="0" cy="0"/>
        </a:xfrm>
      </p:grpSpPr>
      <p:sp>
        <p:nvSpPr>
          <p:cNvPr name="Freeform 2" id="2"/>
          <p:cNvSpPr/>
          <p:nvPr/>
        </p:nvSpPr>
        <p:spPr>
          <a:xfrm flipH="false" flipV="false" rot="-10800000">
            <a:off x="3881099" y="-3883348"/>
            <a:ext cx="7394274" cy="7394274"/>
          </a:xfrm>
          <a:custGeom>
            <a:avLst/>
            <a:gdLst/>
            <a:ahLst/>
            <a:cxnLst/>
            <a:rect r="r" b="b" t="t" l="l"/>
            <a:pathLst>
              <a:path h="7394274" w="7394274">
                <a:moveTo>
                  <a:pt x="0" y="0"/>
                </a:moveTo>
                <a:lnTo>
                  <a:pt x="7394275" y="0"/>
                </a:lnTo>
                <a:lnTo>
                  <a:pt x="7394275" y="7394275"/>
                </a:lnTo>
                <a:lnTo>
                  <a:pt x="0" y="7394275"/>
                </a:lnTo>
                <a:lnTo>
                  <a:pt x="0" y="0"/>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true" rot="-10800000">
            <a:off x="-4156279" y="8250904"/>
            <a:ext cx="7394274" cy="7394274"/>
          </a:xfrm>
          <a:custGeom>
            <a:avLst/>
            <a:gdLst/>
            <a:ahLst/>
            <a:cxnLst/>
            <a:rect r="r" b="b" t="t" l="l"/>
            <a:pathLst>
              <a:path h="7394274" w="7394274">
                <a:moveTo>
                  <a:pt x="7394274" y="7394274"/>
                </a:moveTo>
                <a:lnTo>
                  <a:pt x="0" y="7394274"/>
                </a:lnTo>
                <a:lnTo>
                  <a:pt x="0" y="0"/>
                </a:lnTo>
                <a:lnTo>
                  <a:pt x="7394274" y="0"/>
                </a:lnTo>
                <a:lnTo>
                  <a:pt x="7394274" y="7394274"/>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p:spPr>
      </p:sp>
      <p:grpSp>
        <p:nvGrpSpPr>
          <p:cNvPr name="Group 4" id="4"/>
          <p:cNvGrpSpPr/>
          <p:nvPr/>
        </p:nvGrpSpPr>
        <p:grpSpPr>
          <a:xfrm rot="0">
            <a:off x="17259300" y="501367"/>
            <a:ext cx="357663" cy="271117"/>
            <a:chOff x="0" y="0"/>
            <a:chExt cx="476884" cy="361489"/>
          </a:xfrm>
        </p:grpSpPr>
        <p:sp>
          <p:nvSpPr>
            <p:cNvPr name="AutoShape 5" id="5"/>
            <p:cNvSpPr/>
            <p:nvPr/>
          </p:nvSpPr>
          <p:spPr>
            <a:xfrm>
              <a:off x="0" y="19050"/>
              <a:ext cx="476884" cy="0"/>
            </a:xfrm>
            <a:prstGeom prst="line">
              <a:avLst/>
            </a:prstGeom>
            <a:ln cap="flat" w="38100">
              <a:solidFill>
                <a:srgbClr val="FFFFFF"/>
              </a:solidFill>
              <a:prstDash val="solid"/>
              <a:headEnd type="none" len="sm" w="sm"/>
              <a:tailEnd type="none" len="sm" w="sm"/>
            </a:ln>
          </p:spPr>
        </p:sp>
        <p:sp>
          <p:nvSpPr>
            <p:cNvPr name="AutoShape 6" id="6"/>
            <p:cNvSpPr/>
            <p:nvPr/>
          </p:nvSpPr>
          <p:spPr>
            <a:xfrm>
              <a:off x="0" y="180744"/>
              <a:ext cx="476884" cy="0"/>
            </a:xfrm>
            <a:prstGeom prst="line">
              <a:avLst/>
            </a:prstGeom>
            <a:ln cap="flat" w="38100">
              <a:solidFill>
                <a:srgbClr val="FFFFFF"/>
              </a:solidFill>
              <a:prstDash val="solid"/>
              <a:headEnd type="none" len="sm" w="sm"/>
              <a:tailEnd type="none" len="sm" w="sm"/>
            </a:ln>
          </p:spPr>
        </p:sp>
        <p:sp>
          <p:nvSpPr>
            <p:cNvPr name="AutoShape 7" id="7"/>
            <p:cNvSpPr/>
            <p:nvPr/>
          </p:nvSpPr>
          <p:spPr>
            <a:xfrm>
              <a:off x="0" y="342439"/>
              <a:ext cx="476884" cy="0"/>
            </a:xfrm>
            <a:prstGeom prst="line">
              <a:avLst/>
            </a:prstGeom>
            <a:ln cap="flat" w="38100">
              <a:solidFill>
                <a:srgbClr val="FFFFFF"/>
              </a:solidFill>
              <a:prstDash val="solid"/>
              <a:headEnd type="none" len="sm" w="sm"/>
              <a:tailEnd type="none" len="sm" w="sm"/>
            </a:ln>
          </p:spPr>
        </p:sp>
      </p:grpSp>
      <p:sp>
        <p:nvSpPr>
          <p:cNvPr name="AutoShape 8" id="8"/>
          <p:cNvSpPr/>
          <p:nvPr/>
        </p:nvSpPr>
        <p:spPr>
          <a:xfrm>
            <a:off x="4587111" y="4912195"/>
            <a:ext cx="5982250" cy="0"/>
          </a:xfrm>
          <a:prstGeom prst="line">
            <a:avLst/>
          </a:prstGeom>
          <a:ln cap="flat" w="28575">
            <a:solidFill>
              <a:srgbClr val="FFFFFF"/>
            </a:solidFill>
            <a:prstDash val="solid"/>
            <a:headEnd type="none" len="sm" w="sm"/>
            <a:tailEnd type="none" len="sm" w="sm"/>
          </a:ln>
        </p:spPr>
      </p:sp>
      <p:grpSp>
        <p:nvGrpSpPr>
          <p:cNvPr name="Group 9" id="9"/>
          <p:cNvGrpSpPr/>
          <p:nvPr/>
        </p:nvGrpSpPr>
        <p:grpSpPr>
          <a:xfrm rot="0">
            <a:off x="384810" y="2146264"/>
            <a:ext cx="1228279" cy="1228279"/>
            <a:chOff x="0" y="0"/>
            <a:chExt cx="323497" cy="323497"/>
          </a:xfrm>
        </p:grpSpPr>
        <p:sp>
          <p:nvSpPr>
            <p:cNvPr name="Freeform 10" id="10"/>
            <p:cNvSpPr/>
            <p:nvPr/>
          </p:nvSpPr>
          <p:spPr>
            <a:xfrm flipH="false" flipV="false" rot="0">
              <a:off x="0" y="0"/>
              <a:ext cx="323497" cy="323497"/>
            </a:xfrm>
            <a:custGeom>
              <a:avLst/>
              <a:gdLst/>
              <a:ahLst/>
              <a:cxnLst/>
              <a:rect r="r" b="b" t="t" l="l"/>
              <a:pathLst>
                <a:path h="323497" w="323497">
                  <a:moveTo>
                    <a:pt x="161749" y="0"/>
                  </a:moveTo>
                  <a:lnTo>
                    <a:pt x="161749" y="0"/>
                  </a:lnTo>
                  <a:cubicBezTo>
                    <a:pt x="251080" y="0"/>
                    <a:pt x="323497" y="72417"/>
                    <a:pt x="323497" y="161749"/>
                  </a:cubicBezTo>
                  <a:lnTo>
                    <a:pt x="323497" y="161749"/>
                  </a:lnTo>
                  <a:cubicBezTo>
                    <a:pt x="323497" y="251080"/>
                    <a:pt x="251080" y="323497"/>
                    <a:pt x="161749" y="323497"/>
                  </a:cubicBezTo>
                  <a:lnTo>
                    <a:pt x="161749" y="323497"/>
                  </a:lnTo>
                  <a:cubicBezTo>
                    <a:pt x="72417" y="323497"/>
                    <a:pt x="0" y="251080"/>
                    <a:pt x="0" y="161749"/>
                  </a:cubicBezTo>
                  <a:lnTo>
                    <a:pt x="0" y="161749"/>
                  </a:lnTo>
                  <a:cubicBezTo>
                    <a:pt x="0" y="72417"/>
                    <a:pt x="72417" y="0"/>
                    <a:pt x="161749" y="0"/>
                  </a:cubicBezTo>
                  <a:close/>
                </a:path>
              </a:pathLst>
            </a:custGeom>
            <a:solidFill>
              <a:srgbClr val="E2A9F1"/>
            </a:solidFill>
          </p:spPr>
        </p:sp>
        <p:sp>
          <p:nvSpPr>
            <p:cNvPr name="TextBox 11" id="11"/>
            <p:cNvSpPr txBox="true"/>
            <p:nvPr/>
          </p:nvSpPr>
          <p:spPr>
            <a:xfrm>
              <a:off x="0" y="-57150"/>
              <a:ext cx="323497" cy="380647"/>
            </a:xfrm>
            <a:prstGeom prst="rect">
              <a:avLst/>
            </a:prstGeom>
          </p:spPr>
          <p:txBody>
            <a:bodyPr anchor="ctr" rtlCol="false" tIns="50800" lIns="50800" bIns="50800" rIns="50800"/>
            <a:lstStyle/>
            <a:p>
              <a:pPr algn="ctr">
                <a:lnSpc>
                  <a:spcPts val="3501"/>
                </a:lnSpc>
              </a:pPr>
            </a:p>
          </p:txBody>
        </p:sp>
      </p:grpSp>
      <p:sp>
        <p:nvSpPr>
          <p:cNvPr name="TextBox 12" id="12"/>
          <p:cNvSpPr txBox="true"/>
          <p:nvPr/>
        </p:nvSpPr>
        <p:spPr>
          <a:xfrm rot="0">
            <a:off x="2081527" y="2534995"/>
            <a:ext cx="15777436" cy="1934845"/>
          </a:xfrm>
          <a:prstGeom prst="rect">
            <a:avLst/>
          </a:prstGeom>
        </p:spPr>
        <p:txBody>
          <a:bodyPr anchor="t" rtlCol="false" tIns="0" lIns="0" bIns="0" rIns="0">
            <a:spAutoFit/>
          </a:bodyPr>
          <a:lstStyle/>
          <a:p>
            <a:pPr algn="just">
              <a:lnSpc>
                <a:spcPts val="3079"/>
              </a:lnSpc>
              <a:spcBef>
                <a:spcPct val="0"/>
              </a:spcBef>
            </a:pPr>
            <a:r>
              <a:rPr lang="en-US" sz="2199">
                <a:solidFill>
                  <a:srgbClr val="FFFFFF"/>
                </a:solidFill>
                <a:latin typeface="Open Sans"/>
                <a:ea typeface="Open Sans"/>
                <a:cs typeface="Open Sans"/>
                <a:sym typeface="Open Sans"/>
              </a:rPr>
              <a:t>State the final, focused problem: To develop a robust, real-Detail the custom data collection process. Emphasize why this was crucial: The data specifically matches the operational environment (lighting, camera type, angle). Describe the preprocessing steps (e.g., background subtraction/segmentation, normalization, image resizing) necessary to isolate the hand gesture and feed clean data into the model.time computer vision system that accurately translates hand gestures for the alphabet into text, overcoming the generalization limitations of standard deep learning models on live feeds.</a:t>
            </a:r>
          </a:p>
        </p:txBody>
      </p:sp>
      <p:sp>
        <p:nvSpPr>
          <p:cNvPr name="TextBox 13" id="13"/>
          <p:cNvSpPr txBox="true"/>
          <p:nvPr/>
        </p:nvSpPr>
        <p:spPr>
          <a:xfrm rot="0">
            <a:off x="2081527" y="2089114"/>
            <a:ext cx="5982250" cy="436086"/>
          </a:xfrm>
          <a:prstGeom prst="rect">
            <a:avLst/>
          </a:prstGeom>
        </p:spPr>
        <p:txBody>
          <a:bodyPr anchor="t" rtlCol="false" tIns="0" lIns="0" bIns="0" rIns="0">
            <a:spAutoFit/>
          </a:bodyPr>
          <a:lstStyle/>
          <a:p>
            <a:pPr algn="l">
              <a:lnSpc>
                <a:spcPts val="3501"/>
              </a:lnSpc>
              <a:spcBef>
                <a:spcPct val="0"/>
              </a:spcBef>
            </a:pPr>
            <a:r>
              <a:rPr lang="en-US" b="true" sz="2501">
                <a:solidFill>
                  <a:srgbClr val="FF2768"/>
                </a:solidFill>
                <a:latin typeface="Open Sans Medium"/>
                <a:ea typeface="Open Sans Medium"/>
                <a:cs typeface="Open Sans Medium"/>
                <a:sym typeface="Open Sans Medium"/>
              </a:rPr>
              <a:t>Problem Statement</a:t>
            </a:r>
          </a:p>
        </p:txBody>
      </p:sp>
      <p:sp>
        <p:nvSpPr>
          <p:cNvPr name="TextBox 14" id="14"/>
          <p:cNvSpPr txBox="true"/>
          <p:nvPr/>
        </p:nvSpPr>
        <p:spPr>
          <a:xfrm rot="0">
            <a:off x="1902695" y="5645438"/>
            <a:ext cx="15535436" cy="1544320"/>
          </a:xfrm>
          <a:prstGeom prst="rect">
            <a:avLst/>
          </a:prstGeom>
        </p:spPr>
        <p:txBody>
          <a:bodyPr anchor="t" rtlCol="false" tIns="0" lIns="0" bIns="0" rIns="0">
            <a:spAutoFit/>
          </a:bodyPr>
          <a:lstStyle/>
          <a:p>
            <a:pPr algn="just">
              <a:lnSpc>
                <a:spcPts val="3079"/>
              </a:lnSpc>
              <a:spcBef>
                <a:spcPct val="0"/>
              </a:spcBef>
            </a:pPr>
            <a:r>
              <a:rPr lang="en-US" sz="2199">
                <a:solidFill>
                  <a:srgbClr val="FFFFFF"/>
                </a:solidFill>
                <a:latin typeface="Open Sans"/>
                <a:ea typeface="Open Sans"/>
                <a:cs typeface="Open Sans"/>
                <a:sym typeface="Open Sans"/>
              </a:rPr>
              <a:t>Explain the transition away from CNNs. State that a "Machine Learning Model" (be specific here if you can, e.g., a combination of feature extraction and a classifier like SVM, or a lightweight Deep Learning model like MobileNet/SqueezeNet optimized for speed) yielded superior performance. Focus on the key benefit: High efficiency and reliability even in the live camera feed.</a:t>
            </a:r>
          </a:p>
        </p:txBody>
      </p:sp>
      <p:sp>
        <p:nvSpPr>
          <p:cNvPr name="TextBox 15" id="15"/>
          <p:cNvSpPr txBox="true"/>
          <p:nvPr/>
        </p:nvSpPr>
        <p:spPr>
          <a:xfrm rot="0">
            <a:off x="1902695" y="5059833"/>
            <a:ext cx="11587474" cy="436086"/>
          </a:xfrm>
          <a:prstGeom prst="rect">
            <a:avLst/>
          </a:prstGeom>
        </p:spPr>
        <p:txBody>
          <a:bodyPr anchor="t" rtlCol="false" tIns="0" lIns="0" bIns="0" rIns="0">
            <a:spAutoFit/>
          </a:bodyPr>
          <a:lstStyle/>
          <a:p>
            <a:pPr algn="l">
              <a:lnSpc>
                <a:spcPts val="3501"/>
              </a:lnSpc>
              <a:spcBef>
                <a:spcPct val="0"/>
              </a:spcBef>
            </a:pPr>
            <a:r>
              <a:rPr lang="en-US" b="true" sz="2501">
                <a:solidFill>
                  <a:srgbClr val="FF2768"/>
                </a:solidFill>
                <a:latin typeface="Open Sans Medium"/>
                <a:ea typeface="Open Sans Medium"/>
                <a:cs typeface="Open Sans Medium"/>
                <a:sym typeface="Open Sans Medium"/>
              </a:rPr>
              <a:t>Data Collection &amp; PreprocThe Successful Model Architectureessing</a:t>
            </a:r>
          </a:p>
        </p:txBody>
      </p:sp>
      <p:grpSp>
        <p:nvGrpSpPr>
          <p:cNvPr name="Group 16" id="16"/>
          <p:cNvGrpSpPr/>
          <p:nvPr/>
        </p:nvGrpSpPr>
        <p:grpSpPr>
          <a:xfrm rot="0">
            <a:off x="384810" y="5256706"/>
            <a:ext cx="1228279" cy="1228279"/>
            <a:chOff x="0" y="0"/>
            <a:chExt cx="323497" cy="323497"/>
          </a:xfrm>
        </p:grpSpPr>
        <p:sp>
          <p:nvSpPr>
            <p:cNvPr name="Freeform 17" id="17"/>
            <p:cNvSpPr/>
            <p:nvPr/>
          </p:nvSpPr>
          <p:spPr>
            <a:xfrm flipH="false" flipV="false" rot="0">
              <a:off x="0" y="0"/>
              <a:ext cx="323497" cy="323497"/>
            </a:xfrm>
            <a:custGeom>
              <a:avLst/>
              <a:gdLst/>
              <a:ahLst/>
              <a:cxnLst/>
              <a:rect r="r" b="b" t="t" l="l"/>
              <a:pathLst>
                <a:path h="323497" w="323497">
                  <a:moveTo>
                    <a:pt x="161749" y="0"/>
                  </a:moveTo>
                  <a:lnTo>
                    <a:pt x="161749" y="0"/>
                  </a:lnTo>
                  <a:cubicBezTo>
                    <a:pt x="251080" y="0"/>
                    <a:pt x="323497" y="72417"/>
                    <a:pt x="323497" y="161749"/>
                  </a:cubicBezTo>
                  <a:lnTo>
                    <a:pt x="323497" y="161749"/>
                  </a:lnTo>
                  <a:cubicBezTo>
                    <a:pt x="323497" y="251080"/>
                    <a:pt x="251080" y="323497"/>
                    <a:pt x="161749" y="323497"/>
                  </a:cubicBezTo>
                  <a:lnTo>
                    <a:pt x="161749" y="323497"/>
                  </a:lnTo>
                  <a:cubicBezTo>
                    <a:pt x="72417" y="323497"/>
                    <a:pt x="0" y="251080"/>
                    <a:pt x="0" y="161749"/>
                  </a:cubicBezTo>
                  <a:lnTo>
                    <a:pt x="0" y="161749"/>
                  </a:lnTo>
                  <a:cubicBezTo>
                    <a:pt x="0" y="72417"/>
                    <a:pt x="72417" y="0"/>
                    <a:pt x="161749" y="0"/>
                  </a:cubicBezTo>
                  <a:close/>
                </a:path>
              </a:pathLst>
            </a:custGeom>
            <a:solidFill>
              <a:srgbClr val="E2A9F1"/>
            </a:solidFill>
          </p:spPr>
        </p:sp>
        <p:sp>
          <p:nvSpPr>
            <p:cNvPr name="TextBox 18" id="18"/>
            <p:cNvSpPr txBox="true"/>
            <p:nvPr/>
          </p:nvSpPr>
          <p:spPr>
            <a:xfrm>
              <a:off x="0" y="-57150"/>
              <a:ext cx="323497" cy="380647"/>
            </a:xfrm>
            <a:prstGeom prst="rect">
              <a:avLst/>
            </a:prstGeom>
          </p:spPr>
          <p:txBody>
            <a:bodyPr anchor="ctr" rtlCol="false" tIns="50800" lIns="50800" bIns="50800" rIns="50800"/>
            <a:lstStyle/>
            <a:p>
              <a:pPr algn="ctr">
                <a:lnSpc>
                  <a:spcPts val="3501"/>
                </a:lnSpc>
              </a:pPr>
            </a:p>
          </p:txBody>
        </p:sp>
      </p:grpSp>
      <p:sp>
        <p:nvSpPr>
          <p:cNvPr name="TextBox 19" id="19"/>
          <p:cNvSpPr txBox="true"/>
          <p:nvPr/>
        </p:nvSpPr>
        <p:spPr>
          <a:xfrm rot="0">
            <a:off x="592708" y="2515945"/>
            <a:ext cx="812484" cy="431766"/>
          </a:xfrm>
          <a:prstGeom prst="rect">
            <a:avLst/>
          </a:prstGeom>
        </p:spPr>
        <p:txBody>
          <a:bodyPr anchor="t" rtlCol="false" tIns="0" lIns="0" bIns="0" rIns="0">
            <a:spAutoFit/>
          </a:bodyPr>
          <a:lstStyle/>
          <a:p>
            <a:pPr algn="ctr">
              <a:lnSpc>
                <a:spcPts val="3501"/>
              </a:lnSpc>
              <a:spcBef>
                <a:spcPct val="0"/>
              </a:spcBef>
            </a:pPr>
            <a:r>
              <a:rPr lang="en-US" b="true" sz="2501">
                <a:solidFill>
                  <a:srgbClr val="FFFFFF"/>
                </a:solidFill>
                <a:latin typeface="Open Sans Medium"/>
                <a:ea typeface="Open Sans Medium"/>
                <a:cs typeface="Open Sans Medium"/>
                <a:sym typeface="Open Sans Medium"/>
              </a:rPr>
              <a:t>04</a:t>
            </a:r>
          </a:p>
        </p:txBody>
      </p:sp>
      <p:sp>
        <p:nvSpPr>
          <p:cNvPr name="TextBox 20" id="20"/>
          <p:cNvSpPr txBox="true"/>
          <p:nvPr/>
        </p:nvSpPr>
        <p:spPr>
          <a:xfrm rot="0">
            <a:off x="592708" y="5626388"/>
            <a:ext cx="812484" cy="431766"/>
          </a:xfrm>
          <a:prstGeom prst="rect">
            <a:avLst/>
          </a:prstGeom>
        </p:spPr>
        <p:txBody>
          <a:bodyPr anchor="t" rtlCol="false" tIns="0" lIns="0" bIns="0" rIns="0">
            <a:spAutoFit/>
          </a:bodyPr>
          <a:lstStyle/>
          <a:p>
            <a:pPr algn="ctr">
              <a:lnSpc>
                <a:spcPts val="3501"/>
              </a:lnSpc>
              <a:spcBef>
                <a:spcPct val="0"/>
              </a:spcBef>
            </a:pPr>
            <a:r>
              <a:rPr lang="en-US" b="true" sz="2501">
                <a:solidFill>
                  <a:srgbClr val="FFFFFF"/>
                </a:solidFill>
                <a:latin typeface="Open Sans Medium"/>
                <a:ea typeface="Open Sans Medium"/>
                <a:cs typeface="Open Sans Medium"/>
                <a:sym typeface="Open Sans Medium"/>
              </a:rPr>
              <a:t>05</a:t>
            </a:r>
          </a:p>
        </p:txBody>
      </p:sp>
      <p:sp>
        <p:nvSpPr>
          <p:cNvPr name="Freeform 21" id="21"/>
          <p:cNvSpPr/>
          <p:nvPr/>
        </p:nvSpPr>
        <p:spPr>
          <a:xfrm flipH="false" flipV="false" rot="0">
            <a:off x="13018811" y="1658957"/>
            <a:ext cx="471358" cy="487306"/>
          </a:xfrm>
          <a:custGeom>
            <a:avLst/>
            <a:gdLst/>
            <a:ahLst/>
            <a:cxnLst/>
            <a:rect r="r" b="b" t="t" l="l"/>
            <a:pathLst>
              <a:path h="487306" w="471358">
                <a:moveTo>
                  <a:pt x="0" y="0"/>
                </a:moveTo>
                <a:lnTo>
                  <a:pt x="471358" y="0"/>
                </a:lnTo>
                <a:lnTo>
                  <a:pt x="471358" y="487307"/>
                </a:lnTo>
                <a:lnTo>
                  <a:pt x="0" y="48730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22" id="22"/>
          <p:cNvSpPr txBox="true"/>
          <p:nvPr/>
        </p:nvSpPr>
        <p:spPr>
          <a:xfrm rot="0">
            <a:off x="181724" y="99080"/>
            <a:ext cx="1229970" cy="537846"/>
          </a:xfrm>
          <a:prstGeom prst="rect">
            <a:avLst/>
          </a:prstGeom>
        </p:spPr>
        <p:txBody>
          <a:bodyPr anchor="t" rtlCol="false" tIns="0" lIns="0" bIns="0" rIns="0">
            <a:spAutoFit/>
          </a:bodyPr>
          <a:lstStyle/>
          <a:p>
            <a:pPr algn="l">
              <a:lnSpc>
                <a:spcPts val="4479"/>
              </a:lnSpc>
              <a:spcBef>
                <a:spcPct val="0"/>
              </a:spcBef>
            </a:pPr>
            <a:r>
              <a:rPr lang="en-US" b="true" sz="3199">
                <a:solidFill>
                  <a:srgbClr val="FFFFFF"/>
                </a:solidFill>
                <a:latin typeface="Open Sans Medium"/>
                <a:ea typeface="Open Sans Medium"/>
                <a:cs typeface="Open Sans Medium"/>
                <a:sym typeface="Open Sans Medium"/>
              </a:rPr>
              <a:t>DEPI</a:t>
            </a:r>
          </a:p>
        </p:txBody>
      </p:sp>
      <p:sp>
        <p:nvSpPr>
          <p:cNvPr name="TextBox 23" id="23"/>
          <p:cNvSpPr txBox="true"/>
          <p:nvPr/>
        </p:nvSpPr>
        <p:spPr>
          <a:xfrm rot="0">
            <a:off x="181724" y="629609"/>
            <a:ext cx="11812273" cy="1260439"/>
          </a:xfrm>
          <a:prstGeom prst="rect">
            <a:avLst/>
          </a:prstGeom>
        </p:spPr>
        <p:txBody>
          <a:bodyPr anchor="t" rtlCol="false" tIns="0" lIns="0" bIns="0" rIns="0">
            <a:spAutoFit/>
          </a:bodyPr>
          <a:lstStyle/>
          <a:p>
            <a:pPr algn="ctr">
              <a:lnSpc>
                <a:spcPts val="10327"/>
              </a:lnSpc>
              <a:spcBef>
                <a:spcPct val="0"/>
              </a:spcBef>
            </a:pPr>
            <a:r>
              <a:rPr lang="en-US" b="true" sz="7376">
                <a:solidFill>
                  <a:srgbClr val="FFFFFF"/>
                </a:solidFill>
                <a:latin typeface="Pattanakarn Heavy"/>
                <a:ea typeface="Pattanakarn Heavy"/>
                <a:cs typeface="Pattanakarn Heavy"/>
                <a:sym typeface="Pattanakarn Heavy"/>
              </a:rPr>
              <a:t>PROJECT OVERVIEW</a:t>
            </a:r>
          </a:p>
        </p:txBody>
      </p:sp>
      <p:sp>
        <p:nvSpPr>
          <p:cNvPr name="AutoShape 24" id="24"/>
          <p:cNvSpPr/>
          <p:nvPr/>
        </p:nvSpPr>
        <p:spPr>
          <a:xfrm>
            <a:off x="3688163" y="7482469"/>
            <a:ext cx="5982250" cy="0"/>
          </a:xfrm>
          <a:prstGeom prst="line">
            <a:avLst/>
          </a:prstGeom>
          <a:ln cap="flat" w="28575">
            <a:solidFill>
              <a:srgbClr val="FFFFFF"/>
            </a:solidFill>
            <a:prstDash val="solid"/>
            <a:headEnd type="none" len="sm" w="sm"/>
            <a:tailEnd type="none" len="sm" w="sm"/>
          </a:ln>
        </p:spPr>
      </p:sp>
      <p:sp>
        <p:nvSpPr>
          <p:cNvPr name="TextBox 25" id="25"/>
          <p:cNvSpPr txBox="true"/>
          <p:nvPr/>
        </p:nvSpPr>
        <p:spPr>
          <a:xfrm rot="0">
            <a:off x="1902695" y="8206187"/>
            <a:ext cx="15535436" cy="860425"/>
          </a:xfrm>
          <a:prstGeom prst="rect">
            <a:avLst/>
          </a:prstGeom>
        </p:spPr>
        <p:txBody>
          <a:bodyPr anchor="t" rtlCol="false" tIns="0" lIns="0" bIns="0" rIns="0">
            <a:spAutoFit/>
          </a:bodyPr>
          <a:lstStyle/>
          <a:p>
            <a:pPr algn="just">
              <a:lnSpc>
                <a:spcPts val="3499"/>
              </a:lnSpc>
              <a:spcBef>
                <a:spcPct val="0"/>
              </a:spcBef>
            </a:pPr>
            <a:r>
              <a:rPr lang="en-US" sz="2499">
                <a:solidFill>
                  <a:srgbClr val="FFFFFF"/>
                </a:solidFill>
                <a:latin typeface="Open Sans"/>
                <a:ea typeface="Open Sans"/>
                <a:cs typeface="Open Sans"/>
                <a:sym typeface="Open Sans"/>
              </a:rPr>
              <a:t>Briefly discuss how the model handles the spatial and geometric features of the hand (e.g., finger orientation, palm position). This is where the model excels over the randomly predicting CNN.</a:t>
            </a:r>
          </a:p>
        </p:txBody>
      </p:sp>
      <p:sp>
        <p:nvSpPr>
          <p:cNvPr name="TextBox 26" id="26"/>
          <p:cNvSpPr txBox="true"/>
          <p:nvPr/>
        </p:nvSpPr>
        <p:spPr>
          <a:xfrm rot="0">
            <a:off x="1902695" y="7630107"/>
            <a:ext cx="5982250" cy="436086"/>
          </a:xfrm>
          <a:prstGeom prst="rect">
            <a:avLst/>
          </a:prstGeom>
        </p:spPr>
        <p:txBody>
          <a:bodyPr anchor="t" rtlCol="false" tIns="0" lIns="0" bIns="0" rIns="0">
            <a:spAutoFit/>
          </a:bodyPr>
          <a:lstStyle/>
          <a:p>
            <a:pPr algn="l">
              <a:lnSpc>
                <a:spcPts val="3501"/>
              </a:lnSpc>
              <a:spcBef>
                <a:spcPct val="0"/>
              </a:spcBef>
            </a:pPr>
            <a:r>
              <a:rPr lang="en-US" b="true" sz="2501">
                <a:solidFill>
                  <a:srgbClr val="FF2768"/>
                </a:solidFill>
                <a:latin typeface="Open Sans Medium"/>
                <a:ea typeface="Open Sans Medium"/>
                <a:cs typeface="Open Sans Medium"/>
                <a:sym typeface="Open Sans Medium"/>
              </a:rPr>
              <a:t>Feature Engineering </a:t>
            </a:r>
          </a:p>
        </p:txBody>
      </p:sp>
      <p:grpSp>
        <p:nvGrpSpPr>
          <p:cNvPr name="Group 27" id="27"/>
          <p:cNvGrpSpPr/>
          <p:nvPr/>
        </p:nvGrpSpPr>
        <p:grpSpPr>
          <a:xfrm rot="0">
            <a:off x="384810" y="7826980"/>
            <a:ext cx="1228279" cy="1228279"/>
            <a:chOff x="0" y="0"/>
            <a:chExt cx="323497" cy="323497"/>
          </a:xfrm>
        </p:grpSpPr>
        <p:sp>
          <p:nvSpPr>
            <p:cNvPr name="Freeform 28" id="28"/>
            <p:cNvSpPr/>
            <p:nvPr/>
          </p:nvSpPr>
          <p:spPr>
            <a:xfrm flipH="false" flipV="false" rot="0">
              <a:off x="0" y="0"/>
              <a:ext cx="323497" cy="323497"/>
            </a:xfrm>
            <a:custGeom>
              <a:avLst/>
              <a:gdLst/>
              <a:ahLst/>
              <a:cxnLst/>
              <a:rect r="r" b="b" t="t" l="l"/>
              <a:pathLst>
                <a:path h="323497" w="323497">
                  <a:moveTo>
                    <a:pt x="161749" y="0"/>
                  </a:moveTo>
                  <a:lnTo>
                    <a:pt x="161749" y="0"/>
                  </a:lnTo>
                  <a:cubicBezTo>
                    <a:pt x="251080" y="0"/>
                    <a:pt x="323497" y="72417"/>
                    <a:pt x="323497" y="161749"/>
                  </a:cubicBezTo>
                  <a:lnTo>
                    <a:pt x="323497" y="161749"/>
                  </a:lnTo>
                  <a:cubicBezTo>
                    <a:pt x="323497" y="251080"/>
                    <a:pt x="251080" y="323497"/>
                    <a:pt x="161749" y="323497"/>
                  </a:cubicBezTo>
                  <a:lnTo>
                    <a:pt x="161749" y="323497"/>
                  </a:lnTo>
                  <a:cubicBezTo>
                    <a:pt x="72417" y="323497"/>
                    <a:pt x="0" y="251080"/>
                    <a:pt x="0" y="161749"/>
                  </a:cubicBezTo>
                  <a:lnTo>
                    <a:pt x="0" y="161749"/>
                  </a:lnTo>
                  <a:cubicBezTo>
                    <a:pt x="0" y="72417"/>
                    <a:pt x="72417" y="0"/>
                    <a:pt x="161749" y="0"/>
                  </a:cubicBezTo>
                  <a:close/>
                </a:path>
              </a:pathLst>
            </a:custGeom>
            <a:solidFill>
              <a:srgbClr val="E2A9F1"/>
            </a:solidFill>
          </p:spPr>
        </p:sp>
        <p:sp>
          <p:nvSpPr>
            <p:cNvPr name="TextBox 29" id="29"/>
            <p:cNvSpPr txBox="true"/>
            <p:nvPr/>
          </p:nvSpPr>
          <p:spPr>
            <a:xfrm>
              <a:off x="0" y="-57150"/>
              <a:ext cx="323497" cy="380647"/>
            </a:xfrm>
            <a:prstGeom prst="rect">
              <a:avLst/>
            </a:prstGeom>
          </p:spPr>
          <p:txBody>
            <a:bodyPr anchor="ctr" rtlCol="false" tIns="50800" lIns="50800" bIns="50800" rIns="50800"/>
            <a:lstStyle/>
            <a:p>
              <a:pPr algn="ctr">
                <a:lnSpc>
                  <a:spcPts val="3501"/>
                </a:lnSpc>
              </a:pPr>
            </a:p>
          </p:txBody>
        </p:sp>
      </p:grpSp>
      <p:sp>
        <p:nvSpPr>
          <p:cNvPr name="TextBox 30" id="30"/>
          <p:cNvSpPr txBox="true"/>
          <p:nvPr/>
        </p:nvSpPr>
        <p:spPr>
          <a:xfrm rot="0">
            <a:off x="592708" y="8196662"/>
            <a:ext cx="812484" cy="431766"/>
          </a:xfrm>
          <a:prstGeom prst="rect">
            <a:avLst/>
          </a:prstGeom>
        </p:spPr>
        <p:txBody>
          <a:bodyPr anchor="t" rtlCol="false" tIns="0" lIns="0" bIns="0" rIns="0">
            <a:spAutoFit/>
          </a:bodyPr>
          <a:lstStyle/>
          <a:p>
            <a:pPr algn="ctr">
              <a:lnSpc>
                <a:spcPts val="3501"/>
              </a:lnSpc>
              <a:spcBef>
                <a:spcPct val="0"/>
              </a:spcBef>
            </a:pPr>
            <a:r>
              <a:rPr lang="en-US" b="true" sz="2501">
                <a:solidFill>
                  <a:srgbClr val="FFFFFF"/>
                </a:solidFill>
                <a:latin typeface="Open Sans Medium"/>
                <a:ea typeface="Open Sans Medium"/>
                <a:cs typeface="Open Sans Medium"/>
                <a:sym typeface="Open Sans Medium"/>
              </a:rPr>
              <a:t>06</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050A30"/>
        </a:solidFill>
      </p:bgPr>
    </p:bg>
    <p:spTree>
      <p:nvGrpSpPr>
        <p:cNvPr id="1" name=""/>
        <p:cNvGrpSpPr/>
        <p:nvPr/>
      </p:nvGrpSpPr>
      <p:grpSpPr>
        <a:xfrm>
          <a:off x="0" y="0"/>
          <a:ext cx="0" cy="0"/>
          <a:chOff x="0" y="0"/>
          <a:chExt cx="0" cy="0"/>
        </a:xfrm>
      </p:grpSpPr>
      <p:sp>
        <p:nvSpPr>
          <p:cNvPr name="Freeform 2" id="2"/>
          <p:cNvSpPr/>
          <p:nvPr/>
        </p:nvSpPr>
        <p:spPr>
          <a:xfrm flipH="false" flipV="false" rot="-10800000">
            <a:off x="3881099" y="-3883348"/>
            <a:ext cx="7394274" cy="7394274"/>
          </a:xfrm>
          <a:custGeom>
            <a:avLst/>
            <a:gdLst/>
            <a:ahLst/>
            <a:cxnLst/>
            <a:rect r="r" b="b" t="t" l="l"/>
            <a:pathLst>
              <a:path h="7394274" w="7394274">
                <a:moveTo>
                  <a:pt x="0" y="0"/>
                </a:moveTo>
                <a:lnTo>
                  <a:pt x="7394275" y="0"/>
                </a:lnTo>
                <a:lnTo>
                  <a:pt x="7394275" y="7394275"/>
                </a:lnTo>
                <a:lnTo>
                  <a:pt x="0" y="7394275"/>
                </a:lnTo>
                <a:lnTo>
                  <a:pt x="0" y="0"/>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true" rot="-10800000">
            <a:off x="-5312747" y="8863715"/>
            <a:ext cx="7394274" cy="7394274"/>
          </a:xfrm>
          <a:custGeom>
            <a:avLst/>
            <a:gdLst/>
            <a:ahLst/>
            <a:cxnLst/>
            <a:rect r="r" b="b" t="t" l="l"/>
            <a:pathLst>
              <a:path h="7394274" w="7394274">
                <a:moveTo>
                  <a:pt x="7394274" y="7394274"/>
                </a:moveTo>
                <a:lnTo>
                  <a:pt x="0" y="7394274"/>
                </a:lnTo>
                <a:lnTo>
                  <a:pt x="0" y="0"/>
                </a:lnTo>
                <a:lnTo>
                  <a:pt x="7394274" y="0"/>
                </a:lnTo>
                <a:lnTo>
                  <a:pt x="7394274" y="7394274"/>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p:spPr>
      </p:sp>
      <p:grpSp>
        <p:nvGrpSpPr>
          <p:cNvPr name="Group 4" id="4"/>
          <p:cNvGrpSpPr/>
          <p:nvPr/>
        </p:nvGrpSpPr>
        <p:grpSpPr>
          <a:xfrm rot="0">
            <a:off x="17259300" y="501367"/>
            <a:ext cx="357663" cy="271117"/>
            <a:chOff x="0" y="0"/>
            <a:chExt cx="476884" cy="361489"/>
          </a:xfrm>
        </p:grpSpPr>
        <p:sp>
          <p:nvSpPr>
            <p:cNvPr name="AutoShape 5" id="5"/>
            <p:cNvSpPr/>
            <p:nvPr/>
          </p:nvSpPr>
          <p:spPr>
            <a:xfrm>
              <a:off x="0" y="19050"/>
              <a:ext cx="476884" cy="0"/>
            </a:xfrm>
            <a:prstGeom prst="line">
              <a:avLst/>
            </a:prstGeom>
            <a:ln cap="flat" w="38100">
              <a:solidFill>
                <a:srgbClr val="FFFFFF"/>
              </a:solidFill>
              <a:prstDash val="solid"/>
              <a:headEnd type="none" len="sm" w="sm"/>
              <a:tailEnd type="none" len="sm" w="sm"/>
            </a:ln>
          </p:spPr>
        </p:sp>
        <p:sp>
          <p:nvSpPr>
            <p:cNvPr name="AutoShape 6" id="6"/>
            <p:cNvSpPr/>
            <p:nvPr/>
          </p:nvSpPr>
          <p:spPr>
            <a:xfrm>
              <a:off x="0" y="180744"/>
              <a:ext cx="476884" cy="0"/>
            </a:xfrm>
            <a:prstGeom prst="line">
              <a:avLst/>
            </a:prstGeom>
            <a:ln cap="flat" w="38100">
              <a:solidFill>
                <a:srgbClr val="FFFFFF"/>
              </a:solidFill>
              <a:prstDash val="solid"/>
              <a:headEnd type="none" len="sm" w="sm"/>
              <a:tailEnd type="none" len="sm" w="sm"/>
            </a:ln>
          </p:spPr>
        </p:sp>
        <p:sp>
          <p:nvSpPr>
            <p:cNvPr name="AutoShape 7" id="7"/>
            <p:cNvSpPr/>
            <p:nvPr/>
          </p:nvSpPr>
          <p:spPr>
            <a:xfrm>
              <a:off x="0" y="342439"/>
              <a:ext cx="476884" cy="0"/>
            </a:xfrm>
            <a:prstGeom prst="line">
              <a:avLst/>
            </a:prstGeom>
            <a:ln cap="flat" w="38100">
              <a:solidFill>
                <a:srgbClr val="FFFFFF"/>
              </a:solidFill>
              <a:prstDash val="solid"/>
              <a:headEnd type="none" len="sm" w="sm"/>
              <a:tailEnd type="none" len="sm" w="sm"/>
            </a:ln>
          </p:spPr>
        </p:sp>
      </p:grpSp>
      <p:sp>
        <p:nvSpPr>
          <p:cNvPr name="AutoShape 8" id="8"/>
          <p:cNvSpPr/>
          <p:nvPr/>
        </p:nvSpPr>
        <p:spPr>
          <a:xfrm>
            <a:off x="4893821" y="4968671"/>
            <a:ext cx="5982250" cy="0"/>
          </a:xfrm>
          <a:prstGeom prst="line">
            <a:avLst/>
          </a:prstGeom>
          <a:ln cap="flat" w="28575">
            <a:solidFill>
              <a:srgbClr val="FFFFFF"/>
            </a:solidFill>
            <a:prstDash val="solid"/>
            <a:headEnd type="none" len="sm" w="sm"/>
            <a:tailEnd type="none" len="sm" w="sm"/>
          </a:ln>
        </p:spPr>
      </p:sp>
      <p:grpSp>
        <p:nvGrpSpPr>
          <p:cNvPr name="Group 9" id="9"/>
          <p:cNvGrpSpPr/>
          <p:nvPr/>
        </p:nvGrpSpPr>
        <p:grpSpPr>
          <a:xfrm rot="0">
            <a:off x="414561" y="1902610"/>
            <a:ext cx="1228279" cy="1228279"/>
            <a:chOff x="0" y="0"/>
            <a:chExt cx="323497" cy="323497"/>
          </a:xfrm>
        </p:grpSpPr>
        <p:sp>
          <p:nvSpPr>
            <p:cNvPr name="Freeform 10" id="10"/>
            <p:cNvSpPr/>
            <p:nvPr/>
          </p:nvSpPr>
          <p:spPr>
            <a:xfrm flipH="false" flipV="false" rot="0">
              <a:off x="0" y="0"/>
              <a:ext cx="323497" cy="323497"/>
            </a:xfrm>
            <a:custGeom>
              <a:avLst/>
              <a:gdLst/>
              <a:ahLst/>
              <a:cxnLst/>
              <a:rect r="r" b="b" t="t" l="l"/>
              <a:pathLst>
                <a:path h="323497" w="323497">
                  <a:moveTo>
                    <a:pt x="161749" y="0"/>
                  </a:moveTo>
                  <a:lnTo>
                    <a:pt x="161749" y="0"/>
                  </a:lnTo>
                  <a:cubicBezTo>
                    <a:pt x="251080" y="0"/>
                    <a:pt x="323497" y="72417"/>
                    <a:pt x="323497" y="161749"/>
                  </a:cubicBezTo>
                  <a:lnTo>
                    <a:pt x="323497" y="161749"/>
                  </a:lnTo>
                  <a:cubicBezTo>
                    <a:pt x="323497" y="251080"/>
                    <a:pt x="251080" y="323497"/>
                    <a:pt x="161749" y="323497"/>
                  </a:cubicBezTo>
                  <a:lnTo>
                    <a:pt x="161749" y="323497"/>
                  </a:lnTo>
                  <a:cubicBezTo>
                    <a:pt x="72417" y="323497"/>
                    <a:pt x="0" y="251080"/>
                    <a:pt x="0" y="161749"/>
                  </a:cubicBezTo>
                  <a:lnTo>
                    <a:pt x="0" y="161749"/>
                  </a:lnTo>
                  <a:cubicBezTo>
                    <a:pt x="0" y="72417"/>
                    <a:pt x="72417" y="0"/>
                    <a:pt x="161749" y="0"/>
                  </a:cubicBezTo>
                  <a:close/>
                </a:path>
              </a:pathLst>
            </a:custGeom>
            <a:solidFill>
              <a:srgbClr val="E2A9F1"/>
            </a:solidFill>
          </p:spPr>
        </p:sp>
        <p:sp>
          <p:nvSpPr>
            <p:cNvPr name="TextBox 11" id="11"/>
            <p:cNvSpPr txBox="true"/>
            <p:nvPr/>
          </p:nvSpPr>
          <p:spPr>
            <a:xfrm>
              <a:off x="0" y="-57150"/>
              <a:ext cx="323497" cy="380647"/>
            </a:xfrm>
            <a:prstGeom prst="rect">
              <a:avLst/>
            </a:prstGeom>
          </p:spPr>
          <p:txBody>
            <a:bodyPr anchor="ctr" rtlCol="false" tIns="50800" lIns="50800" bIns="50800" rIns="50800"/>
            <a:lstStyle/>
            <a:p>
              <a:pPr algn="ctr">
                <a:lnSpc>
                  <a:spcPts val="3501"/>
                </a:lnSpc>
              </a:pPr>
            </a:p>
          </p:txBody>
        </p:sp>
      </p:grpSp>
      <p:sp>
        <p:nvSpPr>
          <p:cNvPr name="TextBox 12" id="12"/>
          <p:cNvSpPr txBox="true"/>
          <p:nvPr/>
        </p:nvSpPr>
        <p:spPr>
          <a:xfrm rot="0">
            <a:off x="2081527" y="2374379"/>
            <a:ext cx="15777436" cy="2389505"/>
          </a:xfrm>
          <a:prstGeom prst="rect">
            <a:avLst/>
          </a:prstGeom>
        </p:spPr>
        <p:txBody>
          <a:bodyPr anchor="t" rtlCol="false" tIns="0" lIns="0" bIns="0" rIns="0">
            <a:spAutoFit/>
          </a:bodyPr>
          <a:lstStyle/>
          <a:p>
            <a:pPr algn="just">
              <a:lnSpc>
                <a:spcPts val="3219"/>
              </a:lnSpc>
              <a:spcBef>
                <a:spcPct val="0"/>
              </a:spcBef>
            </a:pPr>
            <a:r>
              <a:rPr lang="en-US" sz="2299">
                <a:solidFill>
                  <a:srgbClr val="FFFFFF"/>
                </a:solidFill>
                <a:latin typeface="Open Sans"/>
                <a:ea typeface="Open Sans"/>
                <a:cs typeface="Open Sans"/>
                <a:sym typeface="Open Sans"/>
              </a:rPr>
              <a:t>Describe the technicPresent the performance metrics. Contrast the successful model's performance on the live feed with the initial CNN's failure (e.g., 95%+ Live Accuracy vs. Random Prediction). Mention the key metrics: Accuracy, Latency (speed of prediction), and Robustness (consistency across different users/backgrounds). The success is the ability to generalize to unseen live data, which was the primary project goal.al stack for live detection: using libraries like OpenCV for camera input and image processing. Highlight the requirement for a high Frame Rate (FPS) to ensure smooth, usable translation for the user.</a:t>
            </a:r>
          </a:p>
        </p:txBody>
      </p:sp>
      <p:sp>
        <p:nvSpPr>
          <p:cNvPr name="TextBox 13" id="13"/>
          <p:cNvSpPr txBox="true"/>
          <p:nvPr/>
        </p:nvSpPr>
        <p:spPr>
          <a:xfrm rot="0">
            <a:off x="2081527" y="1899646"/>
            <a:ext cx="8487835" cy="436086"/>
          </a:xfrm>
          <a:prstGeom prst="rect">
            <a:avLst/>
          </a:prstGeom>
        </p:spPr>
        <p:txBody>
          <a:bodyPr anchor="t" rtlCol="false" tIns="0" lIns="0" bIns="0" rIns="0">
            <a:spAutoFit/>
          </a:bodyPr>
          <a:lstStyle/>
          <a:p>
            <a:pPr algn="l">
              <a:lnSpc>
                <a:spcPts val="3501"/>
              </a:lnSpc>
              <a:spcBef>
                <a:spcPct val="0"/>
              </a:spcBef>
            </a:pPr>
            <a:r>
              <a:rPr lang="en-US" b="true" sz="2501">
                <a:solidFill>
                  <a:srgbClr val="FF2768"/>
                </a:solidFill>
                <a:latin typeface="Open Sans Medium"/>
                <a:ea typeface="Open Sans Medium"/>
                <a:cs typeface="Open Sans Medium"/>
                <a:sym typeface="Open Sans Medium"/>
              </a:rPr>
              <a:t>Results and Evaluation</a:t>
            </a:r>
          </a:p>
        </p:txBody>
      </p:sp>
      <p:sp>
        <p:nvSpPr>
          <p:cNvPr name="TextBox 14" id="14"/>
          <p:cNvSpPr txBox="true"/>
          <p:nvPr/>
        </p:nvSpPr>
        <p:spPr>
          <a:xfrm rot="0">
            <a:off x="1902695" y="5701914"/>
            <a:ext cx="15535436" cy="1153795"/>
          </a:xfrm>
          <a:prstGeom prst="rect">
            <a:avLst/>
          </a:prstGeom>
        </p:spPr>
        <p:txBody>
          <a:bodyPr anchor="t" rtlCol="false" tIns="0" lIns="0" bIns="0" rIns="0">
            <a:spAutoFit/>
          </a:bodyPr>
          <a:lstStyle/>
          <a:p>
            <a:pPr algn="just">
              <a:lnSpc>
                <a:spcPts val="3079"/>
              </a:lnSpc>
              <a:spcBef>
                <a:spcPct val="0"/>
              </a:spcBef>
            </a:pPr>
            <a:r>
              <a:rPr lang="en-US" sz="2199">
                <a:solidFill>
                  <a:srgbClr val="FFFFFF"/>
                </a:solidFill>
                <a:latin typeface="Open Sans"/>
                <a:ea typeface="Open Sans"/>
                <a:cs typeface="Open Sans"/>
                <a:sym typeface="Open Sans"/>
              </a:rPr>
              <a:t>Discuss the practical use of the project. The core value: Enabling text input via hand gestures. Mention potential applications beyond the alphabet (e.g., full words, commands, assistive technology for individuals with speech impairments).</a:t>
            </a:r>
          </a:p>
        </p:txBody>
      </p:sp>
      <p:sp>
        <p:nvSpPr>
          <p:cNvPr name="TextBox 15" id="15"/>
          <p:cNvSpPr txBox="true"/>
          <p:nvPr/>
        </p:nvSpPr>
        <p:spPr>
          <a:xfrm rot="0">
            <a:off x="1902695" y="5116309"/>
            <a:ext cx="11587474" cy="436086"/>
          </a:xfrm>
          <a:prstGeom prst="rect">
            <a:avLst/>
          </a:prstGeom>
        </p:spPr>
        <p:txBody>
          <a:bodyPr anchor="t" rtlCol="false" tIns="0" lIns="0" bIns="0" rIns="0">
            <a:spAutoFit/>
          </a:bodyPr>
          <a:lstStyle/>
          <a:p>
            <a:pPr algn="l">
              <a:lnSpc>
                <a:spcPts val="3501"/>
              </a:lnSpc>
              <a:spcBef>
                <a:spcPct val="0"/>
              </a:spcBef>
            </a:pPr>
            <a:r>
              <a:rPr lang="en-US" b="true" sz="2501">
                <a:solidFill>
                  <a:srgbClr val="FF2768"/>
                </a:solidFill>
                <a:latin typeface="Open Sans Medium"/>
                <a:ea typeface="Open Sans Medium"/>
                <a:cs typeface="Open Sans Medium"/>
                <a:sym typeface="Open Sans Medium"/>
              </a:rPr>
              <a:t>Application and Impact</a:t>
            </a:r>
          </a:p>
        </p:txBody>
      </p:sp>
      <p:grpSp>
        <p:nvGrpSpPr>
          <p:cNvPr name="Group 16" id="16"/>
          <p:cNvGrpSpPr/>
          <p:nvPr/>
        </p:nvGrpSpPr>
        <p:grpSpPr>
          <a:xfrm rot="0">
            <a:off x="384810" y="5173459"/>
            <a:ext cx="1228279" cy="1228279"/>
            <a:chOff x="0" y="0"/>
            <a:chExt cx="323497" cy="323497"/>
          </a:xfrm>
        </p:grpSpPr>
        <p:sp>
          <p:nvSpPr>
            <p:cNvPr name="Freeform 17" id="17"/>
            <p:cNvSpPr/>
            <p:nvPr/>
          </p:nvSpPr>
          <p:spPr>
            <a:xfrm flipH="false" flipV="false" rot="0">
              <a:off x="0" y="0"/>
              <a:ext cx="323497" cy="323497"/>
            </a:xfrm>
            <a:custGeom>
              <a:avLst/>
              <a:gdLst/>
              <a:ahLst/>
              <a:cxnLst/>
              <a:rect r="r" b="b" t="t" l="l"/>
              <a:pathLst>
                <a:path h="323497" w="323497">
                  <a:moveTo>
                    <a:pt x="161749" y="0"/>
                  </a:moveTo>
                  <a:lnTo>
                    <a:pt x="161749" y="0"/>
                  </a:lnTo>
                  <a:cubicBezTo>
                    <a:pt x="251080" y="0"/>
                    <a:pt x="323497" y="72417"/>
                    <a:pt x="323497" y="161749"/>
                  </a:cubicBezTo>
                  <a:lnTo>
                    <a:pt x="323497" y="161749"/>
                  </a:lnTo>
                  <a:cubicBezTo>
                    <a:pt x="323497" y="251080"/>
                    <a:pt x="251080" y="323497"/>
                    <a:pt x="161749" y="323497"/>
                  </a:cubicBezTo>
                  <a:lnTo>
                    <a:pt x="161749" y="323497"/>
                  </a:lnTo>
                  <a:cubicBezTo>
                    <a:pt x="72417" y="323497"/>
                    <a:pt x="0" y="251080"/>
                    <a:pt x="0" y="161749"/>
                  </a:cubicBezTo>
                  <a:lnTo>
                    <a:pt x="0" y="161749"/>
                  </a:lnTo>
                  <a:cubicBezTo>
                    <a:pt x="0" y="72417"/>
                    <a:pt x="72417" y="0"/>
                    <a:pt x="161749" y="0"/>
                  </a:cubicBezTo>
                  <a:close/>
                </a:path>
              </a:pathLst>
            </a:custGeom>
            <a:solidFill>
              <a:srgbClr val="E2A9F1"/>
            </a:solidFill>
          </p:spPr>
        </p:sp>
        <p:sp>
          <p:nvSpPr>
            <p:cNvPr name="TextBox 18" id="18"/>
            <p:cNvSpPr txBox="true"/>
            <p:nvPr/>
          </p:nvSpPr>
          <p:spPr>
            <a:xfrm>
              <a:off x="0" y="-57150"/>
              <a:ext cx="323497" cy="380647"/>
            </a:xfrm>
            <a:prstGeom prst="rect">
              <a:avLst/>
            </a:prstGeom>
          </p:spPr>
          <p:txBody>
            <a:bodyPr anchor="ctr" rtlCol="false" tIns="50800" lIns="50800" bIns="50800" rIns="50800"/>
            <a:lstStyle/>
            <a:p>
              <a:pPr algn="ctr">
                <a:lnSpc>
                  <a:spcPts val="3501"/>
                </a:lnSpc>
              </a:pPr>
            </a:p>
          </p:txBody>
        </p:sp>
      </p:grpSp>
      <p:sp>
        <p:nvSpPr>
          <p:cNvPr name="TextBox 19" id="19"/>
          <p:cNvSpPr txBox="true"/>
          <p:nvPr/>
        </p:nvSpPr>
        <p:spPr>
          <a:xfrm rot="0">
            <a:off x="622458" y="2272292"/>
            <a:ext cx="812484" cy="431766"/>
          </a:xfrm>
          <a:prstGeom prst="rect">
            <a:avLst/>
          </a:prstGeom>
        </p:spPr>
        <p:txBody>
          <a:bodyPr anchor="t" rtlCol="false" tIns="0" lIns="0" bIns="0" rIns="0">
            <a:spAutoFit/>
          </a:bodyPr>
          <a:lstStyle/>
          <a:p>
            <a:pPr algn="ctr">
              <a:lnSpc>
                <a:spcPts val="3501"/>
              </a:lnSpc>
              <a:spcBef>
                <a:spcPct val="0"/>
              </a:spcBef>
            </a:pPr>
            <a:r>
              <a:rPr lang="en-US" b="true" sz="2501">
                <a:solidFill>
                  <a:srgbClr val="FFFFFF"/>
                </a:solidFill>
                <a:latin typeface="Open Sans Medium"/>
                <a:ea typeface="Open Sans Medium"/>
                <a:cs typeface="Open Sans Medium"/>
                <a:sym typeface="Open Sans Medium"/>
              </a:rPr>
              <a:t>07</a:t>
            </a:r>
          </a:p>
        </p:txBody>
      </p:sp>
      <p:sp>
        <p:nvSpPr>
          <p:cNvPr name="TextBox 20" id="20"/>
          <p:cNvSpPr txBox="true"/>
          <p:nvPr/>
        </p:nvSpPr>
        <p:spPr>
          <a:xfrm rot="0">
            <a:off x="592708" y="5543141"/>
            <a:ext cx="812484" cy="431766"/>
          </a:xfrm>
          <a:prstGeom prst="rect">
            <a:avLst/>
          </a:prstGeom>
        </p:spPr>
        <p:txBody>
          <a:bodyPr anchor="t" rtlCol="false" tIns="0" lIns="0" bIns="0" rIns="0">
            <a:spAutoFit/>
          </a:bodyPr>
          <a:lstStyle/>
          <a:p>
            <a:pPr algn="ctr">
              <a:lnSpc>
                <a:spcPts val="3501"/>
              </a:lnSpc>
              <a:spcBef>
                <a:spcPct val="0"/>
              </a:spcBef>
            </a:pPr>
            <a:r>
              <a:rPr lang="en-US" b="true" sz="2501">
                <a:solidFill>
                  <a:srgbClr val="FFFFFF"/>
                </a:solidFill>
                <a:latin typeface="Open Sans Medium"/>
                <a:ea typeface="Open Sans Medium"/>
                <a:cs typeface="Open Sans Medium"/>
                <a:sym typeface="Open Sans Medium"/>
              </a:rPr>
              <a:t>08</a:t>
            </a:r>
          </a:p>
        </p:txBody>
      </p:sp>
      <p:sp>
        <p:nvSpPr>
          <p:cNvPr name="Freeform 21" id="21"/>
          <p:cNvSpPr/>
          <p:nvPr/>
        </p:nvSpPr>
        <p:spPr>
          <a:xfrm flipH="false" flipV="false" rot="0">
            <a:off x="13018811" y="1658957"/>
            <a:ext cx="471358" cy="487306"/>
          </a:xfrm>
          <a:custGeom>
            <a:avLst/>
            <a:gdLst/>
            <a:ahLst/>
            <a:cxnLst/>
            <a:rect r="r" b="b" t="t" l="l"/>
            <a:pathLst>
              <a:path h="487306" w="471358">
                <a:moveTo>
                  <a:pt x="0" y="0"/>
                </a:moveTo>
                <a:lnTo>
                  <a:pt x="471358" y="0"/>
                </a:lnTo>
                <a:lnTo>
                  <a:pt x="471358" y="487307"/>
                </a:lnTo>
                <a:lnTo>
                  <a:pt x="0" y="48730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22" id="22"/>
          <p:cNvSpPr txBox="true"/>
          <p:nvPr/>
        </p:nvSpPr>
        <p:spPr>
          <a:xfrm rot="0">
            <a:off x="181724" y="99080"/>
            <a:ext cx="1229970" cy="537846"/>
          </a:xfrm>
          <a:prstGeom prst="rect">
            <a:avLst/>
          </a:prstGeom>
        </p:spPr>
        <p:txBody>
          <a:bodyPr anchor="t" rtlCol="false" tIns="0" lIns="0" bIns="0" rIns="0">
            <a:spAutoFit/>
          </a:bodyPr>
          <a:lstStyle/>
          <a:p>
            <a:pPr algn="l">
              <a:lnSpc>
                <a:spcPts val="4479"/>
              </a:lnSpc>
              <a:spcBef>
                <a:spcPct val="0"/>
              </a:spcBef>
            </a:pPr>
            <a:r>
              <a:rPr lang="en-US" b="true" sz="3199">
                <a:solidFill>
                  <a:srgbClr val="FFFFFF"/>
                </a:solidFill>
                <a:latin typeface="Open Sans Medium"/>
                <a:ea typeface="Open Sans Medium"/>
                <a:cs typeface="Open Sans Medium"/>
                <a:sym typeface="Open Sans Medium"/>
              </a:rPr>
              <a:t>DEPI</a:t>
            </a:r>
          </a:p>
        </p:txBody>
      </p:sp>
      <p:sp>
        <p:nvSpPr>
          <p:cNvPr name="TextBox 23" id="23"/>
          <p:cNvSpPr txBox="true"/>
          <p:nvPr/>
        </p:nvSpPr>
        <p:spPr>
          <a:xfrm rot="0">
            <a:off x="0" y="494051"/>
            <a:ext cx="11812273" cy="1260439"/>
          </a:xfrm>
          <a:prstGeom prst="rect">
            <a:avLst/>
          </a:prstGeom>
        </p:spPr>
        <p:txBody>
          <a:bodyPr anchor="t" rtlCol="false" tIns="0" lIns="0" bIns="0" rIns="0">
            <a:spAutoFit/>
          </a:bodyPr>
          <a:lstStyle/>
          <a:p>
            <a:pPr algn="ctr">
              <a:lnSpc>
                <a:spcPts val="10327"/>
              </a:lnSpc>
              <a:spcBef>
                <a:spcPct val="0"/>
              </a:spcBef>
            </a:pPr>
            <a:r>
              <a:rPr lang="en-US" b="true" sz="7376">
                <a:solidFill>
                  <a:srgbClr val="FFFFFF"/>
                </a:solidFill>
                <a:latin typeface="Pattanakarn Heavy"/>
                <a:ea typeface="Pattanakarn Heavy"/>
                <a:cs typeface="Pattanakarn Heavy"/>
                <a:sym typeface="Pattanakarn Heavy"/>
              </a:rPr>
              <a:t>PROJECT OVERVIEW</a:t>
            </a:r>
          </a:p>
        </p:txBody>
      </p:sp>
      <p:sp>
        <p:nvSpPr>
          <p:cNvPr name="AutoShape 24" id="24"/>
          <p:cNvSpPr/>
          <p:nvPr/>
        </p:nvSpPr>
        <p:spPr>
          <a:xfrm>
            <a:off x="3987995" y="7070022"/>
            <a:ext cx="5982250" cy="0"/>
          </a:xfrm>
          <a:prstGeom prst="line">
            <a:avLst/>
          </a:prstGeom>
          <a:ln cap="flat" w="28575">
            <a:solidFill>
              <a:srgbClr val="FFFFFF"/>
            </a:solidFill>
            <a:prstDash val="solid"/>
            <a:headEnd type="none" len="sm" w="sm"/>
            <a:tailEnd type="none" len="sm" w="sm"/>
          </a:ln>
        </p:spPr>
      </p:sp>
      <p:sp>
        <p:nvSpPr>
          <p:cNvPr name="TextBox 25" id="25"/>
          <p:cNvSpPr txBox="true"/>
          <p:nvPr/>
        </p:nvSpPr>
        <p:spPr>
          <a:xfrm rot="0">
            <a:off x="1844982" y="7812789"/>
            <a:ext cx="16013982" cy="2325370"/>
          </a:xfrm>
          <a:prstGeom prst="rect">
            <a:avLst/>
          </a:prstGeom>
        </p:spPr>
        <p:txBody>
          <a:bodyPr anchor="t" rtlCol="false" tIns="0" lIns="0" bIns="0" rIns="0">
            <a:spAutoFit/>
          </a:bodyPr>
          <a:lstStyle/>
          <a:p>
            <a:pPr algn="just">
              <a:lnSpc>
                <a:spcPts val="3079"/>
              </a:lnSpc>
            </a:pPr>
            <a:r>
              <a:rPr lang="en-US" sz="2199">
                <a:solidFill>
                  <a:srgbClr val="FFFFFF"/>
                </a:solidFill>
                <a:latin typeface="Open Sans"/>
                <a:ea typeface="Open Sans"/>
                <a:cs typeface="Open Sans"/>
                <a:sym typeface="Open Sans"/>
              </a:rPr>
              <a:t>Outline the next steps: * Expanding the dataset (more users, different lighting). * Integrating full Sign Language vocabulary (not just the alphabet). * Deployment optimization (e.g., converting the model for mobile or web use). * Adding gesture temporal tracking (to understand sequences of signs).</a:t>
            </a:r>
          </a:p>
          <a:p>
            <a:pPr algn="just">
              <a:lnSpc>
                <a:spcPts val="3079"/>
              </a:lnSpc>
              <a:spcBef>
                <a:spcPct val="0"/>
              </a:spcBef>
            </a:pPr>
            <a:r>
              <a:rPr lang="en-US" sz="2199">
                <a:solidFill>
                  <a:srgbClr val="FFFFFF"/>
                </a:solidFill>
                <a:latin typeface="Open Sans"/>
                <a:ea typeface="Open Sans"/>
                <a:cs typeface="Open Sans"/>
                <a:sym typeface="Open Sans"/>
              </a:rPr>
              <a:t>Summarize the journey: The project is a successful case study in data-centric AI, demonstrating that the quality and relevance of the data (custom dataset) and the appropriateness of the model (transitioning from CNN to a better-suited ML/DL architecture) are more crucial than relying solely on popular architectures and public datasets.</a:t>
            </a:r>
          </a:p>
        </p:txBody>
      </p:sp>
      <p:sp>
        <p:nvSpPr>
          <p:cNvPr name="TextBox 26" id="26"/>
          <p:cNvSpPr txBox="true"/>
          <p:nvPr/>
        </p:nvSpPr>
        <p:spPr>
          <a:xfrm rot="0">
            <a:off x="1844982" y="7227184"/>
            <a:ext cx="5982250" cy="436086"/>
          </a:xfrm>
          <a:prstGeom prst="rect">
            <a:avLst/>
          </a:prstGeom>
        </p:spPr>
        <p:txBody>
          <a:bodyPr anchor="t" rtlCol="false" tIns="0" lIns="0" bIns="0" rIns="0">
            <a:spAutoFit/>
          </a:bodyPr>
          <a:lstStyle/>
          <a:p>
            <a:pPr algn="l">
              <a:lnSpc>
                <a:spcPts val="3501"/>
              </a:lnSpc>
              <a:spcBef>
                <a:spcPct val="0"/>
              </a:spcBef>
            </a:pPr>
            <a:r>
              <a:rPr lang="en-US" b="true" sz="2501">
                <a:solidFill>
                  <a:srgbClr val="FF2768"/>
                </a:solidFill>
                <a:latin typeface="Open Sans Medium"/>
                <a:ea typeface="Open Sans Medium"/>
                <a:cs typeface="Open Sans Medium"/>
                <a:sym typeface="Open Sans Medium"/>
              </a:rPr>
              <a:t>Future Work &amp; Conclusion</a:t>
            </a:r>
          </a:p>
        </p:txBody>
      </p:sp>
      <p:grpSp>
        <p:nvGrpSpPr>
          <p:cNvPr name="Group 27" id="27"/>
          <p:cNvGrpSpPr/>
          <p:nvPr/>
        </p:nvGrpSpPr>
        <p:grpSpPr>
          <a:xfrm rot="0">
            <a:off x="327096" y="7284334"/>
            <a:ext cx="1228279" cy="1228279"/>
            <a:chOff x="0" y="0"/>
            <a:chExt cx="323497" cy="323497"/>
          </a:xfrm>
        </p:grpSpPr>
        <p:sp>
          <p:nvSpPr>
            <p:cNvPr name="Freeform 28" id="28"/>
            <p:cNvSpPr/>
            <p:nvPr/>
          </p:nvSpPr>
          <p:spPr>
            <a:xfrm flipH="false" flipV="false" rot="0">
              <a:off x="0" y="0"/>
              <a:ext cx="323497" cy="323497"/>
            </a:xfrm>
            <a:custGeom>
              <a:avLst/>
              <a:gdLst/>
              <a:ahLst/>
              <a:cxnLst/>
              <a:rect r="r" b="b" t="t" l="l"/>
              <a:pathLst>
                <a:path h="323497" w="323497">
                  <a:moveTo>
                    <a:pt x="161749" y="0"/>
                  </a:moveTo>
                  <a:lnTo>
                    <a:pt x="161749" y="0"/>
                  </a:lnTo>
                  <a:cubicBezTo>
                    <a:pt x="251080" y="0"/>
                    <a:pt x="323497" y="72417"/>
                    <a:pt x="323497" y="161749"/>
                  </a:cubicBezTo>
                  <a:lnTo>
                    <a:pt x="323497" y="161749"/>
                  </a:lnTo>
                  <a:cubicBezTo>
                    <a:pt x="323497" y="251080"/>
                    <a:pt x="251080" y="323497"/>
                    <a:pt x="161749" y="323497"/>
                  </a:cubicBezTo>
                  <a:lnTo>
                    <a:pt x="161749" y="323497"/>
                  </a:lnTo>
                  <a:cubicBezTo>
                    <a:pt x="72417" y="323497"/>
                    <a:pt x="0" y="251080"/>
                    <a:pt x="0" y="161749"/>
                  </a:cubicBezTo>
                  <a:lnTo>
                    <a:pt x="0" y="161749"/>
                  </a:lnTo>
                  <a:cubicBezTo>
                    <a:pt x="0" y="72417"/>
                    <a:pt x="72417" y="0"/>
                    <a:pt x="161749" y="0"/>
                  </a:cubicBezTo>
                  <a:close/>
                </a:path>
              </a:pathLst>
            </a:custGeom>
            <a:solidFill>
              <a:srgbClr val="E2A9F1"/>
            </a:solidFill>
          </p:spPr>
        </p:sp>
        <p:sp>
          <p:nvSpPr>
            <p:cNvPr name="TextBox 29" id="29"/>
            <p:cNvSpPr txBox="true"/>
            <p:nvPr/>
          </p:nvSpPr>
          <p:spPr>
            <a:xfrm>
              <a:off x="0" y="-57150"/>
              <a:ext cx="323497" cy="380647"/>
            </a:xfrm>
            <a:prstGeom prst="rect">
              <a:avLst/>
            </a:prstGeom>
          </p:spPr>
          <p:txBody>
            <a:bodyPr anchor="ctr" rtlCol="false" tIns="50800" lIns="50800" bIns="50800" rIns="50800"/>
            <a:lstStyle/>
            <a:p>
              <a:pPr algn="ctr">
                <a:lnSpc>
                  <a:spcPts val="3501"/>
                </a:lnSpc>
              </a:pPr>
            </a:p>
          </p:txBody>
        </p:sp>
      </p:grpSp>
      <p:sp>
        <p:nvSpPr>
          <p:cNvPr name="TextBox 30" id="30"/>
          <p:cNvSpPr txBox="true"/>
          <p:nvPr/>
        </p:nvSpPr>
        <p:spPr>
          <a:xfrm rot="0">
            <a:off x="534994" y="7654016"/>
            <a:ext cx="812484" cy="431766"/>
          </a:xfrm>
          <a:prstGeom prst="rect">
            <a:avLst/>
          </a:prstGeom>
        </p:spPr>
        <p:txBody>
          <a:bodyPr anchor="t" rtlCol="false" tIns="0" lIns="0" bIns="0" rIns="0">
            <a:spAutoFit/>
          </a:bodyPr>
          <a:lstStyle/>
          <a:p>
            <a:pPr algn="ctr">
              <a:lnSpc>
                <a:spcPts val="3501"/>
              </a:lnSpc>
              <a:spcBef>
                <a:spcPct val="0"/>
              </a:spcBef>
            </a:pPr>
            <a:r>
              <a:rPr lang="en-US" b="true" sz="2501">
                <a:solidFill>
                  <a:srgbClr val="FFFFFF"/>
                </a:solidFill>
                <a:latin typeface="Open Sans Medium"/>
                <a:ea typeface="Open Sans Medium"/>
                <a:cs typeface="Open Sans Medium"/>
                <a:sym typeface="Open Sans Medium"/>
              </a:rPr>
              <a:t>09</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050A30"/>
        </a:solidFill>
      </p:bgPr>
    </p:bg>
    <p:spTree>
      <p:nvGrpSpPr>
        <p:cNvPr id="1" name=""/>
        <p:cNvGrpSpPr/>
        <p:nvPr/>
      </p:nvGrpSpPr>
      <p:grpSpPr>
        <a:xfrm>
          <a:off x="0" y="0"/>
          <a:ext cx="0" cy="0"/>
          <a:chOff x="0" y="0"/>
          <a:chExt cx="0" cy="0"/>
        </a:xfrm>
      </p:grpSpPr>
      <p:sp>
        <p:nvSpPr>
          <p:cNvPr name="Freeform 2" id="2"/>
          <p:cNvSpPr/>
          <p:nvPr/>
        </p:nvSpPr>
        <p:spPr>
          <a:xfrm flipH="false" flipV="false" rot="-10800000">
            <a:off x="3881099" y="-3883348"/>
            <a:ext cx="7394274" cy="7394274"/>
          </a:xfrm>
          <a:custGeom>
            <a:avLst/>
            <a:gdLst/>
            <a:ahLst/>
            <a:cxnLst/>
            <a:rect r="r" b="b" t="t" l="l"/>
            <a:pathLst>
              <a:path h="7394274" w="7394274">
                <a:moveTo>
                  <a:pt x="0" y="0"/>
                </a:moveTo>
                <a:lnTo>
                  <a:pt x="7394275" y="0"/>
                </a:lnTo>
                <a:lnTo>
                  <a:pt x="7394275" y="7394275"/>
                </a:lnTo>
                <a:lnTo>
                  <a:pt x="0" y="7394275"/>
                </a:lnTo>
                <a:lnTo>
                  <a:pt x="0" y="0"/>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true" rot="-10800000">
            <a:off x="-5312747" y="8863715"/>
            <a:ext cx="7394274" cy="7394274"/>
          </a:xfrm>
          <a:custGeom>
            <a:avLst/>
            <a:gdLst/>
            <a:ahLst/>
            <a:cxnLst/>
            <a:rect r="r" b="b" t="t" l="l"/>
            <a:pathLst>
              <a:path h="7394274" w="7394274">
                <a:moveTo>
                  <a:pt x="7394274" y="7394274"/>
                </a:moveTo>
                <a:lnTo>
                  <a:pt x="0" y="7394274"/>
                </a:lnTo>
                <a:lnTo>
                  <a:pt x="0" y="0"/>
                </a:lnTo>
                <a:lnTo>
                  <a:pt x="7394274" y="0"/>
                </a:lnTo>
                <a:lnTo>
                  <a:pt x="7394274" y="7394274"/>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p:spPr>
      </p:sp>
      <p:grpSp>
        <p:nvGrpSpPr>
          <p:cNvPr name="Group 4" id="4"/>
          <p:cNvGrpSpPr/>
          <p:nvPr/>
        </p:nvGrpSpPr>
        <p:grpSpPr>
          <a:xfrm rot="0">
            <a:off x="17259300" y="501367"/>
            <a:ext cx="357663" cy="271117"/>
            <a:chOff x="0" y="0"/>
            <a:chExt cx="476884" cy="361489"/>
          </a:xfrm>
        </p:grpSpPr>
        <p:sp>
          <p:nvSpPr>
            <p:cNvPr name="AutoShape 5" id="5"/>
            <p:cNvSpPr/>
            <p:nvPr/>
          </p:nvSpPr>
          <p:spPr>
            <a:xfrm>
              <a:off x="0" y="19050"/>
              <a:ext cx="476884" cy="0"/>
            </a:xfrm>
            <a:prstGeom prst="line">
              <a:avLst/>
            </a:prstGeom>
            <a:ln cap="flat" w="38100">
              <a:solidFill>
                <a:srgbClr val="FFFFFF"/>
              </a:solidFill>
              <a:prstDash val="solid"/>
              <a:headEnd type="none" len="sm" w="sm"/>
              <a:tailEnd type="none" len="sm" w="sm"/>
            </a:ln>
          </p:spPr>
        </p:sp>
        <p:sp>
          <p:nvSpPr>
            <p:cNvPr name="AutoShape 6" id="6"/>
            <p:cNvSpPr/>
            <p:nvPr/>
          </p:nvSpPr>
          <p:spPr>
            <a:xfrm>
              <a:off x="0" y="180744"/>
              <a:ext cx="476884" cy="0"/>
            </a:xfrm>
            <a:prstGeom prst="line">
              <a:avLst/>
            </a:prstGeom>
            <a:ln cap="flat" w="38100">
              <a:solidFill>
                <a:srgbClr val="FFFFFF"/>
              </a:solidFill>
              <a:prstDash val="solid"/>
              <a:headEnd type="none" len="sm" w="sm"/>
              <a:tailEnd type="none" len="sm" w="sm"/>
            </a:ln>
          </p:spPr>
        </p:sp>
        <p:sp>
          <p:nvSpPr>
            <p:cNvPr name="AutoShape 7" id="7"/>
            <p:cNvSpPr/>
            <p:nvPr/>
          </p:nvSpPr>
          <p:spPr>
            <a:xfrm>
              <a:off x="0" y="342439"/>
              <a:ext cx="476884" cy="0"/>
            </a:xfrm>
            <a:prstGeom prst="line">
              <a:avLst/>
            </a:prstGeom>
            <a:ln cap="flat" w="38100">
              <a:solidFill>
                <a:srgbClr val="FFFFFF"/>
              </a:solidFill>
              <a:prstDash val="solid"/>
              <a:headEnd type="none" len="sm" w="sm"/>
              <a:tailEnd type="none" len="sm" w="sm"/>
            </a:ln>
          </p:spPr>
        </p:sp>
      </p:grpSp>
      <p:sp>
        <p:nvSpPr>
          <p:cNvPr name="AutoShape 8" id="8"/>
          <p:cNvSpPr/>
          <p:nvPr/>
        </p:nvSpPr>
        <p:spPr>
          <a:xfrm>
            <a:off x="5293123" y="5501241"/>
            <a:ext cx="5982250" cy="0"/>
          </a:xfrm>
          <a:prstGeom prst="line">
            <a:avLst/>
          </a:prstGeom>
          <a:ln cap="flat" w="28575">
            <a:solidFill>
              <a:srgbClr val="FFFFFF"/>
            </a:solidFill>
            <a:prstDash val="solid"/>
            <a:headEnd type="none" len="sm" w="sm"/>
            <a:tailEnd type="none" len="sm" w="sm"/>
          </a:ln>
        </p:spPr>
      </p:sp>
      <p:sp>
        <p:nvSpPr>
          <p:cNvPr name="TextBox 9" id="9"/>
          <p:cNvSpPr txBox="true"/>
          <p:nvPr/>
        </p:nvSpPr>
        <p:spPr>
          <a:xfrm rot="0">
            <a:off x="796709" y="1769260"/>
            <a:ext cx="15777436" cy="3489325"/>
          </a:xfrm>
          <a:prstGeom prst="rect">
            <a:avLst/>
          </a:prstGeom>
        </p:spPr>
        <p:txBody>
          <a:bodyPr anchor="t" rtlCol="false" tIns="0" lIns="0" bIns="0" rIns="0">
            <a:spAutoFit/>
          </a:bodyPr>
          <a:lstStyle/>
          <a:p>
            <a:pPr algn="just">
              <a:lnSpc>
                <a:spcPts val="3499"/>
              </a:lnSpc>
              <a:spcBef>
                <a:spcPct val="0"/>
              </a:spcBef>
            </a:pPr>
            <a:r>
              <a:rPr lang="en-US" sz="2499">
                <a:solidFill>
                  <a:srgbClr val="FFFFFF"/>
                </a:solidFill>
                <a:latin typeface="Open Sans"/>
                <a:ea typeface="Open Sans"/>
                <a:cs typeface="Open Sans"/>
                <a:sym typeface="Open Sans"/>
              </a:rPr>
              <a:t>Sign Language (SL) is a vital form of communication for millions of individuals globally. Our project is driven by the imperative to leverage modern technology to enhance accessibility, foster inclusion, and provide innovative solutions for the Deaf and Hard of Hearing community. Specifically, we aim to address the need for reliable, accessible, and low-cost methods for real-time translation of the manual alphabet (fingerspelling) into text. By turning any standard computer camera into an effective tool, we seek to enable a natural, hands-free text input method that can significantly improve interaction and communication for users in various settings. This effort aligns with the broader mission of using Computer Vision (CV) to create truly helpful assistive technologies.</a:t>
            </a:r>
          </a:p>
        </p:txBody>
      </p:sp>
      <p:sp>
        <p:nvSpPr>
          <p:cNvPr name="Freeform 10" id="10"/>
          <p:cNvSpPr/>
          <p:nvPr/>
        </p:nvSpPr>
        <p:spPr>
          <a:xfrm flipH="false" flipV="false" rot="0">
            <a:off x="13018811" y="1658957"/>
            <a:ext cx="471358" cy="487306"/>
          </a:xfrm>
          <a:custGeom>
            <a:avLst/>
            <a:gdLst/>
            <a:ahLst/>
            <a:cxnLst/>
            <a:rect r="r" b="b" t="t" l="l"/>
            <a:pathLst>
              <a:path h="487306" w="471358">
                <a:moveTo>
                  <a:pt x="0" y="0"/>
                </a:moveTo>
                <a:lnTo>
                  <a:pt x="471358" y="0"/>
                </a:lnTo>
                <a:lnTo>
                  <a:pt x="471358" y="487307"/>
                </a:lnTo>
                <a:lnTo>
                  <a:pt x="0" y="48730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1" id="11"/>
          <p:cNvSpPr txBox="true"/>
          <p:nvPr/>
        </p:nvSpPr>
        <p:spPr>
          <a:xfrm rot="0">
            <a:off x="181724" y="99080"/>
            <a:ext cx="1229970" cy="537846"/>
          </a:xfrm>
          <a:prstGeom prst="rect">
            <a:avLst/>
          </a:prstGeom>
        </p:spPr>
        <p:txBody>
          <a:bodyPr anchor="t" rtlCol="false" tIns="0" lIns="0" bIns="0" rIns="0">
            <a:spAutoFit/>
          </a:bodyPr>
          <a:lstStyle/>
          <a:p>
            <a:pPr algn="l">
              <a:lnSpc>
                <a:spcPts val="4479"/>
              </a:lnSpc>
              <a:spcBef>
                <a:spcPct val="0"/>
              </a:spcBef>
            </a:pPr>
            <a:r>
              <a:rPr lang="en-US" b="true" sz="3199">
                <a:solidFill>
                  <a:srgbClr val="FFFFFF"/>
                </a:solidFill>
                <a:latin typeface="Open Sans Medium"/>
                <a:ea typeface="Open Sans Medium"/>
                <a:cs typeface="Open Sans Medium"/>
                <a:sym typeface="Open Sans Medium"/>
              </a:rPr>
              <a:t>DEPI</a:t>
            </a:r>
          </a:p>
        </p:txBody>
      </p:sp>
      <p:sp>
        <p:nvSpPr>
          <p:cNvPr name="TextBox 12" id="12"/>
          <p:cNvSpPr txBox="true"/>
          <p:nvPr/>
        </p:nvSpPr>
        <p:spPr>
          <a:xfrm rot="0">
            <a:off x="181724" y="589467"/>
            <a:ext cx="7069341" cy="1227419"/>
          </a:xfrm>
          <a:prstGeom prst="rect">
            <a:avLst/>
          </a:prstGeom>
        </p:spPr>
        <p:txBody>
          <a:bodyPr anchor="t" rtlCol="false" tIns="0" lIns="0" bIns="0" rIns="0">
            <a:spAutoFit/>
          </a:bodyPr>
          <a:lstStyle/>
          <a:p>
            <a:pPr algn="ctr">
              <a:lnSpc>
                <a:spcPts val="10047"/>
              </a:lnSpc>
              <a:spcBef>
                <a:spcPct val="0"/>
              </a:spcBef>
            </a:pPr>
            <a:r>
              <a:rPr lang="en-US" b="true" sz="7176">
                <a:solidFill>
                  <a:srgbClr val="FFFFFF"/>
                </a:solidFill>
                <a:latin typeface="Pattanakarn Heavy"/>
                <a:ea typeface="Pattanakarn Heavy"/>
                <a:cs typeface="Pattanakarn Heavy"/>
                <a:sym typeface="Pattanakarn Heavy"/>
              </a:rPr>
              <a:t>MOTIVATION</a:t>
            </a:r>
          </a:p>
        </p:txBody>
      </p:sp>
      <p:sp>
        <p:nvSpPr>
          <p:cNvPr name="TextBox 13" id="13"/>
          <p:cNvSpPr txBox="true"/>
          <p:nvPr/>
        </p:nvSpPr>
        <p:spPr>
          <a:xfrm rot="0">
            <a:off x="796709" y="6647697"/>
            <a:ext cx="15777436" cy="3489325"/>
          </a:xfrm>
          <a:prstGeom prst="rect">
            <a:avLst/>
          </a:prstGeom>
        </p:spPr>
        <p:txBody>
          <a:bodyPr anchor="t" rtlCol="false" tIns="0" lIns="0" bIns="0" rIns="0">
            <a:spAutoFit/>
          </a:bodyPr>
          <a:lstStyle/>
          <a:p>
            <a:pPr algn="just">
              <a:lnSpc>
                <a:spcPts val="3499"/>
              </a:lnSpc>
              <a:spcBef>
                <a:spcPct val="0"/>
              </a:spcBef>
            </a:pPr>
            <a:r>
              <a:rPr lang="en-US" sz="2499">
                <a:solidFill>
                  <a:srgbClr val="FFFFFF"/>
                </a:solidFill>
                <a:latin typeface="Open Sans"/>
                <a:ea typeface="Open Sans"/>
                <a:cs typeface="Open Sans"/>
                <a:sym typeface="Open Sans"/>
              </a:rPr>
              <a:t>Our initial technical investigation involved training Convolutional Neural Networks (CNNs) on large, publicly available datasets, such as the widely known Sign Language dataset (SNL). This approach successfully yielded high accuracy on static test images. However, a critical failure occurred when the model was deployed into the target environment: the live webcam feed. The system exhibited random, unusable predictions in real-time. We identified the core technical problem as a severe lack of generalization. The high variance found in public datasets—stemming from diverse lighting, varied backgrounds, and significant differences in hand physiology (finger size, length, and shape)—did not match our local operating conditions</a:t>
            </a:r>
          </a:p>
        </p:txBody>
      </p:sp>
      <p:sp>
        <p:nvSpPr>
          <p:cNvPr name="TextBox 14" id="14"/>
          <p:cNvSpPr txBox="true"/>
          <p:nvPr/>
        </p:nvSpPr>
        <p:spPr>
          <a:xfrm rot="0">
            <a:off x="181724" y="5496478"/>
            <a:ext cx="17077576" cy="1019773"/>
          </a:xfrm>
          <a:prstGeom prst="rect">
            <a:avLst/>
          </a:prstGeom>
        </p:spPr>
        <p:txBody>
          <a:bodyPr anchor="t" rtlCol="false" tIns="0" lIns="0" bIns="0" rIns="0">
            <a:spAutoFit/>
          </a:bodyPr>
          <a:lstStyle/>
          <a:p>
            <a:pPr algn="ctr">
              <a:lnSpc>
                <a:spcPts val="8367"/>
              </a:lnSpc>
              <a:spcBef>
                <a:spcPct val="0"/>
              </a:spcBef>
            </a:pPr>
            <a:r>
              <a:rPr lang="en-US" b="true" sz="5976">
                <a:solidFill>
                  <a:srgbClr val="FFFFFF"/>
                </a:solidFill>
                <a:latin typeface="Pattanakarn Heavy"/>
                <a:ea typeface="Pattanakarn Heavy"/>
                <a:cs typeface="Pattanakarn Heavy"/>
                <a:sym typeface="Pattanakarn Heavy"/>
              </a:rPr>
              <a:t>THE GENERALIZATION CHALLENGE</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050A30"/>
        </a:solidFill>
      </p:bgPr>
    </p:bg>
    <p:spTree>
      <p:nvGrpSpPr>
        <p:cNvPr id="1" name=""/>
        <p:cNvGrpSpPr/>
        <p:nvPr/>
      </p:nvGrpSpPr>
      <p:grpSpPr>
        <a:xfrm>
          <a:off x="0" y="0"/>
          <a:ext cx="0" cy="0"/>
          <a:chOff x="0" y="0"/>
          <a:chExt cx="0" cy="0"/>
        </a:xfrm>
      </p:grpSpPr>
      <p:sp>
        <p:nvSpPr>
          <p:cNvPr name="Freeform 2" id="2"/>
          <p:cNvSpPr/>
          <p:nvPr/>
        </p:nvSpPr>
        <p:spPr>
          <a:xfrm flipH="false" flipV="false" rot="-10800000">
            <a:off x="3881099" y="-3883348"/>
            <a:ext cx="7394274" cy="7394274"/>
          </a:xfrm>
          <a:custGeom>
            <a:avLst/>
            <a:gdLst/>
            <a:ahLst/>
            <a:cxnLst/>
            <a:rect r="r" b="b" t="t" l="l"/>
            <a:pathLst>
              <a:path h="7394274" w="7394274">
                <a:moveTo>
                  <a:pt x="0" y="0"/>
                </a:moveTo>
                <a:lnTo>
                  <a:pt x="7394275" y="0"/>
                </a:lnTo>
                <a:lnTo>
                  <a:pt x="7394275" y="7394275"/>
                </a:lnTo>
                <a:lnTo>
                  <a:pt x="0" y="7394275"/>
                </a:lnTo>
                <a:lnTo>
                  <a:pt x="0" y="0"/>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true" rot="-10800000">
            <a:off x="-5312747" y="8863715"/>
            <a:ext cx="7394274" cy="7394274"/>
          </a:xfrm>
          <a:custGeom>
            <a:avLst/>
            <a:gdLst/>
            <a:ahLst/>
            <a:cxnLst/>
            <a:rect r="r" b="b" t="t" l="l"/>
            <a:pathLst>
              <a:path h="7394274" w="7394274">
                <a:moveTo>
                  <a:pt x="7394274" y="7394274"/>
                </a:moveTo>
                <a:lnTo>
                  <a:pt x="0" y="7394274"/>
                </a:lnTo>
                <a:lnTo>
                  <a:pt x="0" y="0"/>
                </a:lnTo>
                <a:lnTo>
                  <a:pt x="7394274" y="0"/>
                </a:lnTo>
                <a:lnTo>
                  <a:pt x="7394274" y="7394274"/>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p:spPr>
      </p:sp>
      <p:grpSp>
        <p:nvGrpSpPr>
          <p:cNvPr name="Group 4" id="4"/>
          <p:cNvGrpSpPr/>
          <p:nvPr/>
        </p:nvGrpSpPr>
        <p:grpSpPr>
          <a:xfrm rot="0">
            <a:off x="17259300" y="501367"/>
            <a:ext cx="357663" cy="271117"/>
            <a:chOff x="0" y="0"/>
            <a:chExt cx="476884" cy="361489"/>
          </a:xfrm>
        </p:grpSpPr>
        <p:sp>
          <p:nvSpPr>
            <p:cNvPr name="AutoShape 5" id="5"/>
            <p:cNvSpPr/>
            <p:nvPr/>
          </p:nvSpPr>
          <p:spPr>
            <a:xfrm>
              <a:off x="0" y="19050"/>
              <a:ext cx="476884" cy="0"/>
            </a:xfrm>
            <a:prstGeom prst="line">
              <a:avLst/>
            </a:prstGeom>
            <a:ln cap="flat" w="38100">
              <a:solidFill>
                <a:srgbClr val="FFFFFF"/>
              </a:solidFill>
              <a:prstDash val="solid"/>
              <a:headEnd type="none" len="sm" w="sm"/>
              <a:tailEnd type="none" len="sm" w="sm"/>
            </a:ln>
          </p:spPr>
        </p:sp>
        <p:sp>
          <p:nvSpPr>
            <p:cNvPr name="AutoShape 6" id="6"/>
            <p:cNvSpPr/>
            <p:nvPr/>
          </p:nvSpPr>
          <p:spPr>
            <a:xfrm>
              <a:off x="0" y="180744"/>
              <a:ext cx="476884" cy="0"/>
            </a:xfrm>
            <a:prstGeom prst="line">
              <a:avLst/>
            </a:prstGeom>
            <a:ln cap="flat" w="38100">
              <a:solidFill>
                <a:srgbClr val="FFFFFF"/>
              </a:solidFill>
              <a:prstDash val="solid"/>
              <a:headEnd type="none" len="sm" w="sm"/>
              <a:tailEnd type="none" len="sm" w="sm"/>
            </a:ln>
          </p:spPr>
        </p:sp>
        <p:sp>
          <p:nvSpPr>
            <p:cNvPr name="AutoShape 7" id="7"/>
            <p:cNvSpPr/>
            <p:nvPr/>
          </p:nvSpPr>
          <p:spPr>
            <a:xfrm>
              <a:off x="0" y="342439"/>
              <a:ext cx="476884" cy="0"/>
            </a:xfrm>
            <a:prstGeom prst="line">
              <a:avLst/>
            </a:prstGeom>
            <a:ln cap="flat" w="38100">
              <a:solidFill>
                <a:srgbClr val="FFFFFF"/>
              </a:solidFill>
              <a:prstDash val="solid"/>
              <a:headEnd type="none" len="sm" w="sm"/>
              <a:tailEnd type="none" len="sm" w="sm"/>
            </a:ln>
          </p:spPr>
        </p:sp>
      </p:grpSp>
      <p:sp>
        <p:nvSpPr>
          <p:cNvPr name="AutoShape 8" id="8"/>
          <p:cNvSpPr/>
          <p:nvPr/>
        </p:nvSpPr>
        <p:spPr>
          <a:xfrm>
            <a:off x="4748448" y="3908857"/>
            <a:ext cx="5982250" cy="0"/>
          </a:xfrm>
          <a:prstGeom prst="line">
            <a:avLst/>
          </a:prstGeom>
          <a:ln cap="flat" w="28575">
            <a:solidFill>
              <a:srgbClr val="FFFFFF"/>
            </a:solidFill>
            <a:prstDash val="solid"/>
            <a:headEnd type="none" len="sm" w="sm"/>
            <a:tailEnd type="none" len="sm" w="sm"/>
          </a:ln>
        </p:spPr>
      </p:sp>
      <p:grpSp>
        <p:nvGrpSpPr>
          <p:cNvPr name="Group 9" id="9"/>
          <p:cNvGrpSpPr/>
          <p:nvPr/>
        </p:nvGrpSpPr>
        <p:grpSpPr>
          <a:xfrm rot="0">
            <a:off x="414561" y="1902610"/>
            <a:ext cx="1228279" cy="1228279"/>
            <a:chOff x="0" y="0"/>
            <a:chExt cx="323497" cy="323497"/>
          </a:xfrm>
        </p:grpSpPr>
        <p:sp>
          <p:nvSpPr>
            <p:cNvPr name="Freeform 10" id="10"/>
            <p:cNvSpPr/>
            <p:nvPr/>
          </p:nvSpPr>
          <p:spPr>
            <a:xfrm flipH="false" flipV="false" rot="0">
              <a:off x="0" y="0"/>
              <a:ext cx="323497" cy="323497"/>
            </a:xfrm>
            <a:custGeom>
              <a:avLst/>
              <a:gdLst/>
              <a:ahLst/>
              <a:cxnLst/>
              <a:rect r="r" b="b" t="t" l="l"/>
              <a:pathLst>
                <a:path h="323497" w="323497">
                  <a:moveTo>
                    <a:pt x="161749" y="0"/>
                  </a:moveTo>
                  <a:lnTo>
                    <a:pt x="161749" y="0"/>
                  </a:lnTo>
                  <a:cubicBezTo>
                    <a:pt x="251080" y="0"/>
                    <a:pt x="323497" y="72417"/>
                    <a:pt x="323497" y="161749"/>
                  </a:cubicBezTo>
                  <a:lnTo>
                    <a:pt x="323497" y="161749"/>
                  </a:lnTo>
                  <a:cubicBezTo>
                    <a:pt x="323497" y="251080"/>
                    <a:pt x="251080" y="323497"/>
                    <a:pt x="161749" y="323497"/>
                  </a:cubicBezTo>
                  <a:lnTo>
                    <a:pt x="161749" y="323497"/>
                  </a:lnTo>
                  <a:cubicBezTo>
                    <a:pt x="72417" y="323497"/>
                    <a:pt x="0" y="251080"/>
                    <a:pt x="0" y="161749"/>
                  </a:cubicBezTo>
                  <a:lnTo>
                    <a:pt x="0" y="161749"/>
                  </a:lnTo>
                  <a:cubicBezTo>
                    <a:pt x="0" y="72417"/>
                    <a:pt x="72417" y="0"/>
                    <a:pt x="161749" y="0"/>
                  </a:cubicBezTo>
                  <a:close/>
                </a:path>
              </a:pathLst>
            </a:custGeom>
            <a:solidFill>
              <a:srgbClr val="E2A9F1"/>
            </a:solidFill>
          </p:spPr>
        </p:sp>
        <p:sp>
          <p:nvSpPr>
            <p:cNvPr name="TextBox 11" id="11"/>
            <p:cNvSpPr txBox="true"/>
            <p:nvPr/>
          </p:nvSpPr>
          <p:spPr>
            <a:xfrm>
              <a:off x="0" y="-57150"/>
              <a:ext cx="323497" cy="380647"/>
            </a:xfrm>
            <a:prstGeom prst="rect">
              <a:avLst/>
            </a:prstGeom>
          </p:spPr>
          <p:txBody>
            <a:bodyPr anchor="ctr" rtlCol="false" tIns="50800" lIns="50800" bIns="50800" rIns="50800"/>
            <a:lstStyle/>
            <a:p>
              <a:pPr algn="ctr">
                <a:lnSpc>
                  <a:spcPts val="3501"/>
                </a:lnSpc>
              </a:pPr>
            </a:p>
          </p:txBody>
        </p:sp>
      </p:grpSp>
      <p:sp>
        <p:nvSpPr>
          <p:cNvPr name="TextBox 12" id="12"/>
          <p:cNvSpPr txBox="true"/>
          <p:nvPr/>
        </p:nvSpPr>
        <p:spPr>
          <a:xfrm rot="0">
            <a:off x="2081527" y="2383904"/>
            <a:ext cx="15777436" cy="1234440"/>
          </a:xfrm>
          <a:prstGeom prst="rect">
            <a:avLst/>
          </a:prstGeom>
        </p:spPr>
        <p:txBody>
          <a:bodyPr anchor="t" rtlCol="false" tIns="0" lIns="0" bIns="0" rIns="0">
            <a:spAutoFit/>
          </a:bodyPr>
          <a:lstStyle/>
          <a:p>
            <a:pPr algn="just">
              <a:lnSpc>
                <a:spcPts val="3359"/>
              </a:lnSpc>
              <a:spcBef>
                <a:spcPct val="0"/>
              </a:spcBef>
            </a:pPr>
            <a:r>
              <a:rPr lang="en-US" sz="2399">
                <a:solidFill>
                  <a:srgbClr val="FFFFFF"/>
                </a:solidFill>
                <a:latin typeface="Open Sans"/>
                <a:ea typeface="Open Sans"/>
                <a:cs typeface="Open Sans"/>
                <a:sym typeface="Open Sans"/>
              </a:rPr>
              <a:t>Expand the Custom Dataset: Systematically collect data from a significantly larger and more diverse user base (different ages, genders, skin tones) and under varying real-world conditions (different lighting levels and backgrounds) to further boost the model's generalization capabilities.</a:t>
            </a:r>
          </a:p>
        </p:txBody>
      </p:sp>
      <p:sp>
        <p:nvSpPr>
          <p:cNvPr name="TextBox 13" id="13"/>
          <p:cNvSpPr txBox="true"/>
          <p:nvPr/>
        </p:nvSpPr>
        <p:spPr>
          <a:xfrm rot="0">
            <a:off x="2081527" y="1899646"/>
            <a:ext cx="8487835" cy="436086"/>
          </a:xfrm>
          <a:prstGeom prst="rect">
            <a:avLst/>
          </a:prstGeom>
        </p:spPr>
        <p:txBody>
          <a:bodyPr anchor="t" rtlCol="false" tIns="0" lIns="0" bIns="0" rIns="0">
            <a:spAutoFit/>
          </a:bodyPr>
          <a:lstStyle/>
          <a:p>
            <a:pPr algn="l">
              <a:lnSpc>
                <a:spcPts val="3501"/>
              </a:lnSpc>
              <a:spcBef>
                <a:spcPct val="0"/>
              </a:spcBef>
            </a:pPr>
            <a:r>
              <a:rPr lang="en-US" b="true" sz="2501">
                <a:solidFill>
                  <a:srgbClr val="FF2768"/>
                </a:solidFill>
                <a:latin typeface="Open Sans Medium"/>
                <a:ea typeface="Open Sans Medium"/>
                <a:cs typeface="Open Sans Medium"/>
                <a:sym typeface="Open Sans Medium"/>
              </a:rPr>
              <a:t>Dataset Expansion and Robustness</a:t>
            </a:r>
          </a:p>
        </p:txBody>
      </p:sp>
      <p:sp>
        <p:nvSpPr>
          <p:cNvPr name="TextBox 14" id="14"/>
          <p:cNvSpPr txBox="true"/>
          <p:nvPr/>
        </p:nvSpPr>
        <p:spPr>
          <a:xfrm rot="0">
            <a:off x="1757323" y="4642099"/>
            <a:ext cx="15535436" cy="1153795"/>
          </a:xfrm>
          <a:prstGeom prst="rect">
            <a:avLst/>
          </a:prstGeom>
        </p:spPr>
        <p:txBody>
          <a:bodyPr anchor="t" rtlCol="false" tIns="0" lIns="0" bIns="0" rIns="0">
            <a:spAutoFit/>
          </a:bodyPr>
          <a:lstStyle/>
          <a:p>
            <a:pPr algn="just">
              <a:lnSpc>
                <a:spcPts val="3079"/>
              </a:lnSpc>
              <a:spcBef>
                <a:spcPct val="0"/>
              </a:spcBef>
            </a:pPr>
            <a:r>
              <a:rPr lang="en-US" sz="2199">
                <a:solidFill>
                  <a:srgbClr val="FFFFFF"/>
                </a:solidFill>
                <a:latin typeface="Open Sans"/>
                <a:ea typeface="Open Sans"/>
                <a:cs typeface="Open Sans"/>
                <a:sym typeface="Open Sans"/>
              </a:rPr>
              <a:t>Transition from Fingerspelling to Full Signs: Develop the model to recognize not just individual letters (fingerspelling) but complete, common Sign Language vocabulary words. This would require integrating temporal analysis (tracking the movement and sequence of signs over time).</a:t>
            </a:r>
          </a:p>
        </p:txBody>
      </p:sp>
      <p:sp>
        <p:nvSpPr>
          <p:cNvPr name="TextBox 15" id="15"/>
          <p:cNvSpPr txBox="true"/>
          <p:nvPr/>
        </p:nvSpPr>
        <p:spPr>
          <a:xfrm rot="0">
            <a:off x="1757323" y="4056494"/>
            <a:ext cx="11587474" cy="436086"/>
          </a:xfrm>
          <a:prstGeom prst="rect">
            <a:avLst/>
          </a:prstGeom>
        </p:spPr>
        <p:txBody>
          <a:bodyPr anchor="t" rtlCol="false" tIns="0" lIns="0" bIns="0" rIns="0">
            <a:spAutoFit/>
          </a:bodyPr>
          <a:lstStyle/>
          <a:p>
            <a:pPr algn="l">
              <a:lnSpc>
                <a:spcPts val="3501"/>
              </a:lnSpc>
              <a:spcBef>
                <a:spcPct val="0"/>
              </a:spcBef>
            </a:pPr>
            <a:r>
              <a:rPr lang="en-US" b="true" sz="2501">
                <a:solidFill>
                  <a:srgbClr val="FF2768"/>
                </a:solidFill>
                <a:latin typeface="Open Sans Medium"/>
                <a:ea typeface="Open Sans Medium"/>
                <a:cs typeface="Open Sans Medium"/>
                <a:sym typeface="Open Sans Medium"/>
              </a:rPr>
              <a:t>Feature and Scope Enhancement</a:t>
            </a:r>
          </a:p>
        </p:txBody>
      </p:sp>
      <p:grpSp>
        <p:nvGrpSpPr>
          <p:cNvPr name="Group 16" id="16"/>
          <p:cNvGrpSpPr/>
          <p:nvPr/>
        </p:nvGrpSpPr>
        <p:grpSpPr>
          <a:xfrm rot="0">
            <a:off x="239437" y="4113644"/>
            <a:ext cx="1228279" cy="1228279"/>
            <a:chOff x="0" y="0"/>
            <a:chExt cx="323497" cy="323497"/>
          </a:xfrm>
        </p:grpSpPr>
        <p:sp>
          <p:nvSpPr>
            <p:cNvPr name="Freeform 17" id="17"/>
            <p:cNvSpPr/>
            <p:nvPr/>
          </p:nvSpPr>
          <p:spPr>
            <a:xfrm flipH="false" flipV="false" rot="0">
              <a:off x="0" y="0"/>
              <a:ext cx="323497" cy="323497"/>
            </a:xfrm>
            <a:custGeom>
              <a:avLst/>
              <a:gdLst/>
              <a:ahLst/>
              <a:cxnLst/>
              <a:rect r="r" b="b" t="t" l="l"/>
              <a:pathLst>
                <a:path h="323497" w="323497">
                  <a:moveTo>
                    <a:pt x="161749" y="0"/>
                  </a:moveTo>
                  <a:lnTo>
                    <a:pt x="161749" y="0"/>
                  </a:lnTo>
                  <a:cubicBezTo>
                    <a:pt x="251080" y="0"/>
                    <a:pt x="323497" y="72417"/>
                    <a:pt x="323497" y="161749"/>
                  </a:cubicBezTo>
                  <a:lnTo>
                    <a:pt x="323497" y="161749"/>
                  </a:lnTo>
                  <a:cubicBezTo>
                    <a:pt x="323497" y="251080"/>
                    <a:pt x="251080" y="323497"/>
                    <a:pt x="161749" y="323497"/>
                  </a:cubicBezTo>
                  <a:lnTo>
                    <a:pt x="161749" y="323497"/>
                  </a:lnTo>
                  <a:cubicBezTo>
                    <a:pt x="72417" y="323497"/>
                    <a:pt x="0" y="251080"/>
                    <a:pt x="0" y="161749"/>
                  </a:cubicBezTo>
                  <a:lnTo>
                    <a:pt x="0" y="161749"/>
                  </a:lnTo>
                  <a:cubicBezTo>
                    <a:pt x="0" y="72417"/>
                    <a:pt x="72417" y="0"/>
                    <a:pt x="161749" y="0"/>
                  </a:cubicBezTo>
                  <a:close/>
                </a:path>
              </a:pathLst>
            </a:custGeom>
            <a:solidFill>
              <a:srgbClr val="E2A9F1"/>
            </a:solidFill>
          </p:spPr>
        </p:sp>
        <p:sp>
          <p:nvSpPr>
            <p:cNvPr name="TextBox 18" id="18"/>
            <p:cNvSpPr txBox="true"/>
            <p:nvPr/>
          </p:nvSpPr>
          <p:spPr>
            <a:xfrm>
              <a:off x="0" y="-57150"/>
              <a:ext cx="323497" cy="380647"/>
            </a:xfrm>
            <a:prstGeom prst="rect">
              <a:avLst/>
            </a:prstGeom>
          </p:spPr>
          <p:txBody>
            <a:bodyPr anchor="ctr" rtlCol="false" tIns="50800" lIns="50800" bIns="50800" rIns="50800"/>
            <a:lstStyle/>
            <a:p>
              <a:pPr algn="ctr">
                <a:lnSpc>
                  <a:spcPts val="3501"/>
                </a:lnSpc>
              </a:pPr>
            </a:p>
          </p:txBody>
        </p:sp>
      </p:grpSp>
      <p:sp>
        <p:nvSpPr>
          <p:cNvPr name="TextBox 19" id="19"/>
          <p:cNvSpPr txBox="true"/>
          <p:nvPr/>
        </p:nvSpPr>
        <p:spPr>
          <a:xfrm rot="0">
            <a:off x="622458" y="2272292"/>
            <a:ext cx="812484" cy="431766"/>
          </a:xfrm>
          <a:prstGeom prst="rect">
            <a:avLst/>
          </a:prstGeom>
        </p:spPr>
        <p:txBody>
          <a:bodyPr anchor="t" rtlCol="false" tIns="0" lIns="0" bIns="0" rIns="0">
            <a:spAutoFit/>
          </a:bodyPr>
          <a:lstStyle/>
          <a:p>
            <a:pPr algn="ctr">
              <a:lnSpc>
                <a:spcPts val="3501"/>
              </a:lnSpc>
              <a:spcBef>
                <a:spcPct val="0"/>
              </a:spcBef>
            </a:pPr>
            <a:r>
              <a:rPr lang="en-US" b="true" sz="2501">
                <a:solidFill>
                  <a:srgbClr val="FFFFFF"/>
                </a:solidFill>
                <a:latin typeface="Open Sans Medium"/>
                <a:ea typeface="Open Sans Medium"/>
                <a:cs typeface="Open Sans Medium"/>
                <a:sym typeface="Open Sans Medium"/>
              </a:rPr>
              <a:t>01</a:t>
            </a:r>
          </a:p>
        </p:txBody>
      </p:sp>
      <p:sp>
        <p:nvSpPr>
          <p:cNvPr name="TextBox 20" id="20"/>
          <p:cNvSpPr txBox="true"/>
          <p:nvPr/>
        </p:nvSpPr>
        <p:spPr>
          <a:xfrm rot="0">
            <a:off x="447335" y="4483326"/>
            <a:ext cx="812484" cy="431766"/>
          </a:xfrm>
          <a:prstGeom prst="rect">
            <a:avLst/>
          </a:prstGeom>
        </p:spPr>
        <p:txBody>
          <a:bodyPr anchor="t" rtlCol="false" tIns="0" lIns="0" bIns="0" rIns="0">
            <a:spAutoFit/>
          </a:bodyPr>
          <a:lstStyle/>
          <a:p>
            <a:pPr algn="ctr">
              <a:lnSpc>
                <a:spcPts val="3501"/>
              </a:lnSpc>
              <a:spcBef>
                <a:spcPct val="0"/>
              </a:spcBef>
            </a:pPr>
            <a:r>
              <a:rPr lang="en-US" b="true" sz="2501">
                <a:solidFill>
                  <a:srgbClr val="FFFFFF"/>
                </a:solidFill>
                <a:latin typeface="Open Sans Medium"/>
                <a:ea typeface="Open Sans Medium"/>
                <a:cs typeface="Open Sans Medium"/>
                <a:sym typeface="Open Sans Medium"/>
              </a:rPr>
              <a:t>02</a:t>
            </a:r>
          </a:p>
        </p:txBody>
      </p:sp>
      <p:sp>
        <p:nvSpPr>
          <p:cNvPr name="Freeform 21" id="21"/>
          <p:cNvSpPr/>
          <p:nvPr/>
        </p:nvSpPr>
        <p:spPr>
          <a:xfrm flipH="false" flipV="false" rot="0">
            <a:off x="13018811" y="1658957"/>
            <a:ext cx="471358" cy="487306"/>
          </a:xfrm>
          <a:custGeom>
            <a:avLst/>
            <a:gdLst/>
            <a:ahLst/>
            <a:cxnLst/>
            <a:rect r="r" b="b" t="t" l="l"/>
            <a:pathLst>
              <a:path h="487306" w="471358">
                <a:moveTo>
                  <a:pt x="0" y="0"/>
                </a:moveTo>
                <a:lnTo>
                  <a:pt x="471358" y="0"/>
                </a:lnTo>
                <a:lnTo>
                  <a:pt x="471358" y="487307"/>
                </a:lnTo>
                <a:lnTo>
                  <a:pt x="0" y="48730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22" id="22"/>
          <p:cNvSpPr txBox="true"/>
          <p:nvPr/>
        </p:nvSpPr>
        <p:spPr>
          <a:xfrm rot="0">
            <a:off x="181724" y="99080"/>
            <a:ext cx="1229970" cy="537846"/>
          </a:xfrm>
          <a:prstGeom prst="rect">
            <a:avLst/>
          </a:prstGeom>
        </p:spPr>
        <p:txBody>
          <a:bodyPr anchor="t" rtlCol="false" tIns="0" lIns="0" bIns="0" rIns="0">
            <a:spAutoFit/>
          </a:bodyPr>
          <a:lstStyle/>
          <a:p>
            <a:pPr algn="l">
              <a:lnSpc>
                <a:spcPts val="4479"/>
              </a:lnSpc>
              <a:spcBef>
                <a:spcPct val="0"/>
              </a:spcBef>
            </a:pPr>
            <a:r>
              <a:rPr lang="en-US" b="true" sz="3199">
                <a:solidFill>
                  <a:srgbClr val="FFFFFF"/>
                </a:solidFill>
                <a:latin typeface="Open Sans Medium"/>
                <a:ea typeface="Open Sans Medium"/>
                <a:cs typeface="Open Sans Medium"/>
                <a:sym typeface="Open Sans Medium"/>
              </a:rPr>
              <a:t>DEPI</a:t>
            </a:r>
          </a:p>
        </p:txBody>
      </p:sp>
      <p:sp>
        <p:nvSpPr>
          <p:cNvPr name="TextBox 23" id="23"/>
          <p:cNvSpPr txBox="true"/>
          <p:nvPr/>
        </p:nvSpPr>
        <p:spPr>
          <a:xfrm rot="0">
            <a:off x="0" y="513101"/>
            <a:ext cx="17438132" cy="1102323"/>
          </a:xfrm>
          <a:prstGeom prst="rect">
            <a:avLst/>
          </a:prstGeom>
        </p:spPr>
        <p:txBody>
          <a:bodyPr anchor="t" rtlCol="false" tIns="0" lIns="0" bIns="0" rIns="0">
            <a:spAutoFit/>
          </a:bodyPr>
          <a:lstStyle/>
          <a:p>
            <a:pPr algn="ctr">
              <a:lnSpc>
                <a:spcPts val="9067"/>
              </a:lnSpc>
              <a:spcBef>
                <a:spcPct val="0"/>
              </a:spcBef>
            </a:pPr>
            <a:r>
              <a:rPr lang="en-US" b="true" sz="6476">
                <a:solidFill>
                  <a:srgbClr val="FFFFFF"/>
                </a:solidFill>
                <a:latin typeface="Pattanakarn Heavy"/>
                <a:ea typeface="Pattanakarn Heavy"/>
                <a:cs typeface="Pattanakarn Heavy"/>
                <a:sym typeface="Pattanakarn Heavy"/>
              </a:rPr>
              <a:t>FUTURE TECHNICAL DEVELOPMENT</a:t>
            </a:r>
          </a:p>
        </p:txBody>
      </p:sp>
      <p:sp>
        <p:nvSpPr>
          <p:cNvPr name="AutoShape 24" id="24"/>
          <p:cNvSpPr/>
          <p:nvPr/>
        </p:nvSpPr>
        <p:spPr>
          <a:xfrm>
            <a:off x="3842622" y="6010207"/>
            <a:ext cx="5982250" cy="0"/>
          </a:xfrm>
          <a:prstGeom prst="line">
            <a:avLst/>
          </a:prstGeom>
          <a:ln cap="flat" w="28575">
            <a:solidFill>
              <a:srgbClr val="FFFFFF"/>
            </a:solidFill>
            <a:prstDash val="solid"/>
            <a:headEnd type="none" len="sm" w="sm"/>
            <a:tailEnd type="none" len="sm" w="sm"/>
          </a:ln>
        </p:spPr>
      </p:sp>
      <p:sp>
        <p:nvSpPr>
          <p:cNvPr name="TextBox 25" id="25"/>
          <p:cNvSpPr txBox="true"/>
          <p:nvPr/>
        </p:nvSpPr>
        <p:spPr>
          <a:xfrm rot="0">
            <a:off x="1699609" y="6752974"/>
            <a:ext cx="16013982" cy="1153795"/>
          </a:xfrm>
          <a:prstGeom prst="rect">
            <a:avLst/>
          </a:prstGeom>
        </p:spPr>
        <p:txBody>
          <a:bodyPr anchor="t" rtlCol="false" tIns="0" lIns="0" bIns="0" rIns="0">
            <a:spAutoFit/>
          </a:bodyPr>
          <a:lstStyle/>
          <a:p>
            <a:pPr algn="just">
              <a:lnSpc>
                <a:spcPts val="3079"/>
              </a:lnSpc>
              <a:spcBef>
                <a:spcPct val="0"/>
              </a:spcBef>
            </a:pPr>
            <a:r>
              <a:rPr lang="en-US" sz="2199">
                <a:solidFill>
                  <a:srgbClr val="FFFFFF"/>
                </a:solidFill>
                <a:latin typeface="Open Sans"/>
                <a:ea typeface="Open Sans"/>
                <a:cs typeface="Open Sans"/>
                <a:sym typeface="Open Sans"/>
              </a:rPr>
              <a:t>Edge Deployment and Optimization: Re-train and optimize the model architecture (e.g., quantize the model, use lightweight architectures like MobileNet/TinyML) to ensure efficient deployment on lower-power devices such as mobile phones or embedded systems, significantly reducing latency.</a:t>
            </a:r>
          </a:p>
        </p:txBody>
      </p:sp>
      <p:sp>
        <p:nvSpPr>
          <p:cNvPr name="TextBox 26" id="26"/>
          <p:cNvSpPr txBox="true"/>
          <p:nvPr/>
        </p:nvSpPr>
        <p:spPr>
          <a:xfrm rot="0">
            <a:off x="1699609" y="6167369"/>
            <a:ext cx="5982250" cy="436086"/>
          </a:xfrm>
          <a:prstGeom prst="rect">
            <a:avLst/>
          </a:prstGeom>
        </p:spPr>
        <p:txBody>
          <a:bodyPr anchor="t" rtlCol="false" tIns="0" lIns="0" bIns="0" rIns="0">
            <a:spAutoFit/>
          </a:bodyPr>
          <a:lstStyle/>
          <a:p>
            <a:pPr algn="l">
              <a:lnSpc>
                <a:spcPts val="3501"/>
              </a:lnSpc>
              <a:spcBef>
                <a:spcPct val="0"/>
              </a:spcBef>
            </a:pPr>
            <a:r>
              <a:rPr lang="en-US" b="true" sz="2501">
                <a:solidFill>
                  <a:srgbClr val="FF2768"/>
                </a:solidFill>
                <a:latin typeface="Open Sans Medium"/>
                <a:ea typeface="Open Sans Medium"/>
                <a:cs typeface="Open Sans Medium"/>
                <a:sym typeface="Open Sans Medium"/>
              </a:rPr>
              <a:t>Model Optimization and Speed</a:t>
            </a:r>
          </a:p>
        </p:txBody>
      </p:sp>
      <p:grpSp>
        <p:nvGrpSpPr>
          <p:cNvPr name="Group 27" id="27"/>
          <p:cNvGrpSpPr/>
          <p:nvPr/>
        </p:nvGrpSpPr>
        <p:grpSpPr>
          <a:xfrm rot="0">
            <a:off x="181724" y="6224519"/>
            <a:ext cx="1228279" cy="1228279"/>
            <a:chOff x="0" y="0"/>
            <a:chExt cx="323497" cy="323497"/>
          </a:xfrm>
        </p:grpSpPr>
        <p:sp>
          <p:nvSpPr>
            <p:cNvPr name="Freeform 28" id="28"/>
            <p:cNvSpPr/>
            <p:nvPr/>
          </p:nvSpPr>
          <p:spPr>
            <a:xfrm flipH="false" flipV="false" rot="0">
              <a:off x="0" y="0"/>
              <a:ext cx="323497" cy="323497"/>
            </a:xfrm>
            <a:custGeom>
              <a:avLst/>
              <a:gdLst/>
              <a:ahLst/>
              <a:cxnLst/>
              <a:rect r="r" b="b" t="t" l="l"/>
              <a:pathLst>
                <a:path h="323497" w="323497">
                  <a:moveTo>
                    <a:pt x="161749" y="0"/>
                  </a:moveTo>
                  <a:lnTo>
                    <a:pt x="161749" y="0"/>
                  </a:lnTo>
                  <a:cubicBezTo>
                    <a:pt x="251080" y="0"/>
                    <a:pt x="323497" y="72417"/>
                    <a:pt x="323497" y="161749"/>
                  </a:cubicBezTo>
                  <a:lnTo>
                    <a:pt x="323497" y="161749"/>
                  </a:lnTo>
                  <a:cubicBezTo>
                    <a:pt x="323497" y="251080"/>
                    <a:pt x="251080" y="323497"/>
                    <a:pt x="161749" y="323497"/>
                  </a:cubicBezTo>
                  <a:lnTo>
                    <a:pt x="161749" y="323497"/>
                  </a:lnTo>
                  <a:cubicBezTo>
                    <a:pt x="72417" y="323497"/>
                    <a:pt x="0" y="251080"/>
                    <a:pt x="0" y="161749"/>
                  </a:cubicBezTo>
                  <a:lnTo>
                    <a:pt x="0" y="161749"/>
                  </a:lnTo>
                  <a:cubicBezTo>
                    <a:pt x="0" y="72417"/>
                    <a:pt x="72417" y="0"/>
                    <a:pt x="161749" y="0"/>
                  </a:cubicBezTo>
                  <a:close/>
                </a:path>
              </a:pathLst>
            </a:custGeom>
            <a:solidFill>
              <a:srgbClr val="E2A9F1"/>
            </a:solidFill>
          </p:spPr>
        </p:sp>
        <p:sp>
          <p:nvSpPr>
            <p:cNvPr name="TextBox 29" id="29"/>
            <p:cNvSpPr txBox="true"/>
            <p:nvPr/>
          </p:nvSpPr>
          <p:spPr>
            <a:xfrm>
              <a:off x="0" y="-57150"/>
              <a:ext cx="323497" cy="380647"/>
            </a:xfrm>
            <a:prstGeom prst="rect">
              <a:avLst/>
            </a:prstGeom>
          </p:spPr>
          <p:txBody>
            <a:bodyPr anchor="ctr" rtlCol="false" tIns="50800" lIns="50800" bIns="50800" rIns="50800"/>
            <a:lstStyle/>
            <a:p>
              <a:pPr algn="ctr">
                <a:lnSpc>
                  <a:spcPts val="3501"/>
                </a:lnSpc>
              </a:pPr>
            </a:p>
          </p:txBody>
        </p:sp>
      </p:grpSp>
      <p:sp>
        <p:nvSpPr>
          <p:cNvPr name="TextBox 30" id="30"/>
          <p:cNvSpPr txBox="true"/>
          <p:nvPr/>
        </p:nvSpPr>
        <p:spPr>
          <a:xfrm rot="0">
            <a:off x="389621" y="6594201"/>
            <a:ext cx="812484" cy="431766"/>
          </a:xfrm>
          <a:prstGeom prst="rect">
            <a:avLst/>
          </a:prstGeom>
        </p:spPr>
        <p:txBody>
          <a:bodyPr anchor="t" rtlCol="false" tIns="0" lIns="0" bIns="0" rIns="0">
            <a:spAutoFit/>
          </a:bodyPr>
          <a:lstStyle/>
          <a:p>
            <a:pPr algn="ctr">
              <a:lnSpc>
                <a:spcPts val="3501"/>
              </a:lnSpc>
              <a:spcBef>
                <a:spcPct val="0"/>
              </a:spcBef>
            </a:pPr>
            <a:r>
              <a:rPr lang="en-US" b="true" sz="2501">
                <a:solidFill>
                  <a:srgbClr val="FFFFFF"/>
                </a:solidFill>
                <a:latin typeface="Open Sans Medium"/>
                <a:ea typeface="Open Sans Medium"/>
                <a:cs typeface="Open Sans Medium"/>
                <a:sym typeface="Open Sans Medium"/>
              </a:rPr>
              <a:t>03</a:t>
            </a:r>
          </a:p>
        </p:txBody>
      </p:sp>
      <p:sp>
        <p:nvSpPr>
          <p:cNvPr name="AutoShape 31" id="31"/>
          <p:cNvSpPr/>
          <p:nvPr/>
        </p:nvSpPr>
        <p:spPr>
          <a:xfrm>
            <a:off x="4748448" y="8102032"/>
            <a:ext cx="5982250" cy="0"/>
          </a:xfrm>
          <a:prstGeom prst="line">
            <a:avLst/>
          </a:prstGeom>
          <a:ln cap="flat" w="28575">
            <a:solidFill>
              <a:srgbClr val="FFFFFF"/>
            </a:solidFill>
            <a:prstDash val="solid"/>
            <a:headEnd type="none" len="sm" w="sm"/>
            <a:tailEnd type="none" len="sm" w="sm"/>
          </a:ln>
        </p:spPr>
      </p:sp>
      <p:sp>
        <p:nvSpPr>
          <p:cNvPr name="TextBox 32" id="32"/>
          <p:cNvSpPr txBox="true"/>
          <p:nvPr/>
        </p:nvSpPr>
        <p:spPr>
          <a:xfrm rot="0">
            <a:off x="1757323" y="8835275"/>
            <a:ext cx="15535436" cy="763270"/>
          </a:xfrm>
          <a:prstGeom prst="rect">
            <a:avLst/>
          </a:prstGeom>
        </p:spPr>
        <p:txBody>
          <a:bodyPr anchor="t" rtlCol="false" tIns="0" lIns="0" bIns="0" rIns="0">
            <a:spAutoFit/>
          </a:bodyPr>
          <a:lstStyle/>
          <a:p>
            <a:pPr algn="just">
              <a:lnSpc>
                <a:spcPts val="3079"/>
              </a:lnSpc>
              <a:spcBef>
                <a:spcPct val="0"/>
              </a:spcBef>
            </a:pPr>
            <a:r>
              <a:rPr lang="en-US" sz="2199">
                <a:solidFill>
                  <a:srgbClr val="FFFFFF"/>
                </a:solidFill>
                <a:latin typeface="Open Sans"/>
                <a:ea typeface="Open Sans"/>
                <a:cs typeface="Open Sans"/>
                <a:sym typeface="Open Sans"/>
              </a:rPr>
              <a:t>Integration with Text Services: Integrate the output with instant messaging applications or live transcription services to make the translation directly usable in daily communication contexts.</a:t>
            </a:r>
          </a:p>
        </p:txBody>
      </p:sp>
      <p:sp>
        <p:nvSpPr>
          <p:cNvPr name="TextBox 33" id="33"/>
          <p:cNvSpPr txBox="true"/>
          <p:nvPr/>
        </p:nvSpPr>
        <p:spPr>
          <a:xfrm rot="0">
            <a:off x="1757323" y="8249670"/>
            <a:ext cx="11587474" cy="436086"/>
          </a:xfrm>
          <a:prstGeom prst="rect">
            <a:avLst/>
          </a:prstGeom>
        </p:spPr>
        <p:txBody>
          <a:bodyPr anchor="t" rtlCol="false" tIns="0" lIns="0" bIns="0" rIns="0">
            <a:spAutoFit/>
          </a:bodyPr>
          <a:lstStyle/>
          <a:p>
            <a:pPr algn="l">
              <a:lnSpc>
                <a:spcPts val="3501"/>
              </a:lnSpc>
              <a:spcBef>
                <a:spcPct val="0"/>
              </a:spcBef>
            </a:pPr>
            <a:r>
              <a:rPr lang="en-US" b="true" sz="2501">
                <a:solidFill>
                  <a:srgbClr val="FF2768"/>
                </a:solidFill>
                <a:latin typeface="Open Sans Medium"/>
                <a:ea typeface="Open Sans Medium"/>
                <a:cs typeface="Open Sans Medium"/>
                <a:sym typeface="Open Sans Medium"/>
              </a:rPr>
              <a:t> User Interaction Improvements</a:t>
            </a:r>
          </a:p>
        </p:txBody>
      </p:sp>
      <p:grpSp>
        <p:nvGrpSpPr>
          <p:cNvPr name="Group 34" id="34"/>
          <p:cNvGrpSpPr/>
          <p:nvPr/>
        </p:nvGrpSpPr>
        <p:grpSpPr>
          <a:xfrm rot="0">
            <a:off x="239437" y="8306820"/>
            <a:ext cx="1228279" cy="1228279"/>
            <a:chOff x="0" y="0"/>
            <a:chExt cx="323497" cy="323497"/>
          </a:xfrm>
        </p:grpSpPr>
        <p:sp>
          <p:nvSpPr>
            <p:cNvPr name="Freeform 35" id="35"/>
            <p:cNvSpPr/>
            <p:nvPr/>
          </p:nvSpPr>
          <p:spPr>
            <a:xfrm flipH="false" flipV="false" rot="0">
              <a:off x="0" y="0"/>
              <a:ext cx="323497" cy="323497"/>
            </a:xfrm>
            <a:custGeom>
              <a:avLst/>
              <a:gdLst/>
              <a:ahLst/>
              <a:cxnLst/>
              <a:rect r="r" b="b" t="t" l="l"/>
              <a:pathLst>
                <a:path h="323497" w="323497">
                  <a:moveTo>
                    <a:pt x="161749" y="0"/>
                  </a:moveTo>
                  <a:lnTo>
                    <a:pt x="161749" y="0"/>
                  </a:lnTo>
                  <a:cubicBezTo>
                    <a:pt x="251080" y="0"/>
                    <a:pt x="323497" y="72417"/>
                    <a:pt x="323497" y="161749"/>
                  </a:cubicBezTo>
                  <a:lnTo>
                    <a:pt x="323497" y="161749"/>
                  </a:lnTo>
                  <a:cubicBezTo>
                    <a:pt x="323497" y="251080"/>
                    <a:pt x="251080" y="323497"/>
                    <a:pt x="161749" y="323497"/>
                  </a:cubicBezTo>
                  <a:lnTo>
                    <a:pt x="161749" y="323497"/>
                  </a:lnTo>
                  <a:cubicBezTo>
                    <a:pt x="72417" y="323497"/>
                    <a:pt x="0" y="251080"/>
                    <a:pt x="0" y="161749"/>
                  </a:cubicBezTo>
                  <a:lnTo>
                    <a:pt x="0" y="161749"/>
                  </a:lnTo>
                  <a:cubicBezTo>
                    <a:pt x="0" y="72417"/>
                    <a:pt x="72417" y="0"/>
                    <a:pt x="161749" y="0"/>
                  </a:cubicBezTo>
                  <a:close/>
                </a:path>
              </a:pathLst>
            </a:custGeom>
            <a:solidFill>
              <a:srgbClr val="E2A9F1"/>
            </a:solidFill>
          </p:spPr>
        </p:sp>
        <p:sp>
          <p:nvSpPr>
            <p:cNvPr name="TextBox 36" id="36"/>
            <p:cNvSpPr txBox="true"/>
            <p:nvPr/>
          </p:nvSpPr>
          <p:spPr>
            <a:xfrm>
              <a:off x="0" y="-57150"/>
              <a:ext cx="323497" cy="380647"/>
            </a:xfrm>
            <a:prstGeom prst="rect">
              <a:avLst/>
            </a:prstGeom>
          </p:spPr>
          <p:txBody>
            <a:bodyPr anchor="ctr" rtlCol="false" tIns="50800" lIns="50800" bIns="50800" rIns="50800"/>
            <a:lstStyle/>
            <a:p>
              <a:pPr algn="ctr">
                <a:lnSpc>
                  <a:spcPts val="3501"/>
                </a:lnSpc>
              </a:pPr>
            </a:p>
          </p:txBody>
        </p:sp>
      </p:grpSp>
      <p:sp>
        <p:nvSpPr>
          <p:cNvPr name="TextBox 37" id="37"/>
          <p:cNvSpPr txBox="true"/>
          <p:nvPr/>
        </p:nvSpPr>
        <p:spPr>
          <a:xfrm rot="0">
            <a:off x="447335" y="8676501"/>
            <a:ext cx="812484" cy="431766"/>
          </a:xfrm>
          <a:prstGeom prst="rect">
            <a:avLst/>
          </a:prstGeom>
        </p:spPr>
        <p:txBody>
          <a:bodyPr anchor="t" rtlCol="false" tIns="0" lIns="0" bIns="0" rIns="0">
            <a:spAutoFit/>
          </a:bodyPr>
          <a:lstStyle/>
          <a:p>
            <a:pPr algn="ctr">
              <a:lnSpc>
                <a:spcPts val="3501"/>
              </a:lnSpc>
              <a:spcBef>
                <a:spcPct val="0"/>
              </a:spcBef>
            </a:pPr>
            <a:r>
              <a:rPr lang="en-US" b="true" sz="2501">
                <a:solidFill>
                  <a:srgbClr val="FFFFFF"/>
                </a:solidFill>
                <a:latin typeface="Open Sans Medium"/>
                <a:ea typeface="Open Sans Medium"/>
                <a:cs typeface="Open Sans Medium"/>
                <a:sym typeface="Open Sans Medium"/>
              </a:rPr>
              <a:t>04</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050A30"/>
        </a:solidFill>
      </p:bgPr>
    </p:bg>
    <p:spTree>
      <p:nvGrpSpPr>
        <p:cNvPr id="1" name=""/>
        <p:cNvGrpSpPr/>
        <p:nvPr/>
      </p:nvGrpSpPr>
      <p:grpSpPr>
        <a:xfrm>
          <a:off x="0" y="0"/>
          <a:ext cx="0" cy="0"/>
          <a:chOff x="0" y="0"/>
          <a:chExt cx="0" cy="0"/>
        </a:xfrm>
      </p:grpSpPr>
      <p:sp>
        <p:nvSpPr>
          <p:cNvPr name="Freeform 2" id="2"/>
          <p:cNvSpPr/>
          <p:nvPr/>
        </p:nvSpPr>
        <p:spPr>
          <a:xfrm flipH="false" flipV="false" rot="-10800000">
            <a:off x="3881099" y="-3883348"/>
            <a:ext cx="7394274" cy="7394274"/>
          </a:xfrm>
          <a:custGeom>
            <a:avLst/>
            <a:gdLst/>
            <a:ahLst/>
            <a:cxnLst/>
            <a:rect r="r" b="b" t="t" l="l"/>
            <a:pathLst>
              <a:path h="7394274" w="7394274">
                <a:moveTo>
                  <a:pt x="0" y="0"/>
                </a:moveTo>
                <a:lnTo>
                  <a:pt x="7394275" y="0"/>
                </a:lnTo>
                <a:lnTo>
                  <a:pt x="7394275" y="7394275"/>
                </a:lnTo>
                <a:lnTo>
                  <a:pt x="0" y="7394275"/>
                </a:lnTo>
                <a:lnTo>
                  <a:pt x="0" y="0"/>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true" rot="-10800000">
            <a:off x="-5312747" y="8863715"/>
            <a:ext cx="7394274" cy="7394274"/>
          </a:xfrm>
          <a:custGeom>
            <a:avLst/>
            <a:gdLst/>
            <a:ahLst/>
            <a:cxnLst/>
            <a:rect r="r" b="b" t="t" l="l"/>
            <a:pathLst>
              <a:path h="7394274" w="7394274">
                <a:moveTo>
                  <a:pt x="7394274" y="7394274"/>
                </a:moveTo>
                <a:lnTo>
                  <a:pt x="0" y="7394274"/>
                </a:lnTo>
                <a:lnTo>
                  <a:pt x="0" y="0"/>
                </a:lnTo>
                <a:lnTo>
                  <a:pt x="7394274" y="0"/>
                </a:lnTo>
                <a:lnTo>
                  <a:pt x="7394274" y="7394274"/>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p:spPr>
      </p:sp>
      <p:grpSp>
        <p:nvGrpSpPr>
          <p:cNvPr name="Group 4" id="4"/>
          <p:cNvGrpSpPr/>
          <p:nvPr/>
        </p:nvGrpSpPr>
        <p:grpSpPr>
          <a:xfrm rot="0">
            <a:off x="17259300" y="501367"/>
            <a:ext cx="357663" cy="271117"/>
            <a:chOff x="0" y="0"/>
            <a:chExt cx="476884" cy="361489"/>
          </a:xfrm>
        </p:grpSpPr>
        <p:sp>
          <p:nvSpPr>
            <p:cNvPr name="AutoShape 5" id="5"/>
            <p:cNvSpPr/>
            <p:nvPr/>
          </p:nvSpPr>
          <p:spPr>
            <a:xfrm>
              <a:off x="0" y="19050"/>
              <a:ext cx="476884" cy="0"/>
            </a:xfrm>
            <a:prstGeom prst="line">
              <a:avLst/>
            </a:prstGeom>
            <a:ln cap="flat" w="38100">
              <a:solidFill>
                <a:srgbClr val="FFFFFF"/>
              </a:solidFill>
              <a:prstDash val="solid"/>
              <a:headEnd type="none" len="sm" w="sm"/>
              <a:tailEnd type="none" len="sm" w="sm"/>
            </a:ln>
          </p:spPr>
        </p:sp>
        <p:sp>
          <p:nvSpPr>
            <p:cNvPr name="AutoShape 6" id="6"/>
            <p:cNvSpPr/>
            <p:nvPr/>
          </p:nvSpPr>
          <p:spPr>
            <a:xfrm>
              <a:off x="0" y="180744"/>
              <a:ext cx="476884" cy="0"/>
            </a:xfrm>
            <a:prstGeom prst="line">
              <a:avLst/>
            </a:prstGeom>
            <a:ln cap="flat" w="38100">
              <a:solidFill>
                <a:srgbClr val="FFFFFF"/>
              </a:solidFill>
              <a:prstDash val="solid"/>
              <a:headEnd type="none" len="sm" w="sm"/>
              <a:tailEnd type="none" len="sm" w="sm"/>
            </a:ln>
          </p:spPr>
        </p:sp>
        <p:sp>
          <p:nvSpPr>
            <p:cNvPr name="AutoShape 7" id="7"/>
            <p:cNvSpPr/>
            <p:nvPr/>
          </p:nvSpPr>
          <p:spPr>
            <a:xfrm>
              <a:off x="0" y="342439"/>
              <a:ext cx="476884" cy="0"/>
            </a:xfrm>
            <a:prstGeom prst="line">
              <a:avLst/>
            </a:prstGeom>
            <a:ln cap="flat" w="38100">
              <a:solidFill>
                <a:srgbClr val="FFFFFF"/>
              </a:solidFill>
              <a:prstDash val="solid"/>
              <a:headEnd type="none" len="sm" w="sm"/>
              <a:tailEnd type="none" len="sm" w="sm"/>
            </a:ln>
          </p:spPr>
        </p:sp>
      </p:grpSp>
      <p:sp>
        <p:nvSpPr>
          <p:cNvPr name="AutoShape 8" id="8"/>
          <p:cNvSpPr/>
          <p:nvPr/>
        </p:nvSpPr>
        <p:spPr>
          <a:xfrm>
            <a:off x="4748448" y="3908857"/>
            <a:ext cx="5982250" cy="0"/>
          </a:xfrm>
          <a:prstGeom prst="line">
            <a:avLst/>
          </a:prstGeom>
          <a:ln cap="flat" w="28575">
            <a:solidFill>
              <a:srgbClr val="FFFFFF"/>
            </a:solidFill>
            <a:prstDash val="solid"/>
            <a:headEnd type="none" len="sm" w="sm"/>
            <a:tailEnd type="none" len="sm" w="sm"/>
          </a:ln>
        </p:spPr>
      </p:sp>
      <p:grpSp>
        <p:nvGrpSpPr>
          <p:cNvPr name="Group 9" id="9"/>
          <p:cNvGrpSpPr/>
          <p:nvPr/>
        </p:nvGrpSpPr>
        <p:grpSpPr>
          <a:xfrm rot="0">
            <a:off x="389621" y="1974561"/>
            <a:ext cx="1228279" cy="1228279"/>
            <a:chOff x="0" y="0"/>
            <a:chExt cx="323497" cy="323497"/>
          </a:xfrm>
        </p:grpSpPr>
        <p:sp>
          <p:nvSpPr>
            <p:cNvPr name="Freeform 10" id="10"/>
            <p:cNvSpPr/>
            <p:nvPr/>
          </p:nvSpPr>
          <p:spPr>
            <a:xfrm flipH="false" flipV="false" rot="0">
              <a:off x="0" y="0"/>
              <a:ext cx="323497" cy="323497"/>
            </a:xfrm>
            <a:custGeom>
              <a:avLst/>
              <a:gdLst/>
              <a:ahLst/>
              <a:cxnLst/>
              <a:rect r="r" b="b" t="t" l="l"/>
              <a:pathLst>
                <a:path h="323497" w="323497">
                  <a:moveTo>
                    <a:pt x="161749" y="0"/>
                  </a:moveTo>
                  <a:lnTo>
                    <a:pt x="161749" y="0"/>
                  </a:lnTo>
                  <a:cubicBezTo>
                    <a:pt x="251080" y="0"/>
                    <a:pt x="323497" y="72417"/>
                    <a:pt x="323497" y="161749"/>
                  </a:cubicBezTo>
                  <a:lnTo>
                    <a:pt x="323497" y="161749"/>
                  </a:lnTo>
                  <a:cubicBezTo>
                    <a:pt x="323497" y="251080"/>
                    <a:pt x="251080" y="323497"/>
                    <a:pt x="161749" y="323497"/>
                  </a:cubicBezTo>
                  <a:lnTo>
                    <a:pt x="161749" y="323497"/>
                  </a:lnTo>
                  <a:cubicBezTo>
                    <a:pt x="72417" y="323497"/>
                    <a:pt x="0" y="251080"/>
                    <a:pt x="0" y="161749"/>
                  </a:cubicBezTo>
                  <a:lnTo>
                    <a:pt x="0" y="161749"/>
                  </a:lnTo>
                  <a:cubicBezTo>
                    <a:pt x="0" y="72417"/>
                    <a:pt x="72417" y="0"/>
                    <a:pt x="161749" y="0"/>
                  </a:cubicBezTo>
                  <a:close/>
                </a:path>
              </a:pathLst>
            </a:custGeom>
            <a:solidFill>
              <a:srgbClr val="E2A9F1"/>
            </a:solidFill>
          </p:spPr>
        </p:sp>
        <p:sp>
          <p:nvSpPr>
            <p:cNvPr name="TextBox 11" id="11"/>
            <p:cNvSpPr txBox="true"/>
            <p:nvPr/>
          </p:nvSpPr>
          <p:spPr>
            <a:xfrm>
              <a:off x="0" y="-57150"/>
              <a:ext cx="323497" cy="380647"/>
            </a:xfrm>
            <a:prstGeom prst="rect">
              <a:avLst/>
            </a:prstGeom>
          </p:spPr>
          <p:txBody>
            <a:bodyPr anchor="ctr" rtlCol="false" tIns="50800" lIns="50800" bIns="50800" rIns="50800"/>
            <a:lstStyle/>
            <a:p>
              <a:pPr algn="ctr">
                <a:lnSpc>
                  <a:spcPts val="3501"/>
                </a:lnSpc>
              </a:pPr>
            </a:p>
          </p:txBody>
        </p:sp>
      </p:grpSp>
      <p:sp>
        <p:nvSpPr>
          <p:cNvPr name="TextBox 12" id="12"/>
          <p:cNvSpPr txBox="true"/>
          <p:nvPr/>
        </p:nvSpPr>
        <p:spPr>
          <a:xfrm rot="0">
            <a:off x="2081527" y="2383904"/>
            <a:ext cx="15777436" cy="1234440"/>
          </a:xfrm>
          <a:prstGeom prst="rect">
            <a:avLst/>
          </a:prstGeom>
        </p:spPr>
        <p:txBody>
          <a:bodyPr anchor="t" rtlCol="false" tIns="0" lIns="0" bIns="0" rIns="0">
            <a:spAutoFit/>
          </a:bodyPr>
          <a:lstStyle/>
          <a:p>
            <a:pPr algn="just">
              <a:lnSpc>
                <a:spcPts val="3359"/>
              </a:lnSpc>
              <a:spcBef>
                <a:spcPct val="0"/>
              </a:spcBef>
            </a:pPr>
            <a:r>
              <a:rPr lang="en-US" sz="2399">
                <a:solidFill>
                  <a:srgbClr val="FFFFFF"/>
                </a:solidFill>
                <a:latin typeface="Open Sans"/>
                <a:ea typeface="Open Sans"/>
                <a:cs typeface="Open Sans"/>
                <a:sym typeface="Open Sans"/>
              </a:rPr>
              <a:t>Develop a Standalone Mobile Application (MVP): Package the system into an easy-to-use mobile application (iOS/Android) marketed as an "Instant Sign-to-Text Translator," making the technology highly portable and accessible.</a:t>
            </a:r>
          </a:p>
        </p:txBody>
      </p:sp>
      <p:sp>
        <p:nvSpPr>
          <p:cNvPr name="TextBox 13" id="13"/>
          <p:cNvSpPr txBox="true"/>
          <p:nvPr/>
        </p:nvSpPr>
        <p:spPr>
          <a:xfrm rot="0">
            <a:off x="2081527" y="1899646"/>
            <a:ext cx="8487835" cy="436086"/>
          </a:xfrm>
          <a:prstGeom prst="rect">
            <a:avLst/>
          </a:prstGeom>
        </p:spPr>
        <p:txBody>
          <a:bodyPr anchor="t" rtlCol="false" tIns="0" lIns="0" bIns="0" rIns="0">
            <a:spAutoFit/>
          </a:bodyPr>
          <a:lstStyle/>
          <a:p>
            <a:pPr algn="l">
              <a:lnSpc>
                <a:spcPts val="3501"/>
              </a:lnSpc>
              <a:spcBef>
                <a:spcPct val="0"/>
              </a:spcBef>
            </a:pPr>
            <a:r>
              <a:rPr lang="en-US" b="true" sz="2501">
                <a:solidFill>
                  <a:srgbClr val="FF2768"/>
                </a:solidFill>
                <a:latin typeface="Open Sans Medium"/>
                <a:ea typeface="Open Sans Medium"/>
                <a:cs typeface="Open Sans Medium"/>
                <a:sym typeface="Open Sans Medium"/>
              </a:rPr>
              <a:t>Productization Strategy</a:t>
            </a:r>
          </a:p>
        </p:txBody>
      </p:sp>
      <p:sp>
        <p:nvSpPr>
          <p:cNvPr name="TextBox 14" id="14"/>
          <p:cNvSpPr txBox="true"/>
          <p:nvPr/>
        </p:nvSpPr>
        <p:spPr>
          <a:xfrm rot="0">
            <a:off x="1757323" y="4642099"/>
            <a:ext cx="15535436" cy="763270"/>
          </a:xfrm>
          <a:prstGeom prst="rect">
            <a:avLst/>
          </a:prstGeom>
        </p:spPr>
        <p:txBody>
          <a:bodyPr anchor="t" rtlCol="false" tIns="0" lIns="0" bIns="0" rIns="0">
            <a:spAutoFit/>
          </a:bodyPr>
          <a:lstStyle/>
          <a:p>
            <a:pPr algn="just">
              <a:lnSpc>
                <a:spcPts val="3079"/>
              </a:lnSpc>
              <a:spcBef>
                <a:spcPct val="0"/>
              </a:spcBef>
            </a:pPr>
            <a:r>
              <a:rPr lang="en-US" sz="2199">
                <a:solidFill>
                  <a:srgbClr val="FFFFFF"/>
                </a:solidFill>
                <a:latin typeface="Open Sans"/>
                <a:ea typeface="Open Sans"/>
                <a:cs typeface="Open Sans"/>
                <a:sym typeface="Open Sans"/>
              </a:rPr>
              <a:t>Partnering with Educational Institutions: Market the tool to schools and universities as an assistive learning device for students with hearing difficulties or for teaching Sign Language.</a:t>
            </a:r>
          </a:p>
        </p:txBody>
      </p:sp>
      <p:sp>
        <p:nvSpPr>
          <p:cNvPr name="TextBox 15" id="15"/>
          <p:cNvSpPr txBox="true"/>
          <p:nvPr/>
        </p:nvSpPr>
        <p:spPr>
          <a:xfrm rot="0">
            <a:off x="1757323" y="4056494"/>
            <a:ext cx="11587474" cy="436086"/>
          </a:xfrm>
          <a:prstGeom prst="rect">
            <a:avLst/>
          </a:prstGeom>
        </p:spPr>
        <p:txBody>
          <a:bodyPr anchor="t" rtlCol="false" tIns="0" lIns="0" bIns="0" rIns="0">
            <a:spAutoFit/>
          </a:bodyPr>
          <a:lstStyle/>
          <a:p>
            <a:pPr algn="l">
              <a:lnSpc>
                <a:spcPts val="3501"/>
              </a:lnSpc>
              <a:spcBef>
                <a:spcPct val="0"/>
              </a:spcBef>
            </a:pPr>
            <a:r>
              <a:rPr lang="en-US" b="true" sz="2501">
                <a:solidFill>
                  <a:srgbClr val="FF2768"/>
                </a:solidFill>
                <a:latin typeface="Open Sans Medium"/>
                <a:ea typeface="Open Sans Medium"/>
                <a:cs typeface="Open Sans Medium"/>
                <a:sym typeface="Open Sans Medium"/>
              </a:rPr>
              <a:t>Target Market Penetration</a:t>
            </a:r>
          </a:p>
        </p:txBody>
      </p:sp>
      <p:grpSp>
        <p:nvGrpSpPr>
          <p:cNvPr name="Group 16" id="16"/>
          <p:cNvGrpSpPr/>
          <p:nvPr/>
        </p:nvGrpSpPr>
        <p:grpSpPr>
          <a:xfrm rot="0">
            <a:off x="239437" y="4113644"/>
            <a:ext cx="1228279" cy="1228279"/>
            <a:chOff x="0" y="0"/>
            <a:chExt cx="323497" cy="323497"/>
          </a:xfrm>
        </p:grpSpPr>
        <p:sp>
          <p:nvSpPr>
            <p:cNvPr name="Freeform 17" id="17"/>
            <p:cNvSpPr/>
            <p:nvPr/>
          </p:nvSpPr>
          <p:spPr>
            <a:xfrm flipH="false" flipV="false" rot="0">
              <a:off x="0" y="0"/>
              <a:ext cx="323497" cy="323497"/>
            </a:xfrm>
            <a:custGeom>
              <a:avLst/>
              <a:gdLst/>
              <a:ahLst/>
              <a:cxnLst/>
              <a:rect r="r" b="b" t="t" l="l"/>
              <a:pathLst>
                <a:path h="323497" w="323497">
                  <a:moveTo>
                    <a:pt x="161749" y="0"/>
                  </a:moveTo>
                  <a:lnTo>
                    <a:pt x="161749" y="0"/>
                  </a:lnTo>
                  <a:cubicBezTo>
                    <a:pt x="251080" y="0"/>
                    <a:pt x="323497" y="72417"/>
                    <a:pt x="323497" y="161749"/>
                  </a:cubicBezTo>
                  <a:lnTo>
                    <a:pt x="323497" y="161749"/>
                  </a:lnTo>
                  <a:cubicBezTo>
                    <a:pt x="323497" y="251080"/>
                    <a:pt x="251080" y="323497"/>
                    <a:pt x="161749" y="323497"/>
                  </a:cubicBezTo>
                  <a:lnTo>
                    <a:pt x="161749" y="323497"/>
                  </a:lnTo>
                  <a:cubicBezTo>
                    <a:pt x="72417" y="323497"/>
                    <a:pt x="0" y="251080"/>
                    <a:pt x="0" y="161749"/>
                  </a:cubicBezTo>
                  <a:lnTo>
                    <a:pt x="0" y="161749"/>
                  </a:lnTo>
                  <a:cubicBezTo>
                    <a:pt x="0" y="72417"/>
                    <a:pt x="72417" y="0"/>
                    <a:pt x="161749" y="0"/>
                  </a:cubicBezTo>
                  <a:close/>
                </a:path>
              </a:pathLst>
            </a:custGeom>
            <a:solidFill>
              <a:srgbClr val="E2A9F1"/>
            </a:solidFill>
          </p:spPr>
        </p:sp>
        <p:sp>
          <p:nvSpPr>
            <p:cNvPr name="TextBox 18" id="18"/>
            <p:cNvSpPr txBox="true"/>
            <p:nvPr/>
          </p:nvSpPr>
          <p:spPr>
            <a:xfrm>
              <a:off x="0" y="-57150"/>
              <a:ext cx="323497" cy="380647"/>
            </a:xfrm>
            <a:prstGeom prst="rect">
              <a:avLst/>
            </a:prstGeom>
          </p:spPr>
          <p:txBody>
            <a:bodyPr anchor="ctr" rtlCol="false" tIns="50800" lIns="50800" bIns="50800" rIns="50800"/>
            <a:lstStyle/>
            <a:p>
              <a:pPr algn="ctr">
                <a:lnSpc>
                  <a:spcPts val="3501"/>
                </a:lnSpc>
              </a:pPr>
            </a:p>
          </p:txBody>
        </p:sp>
      </p:grpSp>
      <p:sp>
        <p:nvSpPr>
          <p:cNvPr name="TextBox 19" id="19"/>
          <p:cNvSpPr txBox="true"/>
          <p:nvPr/>
        </p:nvSpPr>
        <p:spPr>
          <a:xfrm rot="0">
            <a:off x="597519" y="2344243"/>
            <a:ext cx="812484" cy="431766"/>
          </a:xfrm>
          <a:prstGeom prst="rect">
            <a:avLst/>
          </a:prstGeom>
        </p:spPr>
        <p:txBody>
          <a:bodyPr anchor="t" rtlCol="false" tIns="0" lIns="0" bIns="0" rIns="0">
            <a:spAutoFit/>
          </a:bodyPr>
          <a:lstStyle/>
          <a:p>
            <a:pPr algn="ctr">
              <a:lnSpc>
                <a:spcPts val="3501"/>
              </a:lnSpc>
              <a:spcBef>
                <a:spcPct val="0"/>
              </a:spcBef>
            </a:pPr>
            <a:r>
              <a:rPr lang="en-US" b="true" sz="2501">
                <a:solidFill>
                  <a:srgbClr val="FFFFFF"/>
                </a:solidFill>
                <a:latin typeface="Open Sans Medium"/>
                <a:ea typeface="Open Sans Medium"/>
                <a:cs typeface="Open Sans Medium"/>
                <a:sym typeface="Open Sans Medium"/>
              </a:rPr>
              <a:t>01</a:t>
            </a:r>
          </a:p>
        </p:txBody>
      </p:sp>
      <p:sp>
        <p:nvSpPr>
          <p:cNvPr name="TextBox 20" id="20"/>
          <p:cNvSpPr txBox="true"/>
          <p:nvPr/>
        </p:nvSpPr>
        <p:spPr>
          <a:xfrm rot="0">
            <a:off x="447335" y="4483326"/>
            <a:ext cx="812484" cy="431766"/>
          </a:xfrm>
          <a:prstGeom prst="rect">
            <a:avLst/>
          </a:prstGeom>
        </p:spPr>
        <p:txBody>
          <a:bodyPr anchor="t" rtlCol="false" tIns="0" lIns="0" bIns="0" rIns="0">
            <a:spAutoFit/>
          </a:bodyPr>
          <a:lstStyle/>
          <a:p>
            <a:pPr algn="ctr">
              <a:lnSpc>
                <a:spcPts val="3501"/>
              </a:lnSpc>
              <a:spcBef>
                <a:spcPct val="0"/>
              </a:spcBef>
            </a:pPr>
            <a:r>
              <a:rPr lang="en-US" b="true" sz="2501">
                <a:solidFill>
                  <a:srgbClr val="FFFFFF"/>
                </a:solidFill>
                <a:latin typeface="Open Sans Medium"/>
                <a:ea typeface="Open Sans Medium"/>
                <a:cs typeface="Open Sans Medium"/>
                <a:sym typeface="Open Sans Medium"/>
              </a:rPr>
              <a:t>02</a:t>
            </a:r>
          </a:p>
        </p:txBody>
      </p:sp>
      <p:sp>
        <p:nvSpPr>
          <p:cNvPr name="Freeform 21" id="21"/>
          <p:cNvSpPr/>
          <p:nvPr/>
        </p:nvSpPr>
        <p:spPr>
          <a:xfrm flipH="false" flipV="false" rot="0">
            <a:off x="13018811" y="1658957"/>
            <a:ext cx="471358" cy="487306"/>
          </a:xfrm>
          <a:custGeom>
            <a:avLst/>
            <a:gdLst/>
            <a:ahLst/>
            <a:cxnLst/>
            <a:rect r="r" b="b" t="t" l="l"/>
            <a:pathLst>
              <a:path h="487306" w="471358">
                <a:moveTo>
                  <a:pt x="0" y="0"/>
                </a:moveTo>
                <a:lnTo>
                  <a:pt x="471358" y="0"/>
                </a:lnTo>
                <a:lnTo>
                  <a:pt x="471358" y="487307"/>
                </a:lnTo>
                <a:lnTo>
                  <a:pt x="0" y="48730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22" id="22"/>
          <p:cNvSpPr txBox="true"/>
          <p:nvPr/>
        </p:nvSpPr>
        <p:spPr>
          <a:xfrm rot="0">
            <a:off x="181724" y="99080"/>
            <a:ext cx="1229970" cy="537846"/>
          </a:xfrm>
          <a:prstGeom prst="rect">
            <a:avLst/>
          </a:prstGeom>
        </p:spPr>
        <p:txBody>
          <a:bodyPr anchor="t" rtlCol="false" tIns="0" lIns="0" bIns="0" rIns="0">
            <a:spAutoFit/>
          </a:bodyPr>
          <a:lstStyle/>
          <a:p>
            <a:pPr algn="l">
              <a:lnSpc>
                <a:spcPts val="4479"/>
              </a:lnSpc>
              <a:spcBef>
                <a:spcPct val="0"/>
              </a:spcBef>
            </a:pPr>
            <a:r>
              <a:rPr lang="en-US" b="true" sz="3199">
                <a:solidFill>
                  <a:srgbClr val="FFFFFF"/>
                </a:solidFill>
                <a:latin typeface="Open Sans Medium"/>
                <a:ea typeface="Open Sans Medium"/>
                <a:cs typeface="Open Sans Medium"/>
                <a:sym typeface="Open Sans Medium"/>
              </a:rPr>
              <a:t>DEPI</a:t>
            </a:r>
          </a:p>
        </p:txBody>
      </p:sp>
      <p:sp>
        <p:nvSpPr>
          <p:cNvPr name="TextBox 23" id="23"/>
          <p:cNvSpPr txBox="true"/>
          <p:nvPr/>
        </p:nvSpPr>
        <p:spPr>
          <a:xfrm rot="0">
            <a:off x="0" y="780790"/>
            <a:ext cx="17438132" cy="878167"/>
          </a:xfrm>
          <a:prstGeom prst="rect">
            <a:avLst/>
          </a:prstGeom>
        </p:spPr>
        <p:txBody>
          <a:bodyPr anchor="t" rtlCol="false" tIns="0" lIns="0" bIns="0" rIns="0">
            <a:spAutoFit/>
          </a:bodyPr>
          <a:lstStyle/>
          <a:p>
            <a:pPr algn="ctr">
              <a:lnSpc>
                <a:spcPts val="7247"/>
              </a:lnSpc>
              <a:spcBef>
                <a:spcPct val="0"/>
              </a:spcBef>
            </a:pPr>
            <a:r>
              <a:rPr lang="en-US" b="true" sz="5176">
                <a:solidFill>
                  <a:srgbClr val="FFFFFF"/>
                </a:solidFill>
                <a:latin typeface="Pattanakarn Heavy"/>
                <a:ea typeface="Pattanakarn Heavy"/>
                <a:cs typeface="Pattanakarn Heavy"/>
                <a:sym typeface="Pattanakarn Heavy"/>
              </a:rPr>
              <a:t>FUTURE MARKETING &amp; COMMERCIALIZATION</a:t>
            </a:r>
          </a:p>
        </p:txBody>
      </p:sp>
      <p:sp>
        <p:nvSpPr>
          <p:cNvPr name="AutoShape 24" id="24"/>
          <p:cNvSpPr/>
          <p:nvPr/>
        </p:nvSpPr>
        <p:spPr>
          <a:xfrm>
            <a:off x="3842622" y="6010207"/>
            <a:ext cx="5982250" cy="0"/>
          </a:xfrm>
          <a:prstGeom prst="line">
            <a:avLst/>
          </a:prstGeom>
          <a:ln cap="flat" w="28575">
            <a:solidFill>
              <a:srgbClr val="FFFFFF"/>
            </a:solidFill>
            <a:prstDash val="solid"/>
            <a:headEnd type="none" len="sm" w="sm"/>
            <a:tailEnd type="none" len="sm" w="sm"/>
          </a:ln>
        </p:spPr>
      </p:sp>
      <p:sp>
        <p:nvSpPr>
          <p:cNvPr name="TextBox 25" id="25"/>
          <p:cNvSpPr txBox="true"/>
          <p:nvPr/>
        </p:nvSpPr>
        <p:spPr>
          <a:xfrm rot="0">
            <a:off x="1699609" y="6752974"/>
            <a:ext cx="16013982" cy="763270"/>
          </a:xfrm>
          <a:prstGeom prst="rect">
            <a:avLst/>
          </a:prstGeom>
        </p:spPr>
        <p:txBody>
          <a:bodyPr anchor="t" rtlCol="false" tIns="0" lIns="0" bIns="0" rIns="0">
            <a:spAutoFit/>
          </a:bodyPr>
          <a:lstStyle/>
          <a:p>
            <a:pPr algn="just">
              <a:lnSpc>
                <a:spcPts val="3079"/>
              </a:lnSpc>
              <a:spcBef>
                <a:spcPct val="0"/>
              </a:spcBef>
            </a:pPr>
            <a:r>
              <a:rPr lang="en-US" sz="2199">
                <a:solidFill>
                  <a:srgbClr val="FFFFFF"/>
                </a:solidFill>
                <a:latin typeface="Open Sans"/>
                <a:ea typeface="Open Sans"/>
                <a:cs typeface="Open Sans"/>
                <a:sym typeface="Open Sans"/>
              </a:rPr>
              <a:t>Enterprise Integration: Approach corporations and public service providers (banks, hospitals) to integrate the system into their service desks or customer kiosks to ensure accessibility compliance and better serve the deaf community</a:t>
            </a:r>
          </a:p>
        </p:txBody>
      </p:sp>
      <p:sp>
        <p:nvSpPr>
          <p:cNvPr name="TextBox 26" id="26"/>
          <p:cNvSpPr txBox="true"/>
          <p:nvPr/>
        </p:nvSpPr>
        <p:spPr>
          <a:xfrm rot="0">
            <a:off x="1699609" y="6167369"/>
            <a:ext cx="5982250" cy="436086"/>
          </a:xfrm>
          <a:prstGeom prst="rect">
            <a:avLst/>
          </a:prstGeom>
        </p:spPr>
        <p:txBody>
          <a:bodyPr anchor="t" rtlCol="false" tIns="0" lIns="0" bIns="0" rIns="0">
            <a:spAutoFit/>
          </a:bodyPr>
          <a:lstStyle/>
          <a:p>
            <a:pPr algn="l">
              <a:lnSpc>
                <a:spcPts val="3501"/>
              </a:lnSpc>
              <a:spcBef>
                <a:spcPct val="0"/>
              </a:spcBef>
            </a:pPr>
            <a:r>
              <a:rPr lang="en-US" b="true" sz="2501">
                <a:solidFill>
                  <a:srgbClr val="FF2768"/>
                </a:solidFill>
                <a:latin typeface="Open Sans Medium"/>
                <a:ea typeface="Open Sans Medium"/>
                <a:cs typeface="Open Sans Medium"/>
                <a:sym typeface="Open Sans Medium"/>
              </a:rPr>
              <a:t>Corporate Social Responsibility (CSR)</a:t>
            </a:r>
          </a:p>
        </p:txBody>
      </p:sp>
      <p:grpSp>
        <p:nvGrpSpPr>
          <p:cNvPr name="Group 27" id="27"/>
          <p:cNvGrpSpPr/>
          <p:nvPr/>
        </p:nvGrpSpPr>
        <p:grpSpPr>
          <a:xfrm rot="0">
            <a:off x="181724" y="6224519"/>
            <a:ext cx="1228279" cy="1228279"/>
            <a:chOff x="0" y="0"/>
            <a:chExt cx="323497" cy="323497"/>
          </a:xfrm>
        </p:grpSpPr>
        <p:sp>
          <p:nvSpPr>
            <p:cNvPr name="Freeform 28" id="28"/>
            <p:cNvSpPr/>
            <p:nvPr/>
          </p:nvSpPr>
          <p:spPr>
            <a:xfrm flipH="false" flipV="false" rot="0">
              <a:off x="0" y="0"/>
              <a:ext cx="323497" cy="323497"/>
            </a:xfrm>
            <a:custGeom>
              <a:avLst/>
              <a:gdLst/>
              <a:ahLst/>
              <a:cxnLst/>
              <a:rect r="r" b="b" t="t" l="l"/>
              <a:pathLst>
                <a:path h="323497" w="323497">
                  <a:moveTo>
                    <a:pt x="161749" y="0"/>
                  </a:moveTo>
                  <a:lnTo>
                    <a:pt x="161749" y="0"/>
                  </a:lnTo>
                  <a:cubicBezTo>
                    <a:pt x="251080" y="0"/>
                    <a:pt x="323497" y="72417"/>
                    <a:pt x="323497" y="161749"/>
                  </a:cubicBezTo>
                  <a:lnTo>
                    <a:pt x="323497" y="161749"/>
                  </a:lnTo>
                  <a:cubicBezTo>
                    <a:pt x="323497" y="251080"/>
                    <a:pt x="251080" y="323497"/>
                    <a:pt x="161749" y="323497"/>
                  </a:cubicBezTo>
                  <a:lnTo>
                    <a:pt x="161749" y="323497"/>
                  </a:lnTo>
                  <a:cubicBezTo>
                    <a:pt x="72417" y="323497"/>
                    <a:pt x="0" y="251080"/>
                    <a:pt x="0" y="161749"/>
                  </a:cubicBezTo>
                  <a:lnTo>
                    <a:pt x="0" y="161749"/>
                  </a:lnTo>
                  <a:cubicBezTo>
                    <a:pt x="0" y="72417"/>
                    <a:pt x="72417" y="0"/>
                    <a:pt x="161749" y="0"/>
                  </a:cubicBezTo>
                  <a:close/>
                </a:path>
              </a:pathLst>
            </a:custGeom>
            <a:solidFill>
              <a:srgbClr val="E2A9F1"/>
            </a:solidFill>
          </p:spPr>
        </p:sp>
        <p:sp>
          <p:nvSpPr>
            <p:cNvPr name="TextBox 29" id="29"/>
            <p:cNvSpPr txBox="true"/>
            <p:nvPr/>
          </p:nvSpPr>
          <p:spPr>
            <a:xfrm>
              <a:off x="0" y="-57150"/>
              <a:ext cx="323497" cy="380647"/>
            </a:xfrm>
            <a:prstGeom prst="rect">
              <a:avLst/>
            </a:prstGeom>
          </p:spPr>
          <p:txBody>
            <a:bodyPr anchor="ctr" rtlCol="false" tIns="50800" lIns="50800" bIns="50800" rIns="50800"/>
            <a:lstStyle/>
            <a:p>
              <a:pPr algn="ctr">
                <a:lnSpc>
                  <a:spcPts val="3501"/>
                </a:lnSpc>
              </a:pPr>
            </a:p>
          </p:txBody>
        </p:sp>
      </p:grpSp>
      <p:sp>
        <p:nvSpPr>
          <p:cNvPr name="TextBox 30" id="30"/>
          <p:cNvSpPr txBox="true"/>
          <p:nvPr/>
        </p:nvSpPr>
        <p:spPr>
          <a:xfrm rot="0">
            <a:off x="389621" y="6594201"/>
            <a:ext cx="812484" cy="431766"/>
          </a:xfrm>
          <a:prstGeom prst="rect">
            <a:avLst/>
          </a:prstGeom>
        </p:spPr>
        <p:txBody>
          <a:bodyPr anchor="t" rtlCol="false" tIns="0" lIns="0" bIns="0" rIns="0">
            <a:spAutoFit/>
          </a:bodyPr>
          <a:lstStyle/>
          <a:p>
            <a:pPr algn="ctr">
              <a:lnSpc>
                <a:spcPts val="3501"/>
              </a:lnSpc>
              <a:spcBef>
                <a:spcPct val="0"/>
              </a:spcBef>
            </a:pPr>
            <a:r>
              <a:rPr lang="en-US" b="true" sz="2501">
                <a:solidFill>
                  <a:srgbClr val="FFFFFF"/>
                </a:solidFill>
                <a:latin typeface="Open Sans Medium"/>
                <a:ea typeface="Open Sans Medium"/>
                <a:cs typeface="Open Sans Medium"/>
                <a:sym typeface="Open Sans Medium"/>
              </a:rPr>
              <a:t>03</a:t>
            </a:r>
          </a:p>
        </p:txBody>
      </p:sp>
      <p:sp>
        <p:nvSpPr>
          <p:cNvPr name="AutoShape 31" id="31"/>
          <p:cNvSpPr/>
          <p:nvPr/>
        </p:nvSpPr>
        <p:spPr>
          <a:xfrm>
            <a:off x="4748448" y="8102032"/>
            <a:ext cx="5982250" cy="0"/>
          </a:xfrm>
          <a:prstGeom prst="line">
            <a:avLst/>
          </a:prstGeom>
          <a:ln cap="flat" w="28575">
            <a:solidFill>
              <a:srgbClr val="FFFFFF"/>
            </a:solidFill>
            <a:prstDash val="solid"/>
            <a:headEnd type="none" len="sm" w="sm"/>
            <a:tailEnd type="none" len="sm" w="sm"/>
          </a:ln>
        </p:spPr>
      </p:sp>
      <p:sp>
        <p:nvSpPr>
          <p:cNvPr name="TextBox 32" id="32"/>
          <p:cNvSpPr txBox="true"/>
          <p:nvPr/>
        </p:nvSpPr>
        <p:spPr>
          <a:xfrm rot="0">
            <a:off x="1757323" y="8835275"/>
            <a:ext cx="15535436" cy="763270"/>
          </a:xfrm>
          <a:prstGeom prst="rect">
            <a:avLst/>
          </a:prstGeom>
        </p:spPr>
        <p:txBody>
          <a:bodyPr anchor="t" rtlCol="false" tIns="0" lIns="0" bIns="0" rIns="0">
            <a:spAutoFit/>
          </a:bodyPr>
          <a:lstStyle/>
          <a:p>
            <a:pPr algn="just">
              <a:lnSpc>
                <a:spcPts val="3079"/>
              </a:lnSpc>
              <a:spcBef>
                <a:spcPct val="0"/>
              </a:spcBef>
            </a:pPr>
            <a:r>
              <a:rPr lang="en-US" sz="2199">
                <a:solidFill>
                  <a:srgbClr val="FFFFFF"/>
                </a:solidFill>
                <a:latin typeface="Open Sans"/>
                <a:ea typeface="Open Sans"/>
                <a:cs typeface="Open Sans"/>
                <a:sym typeface="Open Sans"/>
              </a:rPr>
              <a:t>Freemium Model: Offer the basic alphabet recognition as a free service, with premium features (e.g., full-word sign recognition, personalized hand customization/training, ad-free experience) available through a subscription.</a:t>
            </a:r>
          </a:p>
        </p:txBody>
      </p:sp>
      <p:sp>
        <p:nvSpPr>
          <p:cNvPr name="TextBox 33" id="33"/>
          <p:cNvSpPr txBox="true"/>
          <p:nvPr/>
        </p:nvSpPr>
        <p:spPr>
          <a:xfrm rot="0">
            <a:off x="1757323" y="8249670"/>
            <a:ext cx="11587474" cy="436086"/>
          </a:xfrm>
          <a:prstGeom prst="rect">
            <a:avLst/>
          </a:prstGeom>
        </p:spPr>
        <p:txBody>
          <a:bodyPr anchor="t" rtlCol="false" tIns="0" lIns="0" bIns="0" rIns="0">
            <a:spAutoFit/>
          </a:bodyPr>
          <a:lstStyle/>
          <a:p>
            <a:pPr algn="l">
              <a:lnSpc>
                <a:spcPts val="3501"/>
              </a:lnSpc>
              <a:spcBef>
                <a:spcPct val="0"/>
              </a:spcBef>
            </a:pPr>
            <a:r>
              <a:rPr lang="en-US" b="true" sz="2501">
                <a:solidFill>
                  <a:srgbClr val="FF2768"/>
                </a:solidFill>
                <a:latin typeface="Open Sans Medium"/>
                <a:ea typeface="Open Sans Medium"/>
                <a:cs typeface="Open Sans Medium"/>
                <a:sym typeface="Open Sans Medium"/>
              </a:rPr>
              <a:t> Monetization Model</a:t>
            </a:r>
          </a:p>
        </p:txBody>
      </p:sp>
      <p:grpSp>
        <p:nvGrpSpPr>
          <p:cNvPr name="Group 34" id="34"/>
          <p:cNvGrpSpPr/>
          <p:nvPr/>
        </p:nvGrpSpPr>
        <p:grpSpPr>
          <a:xfrm rot="0">
            <a:off x="239437" y="8306820"/>
            <a:ext cx="1228279" cy="1228279"/>
            <a:chOff x="0" y="0"/>
            <a:chExt cx="323497" cy="323497"/>
          </a:xfrm>
        </p:grpSpPr>
        <p:sp>
          <p:nvSpPr>
            <p:cNvPr name="Freeform 35" id="35"/>
            <p:cNvSpPr/>
            <p:nvPr/>
          </p:nvSpPr>
          <p:spPr>
            <a:xfrm flipH="false" flipV="false" rot="0">
              <a:off x="0" y="0"/>
              <a:ext cx="323497" cy="323497"/>
            </a:xfrm>
            <a:custGeom>
              <a:avLst/>
              <a:gdLst/>
              <a:ahLst/>
              <a:cxnLst/>
              <a:rect r="r" b="b" t="t" l="l"/>
              <a:pathLst>
                <a:path h="323497" w="323497">
                  <a:moveTo>
                    <a:pt x="161749" y="0"/>
                  </a:moveTo>
                  <a:lnTo>
                    <a:pt x="161749" y="0"/>
                  </a:lnTo>
                  <a:cubicBezTo>
                    <a:pt x="251080" y="0"/>
                    <a:pt x="323497" y="72417"/>
                    <a:pt x="323497" y="161749"/>
                  </a:cubicBezTo>
                  <a:lnTo>
                    <a:pt x="323497" y="161749"/>
                  </a:lnTo>
                  <a:cubicBezTo>
                    <a:pt x="323497" y="251080"/>
                    <a:pt x="251080" y="323497"/>
                    <a:pt x="161749" y="323497"/>
                  </a:cubicBezTo>
                  <a:lnTo>
                    <a:pt x="161749" y="323497"/>
                  </a:lnTo>
                  <a:cubicBezTo>
                    <a:pt x="72417" y="323497"/>
                    <a:pt x="0" y="251080"/>
                    <a:pt x="0" y="161749"/>
                  </a:cubicBezTo>
                  <a:lnTo>
                    <a:pt x="0" y="161749"/>
                  </a:lnTo>
                  <a:cubicBezTo>
                    <a:pt x="0" y="72417"/>
                    <a:pt x="72417" y="0"/>
                    <a:pt x="161749" y="0"/>
                  </a:cubicBezTo>
                  <a:close/>
                </a:path>
              </a:pathLst>
            </a:custGeom>
            <a:solidFill>
              <a:srgbClr val="E2A9F1"/>
            </a:solidFill>
          </p:spPr>
        </p:sp>
        <p:sp>
          <p:nvSpPr>
            <p:cNvPr name="TextBox 36" id="36"/>
            <p:cNvSpPr txBox="true"/>
            <p:nvPr/>
          </p:nvSpPr>
          <p:spPr>
            <a:xfrm>
              <a:off x="0" y="-57150"/>
              <a:ext cx="323497" cy="380647"/>
            </a:xfrm>
            <a:prstGeom prst="rect">
              <a:avLst/>
            </a:prstGeom>
          </p:spPr>
          <p:txBody>
            <a:bodyPr anchor="ctr" rtlCol="false" tIns="50800" lIns="50800" bIns="50800" rIns="50800"/>
            <a:lstStyle/>
            <a:p>
              <a:pPr algn="ctr">
                <a:lnSpc>
                  <a:spcPts val="3501"/>
                </a:lnSpc>
              </a:pPr>
            </a:p>
          </p:txBody>
        </p:sp>
      </p:grpSp>
      <p:sp>
        <p:nvSpPr>
          <p:cNvPr name="TextBox 37" id="37"/>
          <p:cNvSpPr txBox="true"/>
          <p:nvPr/>
        </p:nvSpPr>
        <p:spPr>
          <a:xfrm rot="0">
            <a:off x="447335" y="8676501"/>
            <a:ext cx="812484" cy="431766"/>
          </a:xfrm>
          <a:prstGeom prst="rect">
            <a:avLst/>
          </a:prstGeom>
        </p:spPr>
        <p:txBody>
          <a:bodyPr anchor="t" rtlCol="false" tIns="0" lIns="0" bIns="0" rIns="0">
            <a:spAutoFit/>
          </a:bodyPr>
          <a:lstStyle/>
          <a:p>
            <a:pPr algn="ctr">
              <a:lnSpc>
                <a:spcPts val="3501"/>
              </a:lnSpc>
              <a:spcBef>
                <a:spcPct val="0"/>
              </a:spcBef>
            </a:pPr>
            <a:r>
              <a:rPr lang="en-US" b="true" sz="2501">
                <a:solidFill>
                  <a:srgbClr val="FFFFFF"/>
                </a:solidFill>
                <a:latin typeface="Open Sans Medium"/>
                <a:ea typeface="Open Sans Medium"/>
                <a:cs typeface="Open Sans Medium"/>
                <a:sym typeface="Open Sans Medium"/>
              </a:rPr>
              <a:t>04</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050A30"/>
        </a:solidFill>
      </p:bgPr>
    </p:bg>
    <p:spTree>
      <p:nvGrpSpPr>
        <p:cNvPr id="1" name=""/>
        <p:cNvGrpSpPr/>
        <p:nvPr/>
      </p:nvGrpSpPr>
      <p:grpSpPr>
        <a:xfrm>
          <a:off x="0" y="0"/>
          <a:ext cx="0" cy="0"/>
          <a:chOff x="0" y="0"/>
          <a:chExt cx="0" cy="0"/>
        </a:xfrm>
      </p:grpSpPr>
      <p:sp>
        <p:nvSpPr>
          <p:cNvPr name="Freeform 2" id="2"/>
          <p:cNvSpPr/>
          <p:nvPr/>
        </p:nvSpPr>
        <p:spPr>
          <a:xfrm flipH="false" flipV="false" rot="-10800000">
            <a:off x="3881099" y="-3883348"/>
            <a:ext cx="7394274" cy="7394274"/>
          </a:xfrm>
          <a:custGeom>
            <a:avLst/>
            <a:gdLst/>
            <a:ahLst/>
            <a:cxnLst/>
            <a:rect r="r" b="b" t="t" l="l"/>
            <a:pathLst>
              <a:path h="7394274" w="7394274">
                <a:moveTo>
                  <a:pt x="0" y="0"/>
                </a:moveTo>
                <a:lnTo>
                  <a:pt x="7394275" y="0"/>
                </a:lnTo>
                <a:lnTo>
                  <a:pt x="7394275" y="7394275"/>
                </a:lnTo>
                <a:lnTo>
                  <a:pt x="0" y="7394275"/>
                </a:lnTo>
                <a:lnTo>
                  <a:pt x="0" y="0"/>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true" rot="-10800000">
            <a:off x="-5312747" y="8863715"/>
            <a:ext cx="7394274" cy="7394274"/>
          </a:xfrm>
          <a:custGeom>
            <a:avLst/>
            <a:gdLst/>
            <a:ahLst/>
            <a:cxnLst/>
            <a:rect r="r" b="b" t="t" l="l"/>
            <a:pathLst>
              <a:path h="7394274" w="7394274">
                <a:moveTo>
                  <a:pt x="7394274" y="7394274"/>
                </a:moveTo>
                <a:lnTo>
                  <a:pt x="0" y="7394274"/>
                </a:lnTo>
                <a:lnTo>
                  <a:pt x="0" y="0"/>
                </a:lnTo>
                <a:lnTo>
                  <a:pt x="7394274" y="0"/>
                </a:lnTo>
                <a:lnTo>
                  <a:pt x="7394274" y="7394274"/>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p:spPr>
      </p:sp>
      <p:grpSp>
        <p:nvGrpSpPr>
          <p:cNvPr name="Group 4" id="4"/>
          <p:cNvGrpSpPr/>
          <p:nvPr/>
        </p:nvGrpSpPr>
        <p:grpSpPr>
          <a:xfrm rot="0">
            <a:off x="17259300" y="501367"/>
            <a:ext cx="357663" cy="271117"/>
            <a:chOff x="0" y="0"/>
            <a:chExt cx="476884" cy="361489"/>
          </a:xfrm>
        </p:grpSpPr>
        <p:sp>
          <p:nvSpPr>
            <p:cNvPr name="AutoShape 5" id="5"/>
            <p:cNvSpPr/>
            <p:nvPr/>
          </p:nvSpPr>
          <p:spPr>
            <a:xfrm>
              <a:off x="0" y="19050"/>
              <a:ext cx="476884" cy="0"/>
            </a:xfrm>
            <a:prstGeom prst="line">
              <a:avLst/>
            </a:prstGeom>
            <a:ln cap="flat" w="38100">
              <a:solidFill>
                <a:srgbClr val="FFFFFF"/>
              </a:solidFill>
              <a:prstDash val="solid"/>
              <a:headEnd type="none" len="sm" w="sm"/>
              <a:tailEnd type="none" len="sm" w="sm"/>
            </a:ln>
          </p:spPr>
        </p:sp>
        <p:sp>
          <p:nvSpPr>
            <p:cNvPr name="AutoShape 6" id="6"/>
            <p:cNvSpPr/>
            <p:nvPr/>
          </p:nvSpPr>
          <p:spPr>
            <a:xfrm>
              <a:off x="0" y="180744"/>
              <a:ext cx="476884" cy="0"/>
            </a:xfrm>
            <a:prstGeom prst="line">
              <a:avLst/>
            </a:prstGeom>
            <a:ln cap="flat" w="38100">
              <a:solidFill>
                <a:srgbClr val="FFFFFF"/>
              </a:solidFill>
              <a:prstDash val="solid"/>
              <a:headEnd type="none" len="sm" w="sm"/>
              <a:tailEnd type="none" len="sm" w="sm"/>
            </a:ln>
          </p:spPr>
        </p:sp>
        <p:sp>
          <p:nvSpPr>
            <p:cNvPr name="AutoShape 7" id="7"/>
            <p:cNvSpPr/>
            <p:nvPr/>
          </p:nvSpPr>
          <p:spPr>
            <a:xfrm>
              <a:off x="0" y="342439"/>
              <a:ext cx="476884" cy="0"/>
            </a:xfrm>
            <a:prstGeom prst="line">
              <a:avLst/>
            </a:prstGeom>
            <a:ln cap="flat" w="38100">
              <a:solidFill>
                <a:srgbClr val="FFFFFF"/>
              </a:solidFill>
              <a:prstDash val="solid"/>
              <a:headEnd type="none" len="sm" w="sm"/>
              <a:tailEnd type="none" len="sm" w="sm"/>
            </a:ln>
          </p:spPr>
        </p:sp>
      </p:grpSp>
      <p:sp>
        <p:nvSpPr>
          <p:cNvPr name="Freeform 8" id="8"/>
          <p:cNvSpPr/>
          <p:nvPr/>
        </p:nvSpPr>
        <p:spPr>
          <a:xfrm flipH="false" flipV="false" rot="0">
            <a:off x="13018811" y="1658957"/>
            <a:ext cx="471358" cy="487306"/>
          </a:xfrm>
          <a:custGeom>
            <a:avLst/>
            <a:gdLst/>
            <a:ahLst/>
            <a:cxnLst/>
            <a:rect r="r" b="b" t="t" l="l"/>
            <a:pathLst>
              <a:path h="487306" w="471358">
                <a:moveTo>
                  <a:pt x="0" y="0"/>
                </a:moveTo>
                <a:lnTo>
                  <a:pt x="471358" y="0"/>
                </a:lnTo>
                <a:lnTo>
                  <a:pt x="471358" y="487307"/>
                </a:lnTo>
                <a:lnTo>
                  <a:pt x="0" y="48730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0">
            <a:off x="437706" y="2146264"/>
            <a:ext cx="7140531" cy="3936217"/>
          </a:xfrm>
          <a:custGeom>
            <a:avLst/>
            <a:gdLst/>
            <a:ahLst/>
            <a:cxnLst/>
            <a:rect r="r" b="b" t="t" l="l"/>
            <a:pathLst>
              <a:path h="3936217" w="7140531">
                <a:moveTo>
                  <a:pt x="0" y="0"/>
                </a:moveTo>
                <a:lnTo>
                  <a:pt x="7140531" y="0"/>
                </a:lnTo>
                <a:lnTo>
                  <a:pt x="7140531" y="3936217"/>
                </a:lnTo>
                <a:lnTo>
                  <a:pt x="0" y="3936217"/>
                </a:lnTo>
                <a:lnTo>
                  <a:pt x="0" y="0"/>
                </a:lnTo>
                <a:close/>
              </a:path>
            </a:pathLst>
          </a:custGeom>
          <a:blipFill>
            <a:blip r:embed="rId6"/>
            <a:stretch>
              <a:fillRect l="0" t="0" r="0" b="0"/>
            </a:stretch>
          </a:blipFill>
        </p:spPr>
      </p:sp>
      <p:sp>
        <p:nvSpPr>
          <p:cNvPr name="Freeform 10" id="10"/>
          <p:cNvSpPr/>
          <p:nvPr/>
        </p:nvSpPr>
        <p:spPr>
          <a:xfrm flipH="false" flipV="false" rot="0">
            <a:off x="4464788" y="6572341"/>
            <a:ext cx="12509072" cy="2486178"/>
          </a:xfrm>
          <a:custGeom>
            <a:avLst/>
            <a:gdLst/>
            <a:ahLst/>
            <a:cxnLst/>
            <a:rect r="r" b="b" t="t" l="l"/>
            <a:pathLst>
              <a:path h="2486178" w="12509072">
                <a:moveTo>
                  <a:pt x="0" y="0"/>
                </a:moveTo>
                <a:lnTo>
                  <a:pt x="12509072" y="0"/>
                </a:lnTo>
                <a:lnTo>
                  <a:pt x="12509072" y="2486178"/>
                </a:lnTo>
                <a:lnTo>
                  <a:pt x="0" y="2486178"/>
                </a:lnTo>
                <a:lnTo>
                  <a:pt x="0" y="0"/>
                </a:lnTo>
                <a:close/>
              </a:path>
            </a:pathLst>
          </a:custGeom>
          <a:blipFill>
            <a:blip r:embed="rId7"/>
            <a:stretch>
              <a:fillRect l="0" t="0" r="0" b="0"/>
            </a:stretch>
          </a:blipFill>
        </p:spPr>
      </p:sp>
      <p:sp>
        <p:nvSpPr>
          <p:cNvPr name="TextBox 11" id="11"/>
          <p:cNvSpPr txBox="true"/>
          <p:nvPr/>
        </p:nvSpPr>
        <p:spPr>
          <a:xfrm rot="0">
            <a:off x="413715" y="203870"/>
            <a:ext cx="1229970" cy="537846"/>
          </a:xfrm>
          <a:prstGeom prst="rect">
            <a:avLst/>
          </a:prstGeom>
        </p:spPr>
        <p:txBody>
          <a:bodyPr anchor="t" rtlCol="false" tIns="0" lIns="0" bIns="0" rIns="0">
            <a:spAutoFit/>
          </a:bodyPr>
          <a:lstStyle/>
          <a:p>
            <a:pPr algn="l">
              <a:lnSpc>
                <a:spcPts val="4479"/>
              </a:lnSpc>
              <a:spcBef>
                <a:spcPct val="0"/>
              </a:spcBef>
            </a:pPr>
            <a:r>
              <a:rPr lang="en-US" b="true" sz="3199">
                <a:solidFill>
                  <a:srgbClr val="FFFFFF"/>
                </a:solidFill>
                <a:latin typeface="Open Sans Medium"/>
                <a:ea typeface="Open Sans Medium"/>
                <a:cs typeface="Open Sans Medium"/>
                <a:sym typeface="Open Sans Medium"/>
              </a:rPr>
              <a:t>DEPI</a:t>
            </a:r>
          </a:p>
        </p:txBody>
      </p:sp>
      <p:sp>
        <p:nvSpPr>
          <p:cNvPr name="TextBox 12" id="12"/>
          <p:cNvSpPr txBox="true"/>
          <p:nvPr/>
        </p:nvSpPr>
        <p:spPr>
          <a:xfrm rot="0">
            <a:off x="413715" y="918845"/>
            <a:ext cx="4697874" cy="1227419"/>
          </a:xfrm>
          <a:prstGeom prst="rect">
            <a:avLst/>
          </a:prstGeom>
        </p:spPr>
        <p:txBody>
          <a:bodyPr anchor="t" rtlCol="false" tIns="0" lIns="0" bIns="0" rIns="0">
            <a:spAutoFit/>
          </a:bodyPr>
          <a:lstStyle/>
          <a:p>
            <a:pPr algn="ctr">
              <a:lnSpc>
                <a:spcPts val="10047"/>
              </a:lnSpc>
              <a:spcBef>
                <a:spcPct val="0"/>
              </a:spcBef>
            </a:pPr>
            <a:r>
              <a:rPr lang="en-US" b="true" sz="7176">
                <a:solidFill>
                  <a:srgbClr val="FFFFFF"/>
                </a:solidFill>
                <a:latin typeface="Pattanakarn Heavy"/>
                <a:ea typeface="Pattanakarn Heavy"/>
                <a:cs typeface="Pattanakarn Heavy"/>
                <a:sym typeface="Pattanakarn Heavy"/>
              </a:rPr>
              <a:t>OUTPUT</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050A30"/>
        </a:solidFill>
      </p:bgPr>
    </p:bg>
    <p:spTree>
      <p:nvGrpSpPr>
        <p:cNvPr id="1" name=""/>
        <p:cNvGrpSpPr/>
        <p:nvPr/>
      </p:nvGrpSpPr>
      <p:grpSpPr>
        <a:xfrm>
          <a:off x="0" y="0"/>
          <a:ext cx="0" cy="0"/>
          <a:chOff x="0" y="0"/>
          <a:chExt cx="0" cy="0"/>
        </a:xfrm>
      </p:grpSpPr>
      <p:sp>
        <p:nvSpPr>
          <p:cNvPr name="Freeform 2" id="2"/>
          <p:cNvSpPr/>
          <p:nvPr/>
        </p:nvSpPr>
        <p:spPr>
          <a:xfrm flipH="false" flipV="false" rot="-10800000">
            <a:off x="12561086" y="-4036332"/>
            <a:ext cx="7394274" cy="7394274"/>
          </a:xfrm>
          <a:custGeom>
            <a:avLst/>
            <a:gdLst/>
            <a:ahLst/>
            <a:cxnLst/>
            <a:rect r="r" b="b" t="t" l="l"/>
            <a:pathLst>
              <a:path h="7394274" w="7394274">
                <a:moveTo>
                  <a:pt x="0" y="0"/>
                </a:moveTo>
                <a:lnTo>
                  <a:pt x="7394274" y="0"/>
                </a:lnTo>
                <a:lnTo>
                  <a:pt x="7394274" y="7394274"/>
                </a:lnTo>
                <a:lnTo>
                  <a:pt x="0" y="7394274"/>
                </a:lnTo>
                <a:lnTo>
                  <a:pt x="0" y="0"/>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true" rot="-10800000">
            <a:off x="-4156279" y="7523558"/>
            <a:ext cx="7394274" cy="7394274"/>
          </a:xfrm>
          <a:custGeom>
            <a:avLst/>
            <a:gdLst/>
            <a:ahLst/>
            <a:cxnLst/>
            <a:rect r="r" b="b" t="t" l="l"/>
            <a:pathLst>
              <a:path h="7394274" w="7394274">
                <a:moveTo>
                  <a:pt x="7394274" y="7394274"/>
                </a:moveTo>
                <a:lnTo>
                  <a:pt x="0" y="7394274"/>
                </a:lnTo>
                <a:lnTo>
                  <a:pt x="0" y="0"/>
                </a:lnTo>
                <a:lnTo>
                  <a:pt x="7394274" y="0"/>
                </a:lnTo>
                <a:lnTo>
                  <a:pt x="7394274" y="7394274"/>
                </a:lnTo>
                <a:close/>
              </a:path>
            </a:pathLst>
          </a:custGeom>
          <a:blipFill>
            <a:blip r:embed="rId2">
              <a:alphaModFix amt="30000"/>
              <a:extLst>
                <a:ext uri="{96DAC541-7B7A-43D3-8B79-37D633B846F1}">
                  <asvg:svgBlip xmlns:asvg="http://schemas.microsoft.com/office/drawing/2016/SVG/main" r:embed="rId3"/>
                </a:ext>
              </a:extLst>
            </a:blip>
            <a:stretch>
              <a:fillRect l="0" t="0" r="0" b="0"/>
            </a:stretch>
          </a:blipFill>
        </p:spPr>
      </p:sp>
      <p:grpSp>
        <p:nvGrpSpPr>
          <p:cNvPr name="Group 4" id="4"/>
          <p:cNvGrpSpPr/>
          <p:nvPr/>
        </p:nvGrpSpPr>
        <p:grpSpPr>
          <a:xfrm rot="0">
            <a:off x="16901637" y="1028700"/>
            <a:ext cx="357663" cy="271117"/>
            <a:chOff x="0" y="0"/>
            <a:chExt cx="476884" cy="361489"/>
          </a:xfrm>
        </p:grpSpPr>
        <p:sp>
          <p:nvSpPr>
            <p:cNvPr name="AutoShape 5" id="5"/>
            <p:cNvSpPr/>
            <p:nvPr/>
          </p:nvSpPr>
          <p:spPr>
            <a:xfrm>
              <a:off x="0" y="19050"/>
              <a:ext cx="476884" cy="0"/>
            </a:xfrm>
            <a:prstGeom prst="line">
              <a:avLst/>
            </a:prstGeom>
            <a:ln cap="flat" w="38100">
              <a:solidFill>
                <a:srgbClr val="FFFFFF"/>
              </a:solidFill>
              <a:prstDash val="solid"/>
              <a:headEnd type="none" len="sm" w="sm"/>
              <a:tailEnd type="none" len="sm" w="sm"/>
            </a:ln>
          </p:spPr>
        </p:sp>
        <p:sp>
          <p:nvSpPr>
            <p:cNvPr name="AutoShape 6" id="6"/>
            <p:cNvSpPr/>
            <p:nvPr/>
          </p:nvSpPr>
          <p:spPr>
            <a:xfrm>
              <a:off x="0" y="180744"/>
              <a:ext cx="476884" cy="0"/>
            </a:xfrm>
            <a:prstGeom prst="line">
              <a:avLst/>
            </a:prstGeom>
            <a:ln cap="flat" w="38100">
              <a:solidFill>
                <a:srgbClr val="FFFFFF"/>
              </a:solidFill>
              <a:prstDash val="solid"/>
              <a:headEnd type="none" len="sm" w="sm"/>
              <a:tailEnd type="none" len="sm" w="sm"/>
            </a:ln>
          </p:spPr>
        </p:sp>
        <p:sp>
          <p:nvSpPr>
            <p:cNvPr name="AutoShape 7" id="7"/>
            <p:cNvSpPr/>
            <p:nvPr/>
          </p:nvSpPr>
          <p:spPr>
            <a:xfrm>
              <a:off x="0" y="342439"/>
              <a:ext cx="476884" cy="0"/>
            </a:xfrm>
            <a:prstGeom prst="line">
              <a:avLst/>
            </a:prstGeom>
            <a:ln cap="flat" w="38100">
              <a:solidFill>
                <a:srgbClr val="FFFFFF"/>
              </a:solidFill>
              <a:prstDash val="solid"/>
              <a:headEnd type="none" len="sm" w="sm"/>
              <a:tailEnd type="none" len="sm" w="sm"/>
            </a:ln>
          </p:spPr>
        </p:sp>
      </p:grpSp>
      <p:sp>
        <p:nvSpPr>
          <p:cNvPr name="Freeform 8" id="8"/>
          <p:cNvSpPr/>
          <p:nvPr/>
        </p:nvSpPr>
        <p:spPr>
          <a:xfrm flipH="false" flipV="false" rot="0">
            <a:off x="3002316" y="4899847"/>
            <a:ext cx="471358" cy="487306"/>
          </a:xfrm>
          <a:custGeom>
            <a:avLst/>
            <a:gdLst/>
            <a:ahLst/>
            <a:cxnLst/>
            <a:rect r="r" b="b" t="t" l="l"/>
            <a:pathLst>
              <a:path h="487306" w="471358">
                <a:moveTo>
                  <a:pt x="0" y="0"/>
                </a:moveTo>
                <a:lnTo>
                  <a:pt x="471358" y="0"/>
                </a:lnTo>
                <a:lnTo>
                  <a:pt x="471358" y="487306"/>
                </a:lnTo>
                <a:lnTo>
                  <a:pt x="0" y="48730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0">
            <a:off x="15165493" y="5387153"/>
            <a:ext cx="471358" cy="487306"/>
          </a:xfrm>
          <a:custGeom>
            <a:avLst/>
            <a:gdLst/>
            <a:ahLst/>
            <a:cxnLst/>
            <a:rect r="r" b="b" t="t" l="l"/>
            <a:pathLst>
              <a:path h="487306" w="471358">
                <a:moveTo>
                  <a:pt x="0" y="0"/>
                </a:moveTo>
                <a:lnTo>
                  <a:pt x="471358" y="0"/>
                </a:lnTo>
                <a:lnTo>
                  <a:pt x="471358" y="487307"/>
                </a:lnTo>
                <a:lnTo>
                  <a:pt x="0" y="48730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0" id="10"/>
          <p:cNvGrpSpPr/>
          <p:nvPr/>
        </p:nvGrpSpPr>
        <p:grpSpPr>
          <a:xfrm rot="0">
            <a:off x="1270832" y="255396"/>
            <a:ext cx="14366019" cy="8229600"/>
            <a:chOff x="0" y="0"/>
            <a:chExt cx="19154692" cy="10972800"/>
          </a:xfrm>
        </p:grpSpPr>
        <p:sp>
          <p:nvSpPr>
            <p:cNvPr name="TextBox 11" id="11"/>
            <p:cNvSpPr txBox="true"/>
            <p:nvPr/>
          </p:nvSpPr>
          <p:spPr>
            <a:xfrm rot="-571860">
              <a:off x="555412" y="5342552"/>
              <a:ext cx="18103275" cy="4160178"/>
            </a:xfrm>
            <a:prstGeom prst="rect">
              <a:avLst/>
            </a:prstGeom>
          </p:spPr>
          <p:txBody>
            <a:bodyPr anchor="t" rtlCol="false" tIns="0" lIns="0" bIns="0" rIns="0">
              <a:spAutoFit/>
            </a:bodyPr>
            <a:lstStyle/>
            <a:p>
              <a:pPr algn="ctr">
                <a:lnSpc>
                  <a:spcPts val="15247"/>
                </a:lnSpc>
              </a:pPr>
              <a:r>
                <a:rPr lang="en-US" sz="30495" spc="-914">
                  <a:solidFill>
                    <a:srgbClr val="15789A"/>
                  </a:solidFill>
                  <a:latin typeface="Handelson Two"/>
                  <a:ea typeface="Handelson Two"/>
                  <a:cs typeface="Handelson Two"/>
                  <a:sym typeface="Handelson Two"/>
                </a:rPr>
                <a:t>Thank Tou</a:t>
              </a:r>
            </a:p>
          </p:txBody>
        </p:sp>
        <p:sp>
          <p:nvSpPr>
            <p:cNvPr name="TextBox 12" id="12"/>
            <p:cNvSpPr txBox="true"/>
            <p:nvPr/>
          </p:nvSpPr>
          <p:spPr>
            <a:xfrm rot="-571860">
              <a:off x="425101" y="2859764"/>
              <a:ext cx="18531734" cy="3934768"/>
            </a:xfrm>
            <a:prstGeom prst="rect">
              <a:avLst/>
            </a:prstGeom>
          </p:spPr>
          <p:txBody>
            <a:bodyPr anchor="t" rtlCol="false" tIns="0" lIns="0" bIns="0" rIns="0">
              <a:spAutoFit/>
            </a:bodyPr>
            <a:lstStyle/>
            <a:p>
              <a:pPr algn="ctr">
                <a:lnSpc>
                  <a:spcPts val="16984"/>
                </a:lnSpc>
              </a:pP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DAG5puRY3-Q</dc:identifier>
  <dcterms:modified xsi:type="dcterms:W3CDTF">2011-08-01T06:04:30Z</dcterms:modified>
  <cp:revision>1</cp:revision>
  <dc:title>Presentation - DEPI</dc:title>
</cp:coreProperties>
</file>