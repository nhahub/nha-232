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attanakarn Heavy" charset="1" panose="00000000000000000000"/>
      <p:regular r:id="rId16"/>
    </p:embeddedFont>
    <p:embeddedFont>
      <p:font typeface="Open Sans" charset="1" panose="00000000000000000000"/>
      <p:regular r:id="rId17"/>
    </p:embeddedFont>
    <p:embeddedFont>
      <p:font typeface="Open Sans Medium" charset="1" panose="00000000000000000000"/>
      <p:regular r:id="rId18"/>
    </p:embeddedFont>
    <p:embeddedFont>
      <p:font typeface="Open Sans Bold Italics" charset="1" panose="00000000000000000000"/>
      <p:regular r:id="rId19"/>
    </p:embeddedFont>
    <p:embeddedFont>
      <p:font typeface="Handelson Two" charset="1" panose="000001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446863" y="1446363"/>
            <a:ext cx="7394274" cy="7394274"/>
          </a:xfrm>
          <a:custGeom>
            <a:avLst/>
            <a:gdLst/>
            <a:ahLst/>
            <a:cxnLst/>
            <a:rect r="r" b="b" t="t" l="l"/>
            <a:pathLst>
              <a:path h="7394274" w="7394274">
                <a:moveTo>
                  <a:pt x="0" y="0"/>
                </a:moveTo>
                <a:lnTo>
                  <a:pt x="7394274" y="0"/>
                </a:lnTo>
                <a:lnTo>
                  <a:pt x="7394274" y="7394274"/>
                </a:lnTo>
                <a:lnTo>
                  <a:pt x="0" y="739427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901637" y="1028700"/>
            <a:ext cx="357663" cy="271117"/>
            <a:chOff x="0" y="0"/>
            <a:chExt cx="476884" cy="361489"/>
          </a:xfrm>
        </p:grpSpPr>
        <p:sp>
          <p:nvSpPr>
            <p:cNvPr name="AutoShape 4" id="4"/>
            <p:cNvSpPr/>
            <p:nvPr/>
          </p:nvSpPr>
          <p:spPr>
            <a:xfrm>
              <a:off x="0" y="19050"/>
              <a:ext cx="476884" cy="0"/>
            </a:xfrm>
            <a:prstGeom prst="line">
              <a:avLst/>
            </a:prstGeom>
            <a:ln cap="flat" w="38100">
              <a:solidFill>
                <a:srgbClr val="FFFFFF"/>
              </a:solidFill>
              <a:prstDash val="solid"/>
              <a:headEnd type="none" len="sm" w="sm"/>
              <a:tailEnd type="none" len="sm" w="sm"/>
            </a:ln>
          </p:spPr>
        </p:sp>
        <p:sp>
          <p:nvSpPr>
            <p:cNvPr name="AutoShape 5" id="5"/>
            <p:cNvSpPr/>
            <p:nvPr/>
          </p:nvSpPr>
          <p:spPr>
            <a:xfrm>
              <a:off x="0" y="180744"/>
              <a:ext cx="476884" cy="0"/>
            </a:xfrm>
            <a:prstGeom prst="line">
              <a:avLst/>
            </a:prstGeom>
            <a:ln cap="flat" w="38100">
              <a:solidFill>
                <a:srgbClr val="FFFFFF"/>
              </a:solidFill>
              <a:prstDash val="solid"/>
              <a:headEnd type="none" len="sm" w="sm"/>
              <a:tailEnd type="none" len="sm" w="sm"/>
            </a:ln>
          </p:spPr>
        </p:sp>
        <p:sp>
          <p:nvSpPr>
            <p:cNvPr name="AutoShape 6" id="6"/>
            <p:cNvSpPr/>
            <p:nvPr/>
          </p:nvSpPr>
          <p:spPr>
            <a:xfrm>
              <a:off x="0" y="342439"/>
              <a:ext cx="476884" cy="0"/>
            </a:xfrm>
            <a:prstGeom prst="line">
              <a:avLst/>
            </a:prstGeom>
            <a:ln cap="flat" w="38100">
              <a:solidFill>
                <a:srgbClr val="FFFFFF"/>
              </a:solidFill>
              <a:prstDash val="solid"/>
              <a:headEnd type="none" len="sm" w="sm"/>
              <a:tailEnd type="none" len="sm" w="sm"/>
            </a:ln>
          </p:spPr>
        </p:sp>
      </p:grpSp>
      <p:sp>
        <p:nvSpPr>
          <p:cNvPr name="Freeform 7" id="7"/>
          <p:cNvSpPr/>
          <p:nvPr/>
        </p:nvSpPr>
        <p:spPr>
          <a:xfrm flipH="false" flipV="false" rot="0">
            <a:off x="1028700" y="8770994"/>
            <a:ext cx="471358" cy="487306"/>
          </a:xfrm>
          <a:custGeom>
            <a:avLst/>
            <a:gdLst/>
            <a:ahLst/>
            <a:cxnLst/>
            <a:rect r="r" b="b" t="t" l="l"/>
            <a:pathLst>
              <a:path h="487306" w="471358">
                <a:moveTo>
                  <a:pt x="0" y="0"/>
                </a:moveTo>
                <a:lnTo>
                  <a:pt x="471358" y="0"/>
                </a:lnTo>
                <a:lnTo>
                  <a:pt x="471358" y="487306"/>
                </a:lnTo>
                <a:lnTo>
                  <a:pt x="0" y="4873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261051" y="3879476"/>
            <a:ext cx="12058423" cy="1732260"/>
          </a:xfrm>
          <a:prstGeom prst="rect">
            <a:avLst/>
          </a:prstGeom>
        </p:spPr>
        <p:txBody>
          <a:bodyPr anchor="t" rtlCol="false" tIns="0" lIns="0" bIns="0" rIns="0">
            <a:spAutoFit/>
          </a:bodyPr>
          <a:lstStyle/>
          <a:p>
            <a:pPr algn="ctr">
              <a:lnSpc>
                <a:spcPts val="14246"/>
              </a:lnSpc>
              <a:spcBef>
                <a:spcPct val="0"/>
              </a:spcBef>
            </a:pPr>
            <a:r>
              <a:rPr lang="en-US" b="true" sz="10175">
                <a:solidFill>
                  <a:srgbClr val="FFFFFF"/>
                </a:solidFill>
                <a:latin typeface="Pattanakarn Heavy"/>
                <a:ea typeface="Pattanakarn Heavy"/>
                <a:cs typeface="Pattanakarn Heavy"/>
                <a:sym typeface="Pattanakarn Heavy"/>
              </a:rPr>
              <a:t>SIGN - 2 - TEXT</a:t>
            </a:r>
          </a:p>
        </p:txBody>
      </p:sp>
      <p:sp>
        <p:nvSpPr>
          <p:cNvPr name="TextBox 9" id="9"/>
          <p:cNvSpPr txBox="true"/>
          <p:nvPr/>
        </p:nvSpPr>
        <p:spPr>
          <a:xfrm rot="0">
            <a:off x="6305476" y="8328846"/>
            <a:ext cx="5677047" cy="712472"/>
          </a:xfrm>
          <a:prstGeom prst="rect">
            <a:avLst/>
          </a:prstGeom>
        </p:spPr>
        <p:txBody>
          <a:bodyPr anchor="t" rtlCol="false" tIns="0" lIns="0" bIns="0" rIns="0">
            <a:spAutoFit/>
          </a:bodyPr>
          <a:lstStyle/>
          <a:p>
            <a:pPr algn="ctr">
              <a:lnSpc>
                <a:spcPts val="5879"/>
              </a:lnSpc>
              <a:spcBef>
                <a:spcPct val="0"/>
              </a:spcBef>
            </a:pPr>
            <a:r>
              <a:rPr lang="en-US" sz="4199">
                <a:solidFill>
                  <a:srgbClr val="FFFFFF"/>
                </a:solidFill>
                <a:latin typeface="Open Sans"/>
                <a:ea typeface="Open Sans"/>
                <a:cs typeface="Open Sans"/>
                <a:sym typeface="Open Sans"/>
              </a:rPr>
              <a:t>Team Number : 232</a:t>
            </a:r>
          </a:p>
        </p:txBody>
      </p:sp>
      <p:sp>
        <p:nvSpPr>
          <p:cNvPr name="TextBox 10" id="10"/>
          <p:cNvSpPr txBox="true"/>
          <p:nvPr/>
        </p:nvSpPr>
        <p:spPr>
          <a:xfrm rot="0">
            <a:off x="1028700" y="962025"/>
            <a:ext cx="1229970" cy="613411"/>
          </a:xfrm>
          <a:prstGeom prst="rect">
            <a:avLst/>
          </a:prstGeom>
        </p:spPr>
        <p:txBody>
          <a:bodyPr anchor="t" rtlCol="false" tIns="0" lIns="0" bIns="0" rIns="0">
            <a:spAutoFit/>
          </a:bodyPr>
          <a:lstStyle/>
          <a:p>
            <a:pPr algn="l">
              <a:lnSpc>
                <a:spcPts val="5039"/>
              </a:lnSpc>
              <a:spcBef>
                <a:spcPct val="0"/>
              </a:spcBef>
            </a:pPr>
            <a:r>
              <a:rPr lang="en-US" b="true" sz="3599">
                <a:solidFill>
                  <a:srgbClr val="FFFFFF"/>
                </a:solidFill>
                <a:latin typeface="Open Sans Medium"/>
                <a:ea typeface="Open Sans Medium"/>
                <a:cs typeface="Open Sans Medium"/>
                <a:sym typeface="Open Sans Medium"/>
              </a:rPr>
              <a:t>DEPI</a:t>
            </a:r>
          </a:p>
        </p:txBody>
      </p:sp>
      <p:sp>
        <p:nvSpPr>
          <p:cNvPr name="Freeform 11" id="11"/>
          <p:cNvSpPr/>
          <p:nvPr/>
        </p:nvSpPr>
        <p:spPr>
          <a:xfrm flipH="false" flipV="false" rot="0">
            <a:off x="16787942" y="8723182"/>
            <a:ext cx="471358" cy="487306"/>
          </a:xfrm>
          <a:custGeom>
            <a:avLst/>
            <a:gdLst/>
            <a:ahLst/>
            <a:cxnLst/>
            <a:rect r="r" b="b" t="t" l="l"/>
            <a:pathLst>
              <a:path h="487306" w="471358">
                <a:moveTo>
                  <a:pt x="0" y="0"/>
                </a:moveTo>
                <a:lnTo>
                  <a:pt x="471358" y="0"/>
                </a:lnTo>
                <a:lnTo>
                  <a:pt x="471358" y="487306"/>
                </a:lnTo>
                <a:lnTo>
                  <a:pt x="0" y="4873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3383331" y="6589863"/>
            <a:ext cx="7394274" cy="7394274"/>
          </a:xfrm>
          <a:custGeom>
            <a:avLst/>
            <a:gdLst/>
            <a:ahLst/>
            <a:cxnLst/>
            <a:rect r="r" b="b" t="t" l="l"/>
            <a:pathLst>
              <a:path h="7394274" w="7394274">
                <a:moveTo>
                  <a:pt x="0" y="0"/>
                </a:moveTo>
                <a:lnTo>
                  <a:pt x="7394275" y="0"/>
                </a:lnTo>
                <a:lnTo>
                  <a:pt x="7394275" y="7394274"/>
                </a:lnTo>
                <a:lnTo>
                  <a:pt x="0" y="739427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901637" y="1028700"/>
            <a:ext cx="357663" cy="271117"/>
            <a:chOff x="0" y="0"/>
            <a:chExt cx="476884" cy="361489"/>
          </a:xfrm>
        </p:grpSpPr>
        <p:sp>
          <p:nvSpPr>
            <p:cNvPr name="AutoShape 4" id="4"/>
            <p:cNvSpPr/>
            <p:nvPr/>
          </p:nvSpPr>
          <p:spPr>
            <a:xfrm>
              <a:off x="0" y="19050"/>
              <a:ext cx="476884" cy="0"/>
            </a:xfrm>
            <a:prstGeom prst="line">
              <a:avLst/>
            </a:prstGeom>
            <a:ln cap="flat" w="38100">
              <a:solidFill>
                <a:srgbClr val="FFFFFF"/>
              </a:solidFill>
              <a:prstDash val="solid"/>
              <a:headEnd type="none" len="sm" w="sm"/>
              <a:tailEnd type="none" len="sm" w="sm"/>
            </a:ln>
          </p:spPr>
        </p:sp>
        <p:sp>
          <p:nvSpPr>
            <p:cNvPr name="AutoShape 5" id="5"/>
            <p:cNvSpPr/>
            <p:nvPr/>
          </p:nvSpPr>
          <p:spPr>
            <a:xfrm>
              <a:off x="0" y="180744"/>
              <a:ext cx="476884" cy="0"/>
            </a:xfrm>
            <a:prstGeom prst="line">
              <a:avLst/>
            </a:prstGeom>
            <a:ln cap="flat" w="38100">
              <a:solidFill>
                <a:srgbClr val="FFFFFF"/>
              </a:solidFill>
              <a:prstDash val="solid"/>
              <a:headEnd type="none" len="sm" w="sm"/>
              <a:tailEnd type="none" len="sm" w="sm"/>
            </a:ln>
          </p:spPr>
        </p:sp>
        <p:sp>
          <p:nvSpPr>
            <p:cNvPr name="AutoShape 6" id="6"/>
            <p:cNvSpPr/>
            <p:nvPr/>
          </p:nvSpPr>
          <p:spPr>
            <a:xfrm>
              <a:off x="0" y="342439"/>
              <a:ext cx="476884" cy="0"/>
            </a:xfrm>
            <a:prstGeom prst="line">
              <a:avLst/>
            </a:prstGeom>
            <a:ln cap="flat" w="38100">
              <a:solidFill>
                <a:srgbClr val="FFFFFF"/>
              </a:solidFill>
              <a:prstDash val="solid"/>
              <a:headEnd type="none" len="sm" w="sm"/>
              <a:tailEnd type="none" len="sm" w="sm"/>
            </a:ln>
          </p:spPr>
        </p:sp>
      </p:grpSp>
      <p:sp>
        <p:nvSpPr>
          <p:cNvPr name="Freeform 7" id="7"/>
          <p:cNvSpPr/>
          <p:nvPr/>
        </p:nvSpPr>
        <p:spPr>
          <a:xfrm flipH="false" flipV="false" rot="0">
            <a:off x="413715" y="9492744"/>
            <a:ext cx="471358" cy="487306"/>
          </a:xfrm>
          <a:custGeom>
            <a:avLst/>
            <a:gdLst/>
            <a:ahLst/>
            <a:cxnLst/>
            <a:rect r="r" b="b" t="t" l="l"/>
            <a:pathLst>
              <a:path h="487306" w="471358">
                <a:moveTo>
                  <a:pt x="0" y="0"/>
                </a:moveTo>
                <a:lnTo>
                  <a:pt x="471358" y="0"/>
                </a:lnTo>
                <a:lnTo>
                  <a:pt x="471358" y="487307"/>
                </a:lnTo>
                <a:lnTo>
                  <a:pt x="0" y="487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413715" y="885825"/>
            <a:ext cx="9523205" cy="1260439"/>
          </a:xfrm>
          <a:prstGeom prst="rect">
            <a:avLst/>
          </a:prstGeom>
        </p:spPr>
        <p:txBody>
          <a:bodyPr anchor="t" rtlCol="false" tIns="0" lIns="0" bIns="0" rIns="0">
            <a:spAutoFit/>
          </a:bodyPr>
          <a:lstStyle/>
          <a:p>
            <a:pPr algn="ctr">
              <a:lnSpc>
                <a:spcPts val="10327"/>
              </a:lnSpc>
              <a:spcBef>
                <a:spcPct val="0"/>
              </a:spcBef>
            </a:pPr>
            <a:r>
              <a:rPr lang="en-US" b="true" sz="7376">
                <a:solidFill>
                  <a:srgbClr val="FFFFFF"/>
                </a:solidFill>
                <a:latin typeface="Pattanakarn Heavy"/>
                <a:ea typeface="Pattanakarn Heavy"/>
                <a:cs typeface="Pattanakarn Heavy"/>
                <a:sym typeface="Pattanakarn Heavy"/>
              </a:rPr>
              <a:t>TEAM MEMBERS </a:t>
            </a:r>
          </a:p>
        </p:txBody>
      </p:sp>
      <p:sp>
        <p:nvSpPr>
          <p:cNvPr name="TextBox 9" id="9"/>
          <p:cNvSpPr txBox="true"/>
          <p:nvPr/>
        </p:nvSpPr>
        <p:spPr>
          <a:xfrm rot="0">
            <a:off x="413715" y="337746"/>
            <a:ext cx="1229970" cy="537846"/>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Open Sans Medium"/>
                <a:ea typeface="Open Sans Medium"/>
                <a:cs typeface="Open Sans Medium"/>
                <a:sym typeface="Open Sans Medium"/>
              </a:rPr>
              <a:t>DEPI</a:t>
            </a:r>
          </a:p>
        </p:txBody>
      </p:sp>
      <p:sp>
        <p:nvSpPr>
          <p:cNvPr name="Freeform 10" id="10"/>
          <p:cNvSpPr/>
          <p:nvPr/>
        </p:nvSpPr>
        <p:spPr>
          <a:xfrm flipH="false" flipV="false" rot="0">
            <a:off x="16787942" y="8723182"/>
            <a:ext cx="471358" cy="487306"/>
          </a:xfrm>
          <a:custGeom>
            <a:avLst/>
            <a:gdLst/>
            <a:ahLst/>
            <a:cxnLst/>
            <a:rect r="r" b="b" t="t" l="l"/>
            <a:pathLst>
              <a:path h="487306" w="471358">
                <a:moveTo>
                  <a:pt x="0" y="0"/>
                </a:moveTo>
                <a:lnTo>
                  <a:pt x="471358" y="0"/>
                </a:lnTo>
                <a:lnTo>
                  <a:pt x="471358" y="487306"/>
                </a:lnTo>
                <a:lnTo>
                  <a:pt x="0" y="4873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028700" y="2582288"/>
            <a:ext cx="1228279" cy="1228279"/>
            <a:chOff x="0" y="0"/>
            <a:chExt cx="323497" cy="323497"/>
          </a:xfrm>
        </p:grpSpPr>
        <p:sp>
          <p:nvSpPr>
            <p:cNvPr name="Freeform 12" id="12"/>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3" id="13"/>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4" id="14"/>
          <p:cNvSpPr txBox="true"/>
          <p:nvPr/>
        </p:nvSpPr>
        <p:spPr>
          <a:xfrm rot="0">
            <a:off x="1236598" y="2951970"/>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01</a:t>
            </a:r>
          </a:p>
        </p:txBody>
      </p:sp>
      <p:grpSp>
        <p:nvGrpSpPr>
          <p:cNvPr name="Group 15" id="15"/>
          <p:cNvGrpSpPr/>
          <p:nvPr/>
        </p:nvGrpSpPr>
        <p:grpSpPr>
          <a:xfrm rot="0">
            <a:off x="1029546" y="4917558"/>
            <a:ext cx="1228279" cy="1228279"/>
            <a:chOff x="0" y="0"/>
            <a:chExt cx="323497" cy="323497"/>
          </a:xfrm>
        </p:grpSpPr>
        <p:sp>
          <p:nvSpPr>
            <p:cNvPr name="Freeform 16" id="16"/>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7" id="17"/>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8" id="18"/>
          <p:cNvSpPr txBox="true"/>
          <p:nvPr/>
        </p:nvSpPr>
        <p:spPr>
          <a:xfrm rot="0">
            <a:off x="1237443" y="5287240"/>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03</a:t>
            </a:r>
          </a:p>
        </p:txBody>
      </p:sp>
      <p:grpSp>
        <p:nvGrpSpPr>
          <p:cNvPr name="Group 19" id="19"/>
          <p:cNvGrpSpPr/>
          <p:nvPr/>
        </p:nvGrpSpPr>
        <p:grpSpPr>
          <a:xfrm rot="0">
            <a:off x="1029546" y="7479337"/>
            <a:ext cx="1228279" cy="1228279"/>
            <a:chOff x="0" y="0"/>
            <a:chExt cx="323497" cy="323497"/>
          </a:xfrm>
        </p:grpSpPr>
        <p:sp>
          <p:nvSpPr>
            <p:cNvPr name="Freeform 20" id="20"/>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21" id="21"/>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22" id="22"/>
          <p:cNvSpPr txBox="true"/>
          <p:nvPr/>
        </p:nvSpPr>
        <p:spPr>
          <a:xfrm rot="0">
            <a:off x="1237443" y="7849018"/>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05</a:t>
            </a:r>
          </a:p>
        </p:txBody>
      </p:sp>
      <p:grpSp>
        <p:nvGrpSpPr>
          <p:cNvPr name="Group 23" id="23"/>
          <p:cNvGrpSpPr/>
          <p:nvPr/>
        </p:nvGrpSpPr>
        <p:grpSpPr>
          <a:xfrm rot="0">
            <a:off x="9322781" y="2598798"/>
            <a:ext cx="1228279" cy="1228279"/>
            <a:chOff x="0" y="0"/>
            <a:chExt cx="323497" cy="323497"/>
          </a:xfrm>
        </p:grpSpPr>
        <p:sp>
          <p:nvSpPr>
            <p:cNvPr name="Freeform 24" id="24"/>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25" id="25"/>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26" id="26"/>
          <p:cNvSpPr txBox="true"/>
          <p:nvPr/>
        </p:nvSpPr>
        <p:spPr>
          <a:xfrm rot="0">
            <a:off x="9530678" y="2968480"/>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02</a:t>
            </a:r>
          </a:p>
        </p:txBody>
      </p:sp>
      <p:grpSp>
        <p:nvGrpSpPr>
          <p:cNvPr name="Group 27" id="27"/>
          <p:cNvGrpSpPr/>
          <p:nvPr/>
        </p:nvGrpSpPr>
        <p:grpSpPr>
          <a:xfrm rot="0">
            <a:off x="9321935" y="4933124"/>
            <a:ext cx="1228279" cy="1228279"/>
            <a:chOff x="0" y="0"/>
            <a:chExt cx="323497" cy="323497"/>
          </a:xfrm>
        </p:grpSpPr>
        <p:sp>
          <p:nvSpPr>
            <p:cNvPr name="Freeform 28" id="28"/>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29" id="29"/>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30" id="30"/>
          <p:cNvSpPr txBox="true"/>
          <p:nvPr/>
        </p:nvSpPr>
        <p:spPr>
          <a:xfrm rot="0">
            <a:off x="9529833" y="5302805"/>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04</a:t>
            </a:r>
          </a:p>
        </p:txBody>
      </p:sp>
      <p:grpSp>
        <p:nvGrpSpPr>
          <p:cNvPr name="Group 31" id="31"/>
          <p:cNvGrpSpPr/>
          <p:nvPr/>
        </p:nvGrpSpPr>
        <p:grpSpPr>
          <a:xfrm rot="0">
            <a:off x="9322781" y="7494903"/>
            <a:ext cx="1228279" cy="1228279"/>
            <a:chOff x="0" y="0"/>
            <a:chExt cx="323497" cy="323497"/>
          </a:xfrm>
        </p:grpSpPr>
        <p:sp>
          <p:nvSpPr>
            <p:cNvPr name="Freeform 32" id="32"/>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33" id="33"/>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34" id="34"/>
          <p:cNvSpPr txBox="true"/>
          <p:nvPr/>
        </p:nvSpPr>
        <p:spPr>
          <a:xfrm rot="0">
            <a:off x="9530678" y="7864584"/>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06</a:t>
            </a:r>
          </a:p>
        </p:txBody>
      </p:sp>
      <p:sp>
        <p:nvSpPr>
          <p:cNvPr name="TextBox 35" id="35"/>
          <p:cNvSpPr txBox="true"/>
          <p:nvPr/>
        </p:nvSpPr>
        <p:spPr>
          <a:xfrm rot="0">
            <a:off x="2625940" y="2721764"/>
            <a:ext cx="5732800" cy="887097"/>
          </a:xfrm>
          <a:prstGeom prst="rect">
            <a:avLst/>
          </a:prstGeom>
        </p:spPr>
        <p:txBody>
          <a:bodyPr anchor="t" rtlCol="false" tIns="0" lIns="0" bIns="0" rIns="0">
            <a:spAutoFit/>
          </a:bodyPr>
          <a:lstStyle/>
          <a:p>
            <a:pPr algn="ctr">
              <a:lnSpc>
                <a:spcPts val="7279"/>
              </a:lnSpc>
            </a:pPr>
            <a:r>
              <a:rPr lang="en-US" b="true" sz="5199" i="true">
                <a:solidFill>
                  <a:srgbClr val="FFFFFF"/>
                </a:solidFill>
                <a:latin typeface="Open Sans Bold Italics"/>
                <a:ea typeface="Open Sans Bold Italics"/>
                <a:cs typeface="Open Sans Bold Italics"/>
                <a:sym typeface="Open Sans Bold Italics"/>
              </a:rPr>
              <a:t>Z</a:t>
            </a:r>
            <a:r>
              <a:rPr lang="en-US" b="true" sz="5199" i="true">
                <a:solidFill>
                  <a:srgbClr val="FFFFFF"/>
                </a:solidFill>
                <a:latin typeface="Open Sans Bold Italics"/>
                <a:ea typeface="Open Sans Bold Italics"/>
                <a:cs typeface="Open Sans Bold Italics"/>
                <a:sym typeface="Open Sans Bold Italics"/>
              </a:rPr>
              <a:t>enab Osama </a:t>
            </a:r>
          </a:p>
        </p:txBody>
      </p:sp>
      <p:sp>
        <p:nvSpPr>
          <p:cNvPr name="TextBox 36" id="36"/>
          <p:cNvSpPr txBox="true"/>
          <p:nvPr/>
        </p:nvSpPr>
        <p:spPr>
          <a:xfrm rot="0">
            <a:off x="2625940" y="5048250"/>
            <a:ext cx="5732800" cy="887097"/>
          </a:xfrm>
          <a:prstGeom prst="rect">
            <a:avLst/>
          </a:prstGeom>
        </p:spPr>
        <p:txBody>
          <a:bodyPr anchor="t" rtlCol="false" tIns="0" lIns="0" bIns="0" rIns="0">
            <a:spAutoFit/>
          </a:bodyPr>
          <a:lstStyle/>
          <a:p>
            <a:pPr algn="ctr">
              <a:lnSpc>
                <a:spcPts val="7279"/>
              </a:lnSpc>
            </a:pPr>
            <a:r>
              <a:rPr lang="en-US" b="true" sz="5199" i="true">
                <a:solidFill>
                  <a:srgbClr val="FFFFFF"/>
                </a:solidFill>
                <a:latin typeface="Open Sans Bold Italics"/>
                <a:ea typeface="Open Sans Bold Italics"/>
                <a:cs typeface="Open Sans Bold Italics"/>
                <a:sym typeface="Open Sans Bold Italics"/>
              </a:rPr>
              <a:t>Ha</a:t>
            </a:r>
            <a:r>
              <a:rPr lang="en-US" b="true" sz="5199" i="true">
                <a:solidFill>
                  <a:srgbClr val="FFFFFF"/>
                </a:solidFill>
                <a:latin typeface="Open Sans Bold Italics"/>
                <a:ea typeface="Open Sans Bold Italics"/>
                <a:cs typeface="Open Sans Bold Italics"/>
                <a:sym typeface="Open Sans Bold Italics"/>
              </a:rPr>
              <a:t>na Ibrahim</a:t>
            </a:r>
          </a:p>
        </p:txBody>
      </p:sp>
      <p:sp>
        <p:nvSpPr>
          <p:cNvPr name="TextBox 37" id="37"/>
          <p:cNvSpPr txBox="true"/>
          <p:nvPr/>
        </p:nvSpPr>
        <p:spPr>
          <a:xfrm rot="0">
            <a:off x="2626786" y="7602303"/>
            <a:ext cx="5732800" cy="887097"/>
          </a:xfrm>
          <a:prstGeom prst="rect">
            <a:avLst/>
          </a:prstGeom>
        </p:spPr>
        <p:txBody>
          <a:bodyPr anchor="t" rtlCol="false" tIns="0" lIns="0" bIns="0" rIns="0">
            <a:spAutoFit/>
          </a:bodyPr>
          <a:lstStyle/>
          <a:p>
            <a:pPr algn="ctr">
              <a:lnSpc>
                <a:spcPts val="7279"/>
              </a:lnSpc>
            </a:pPr>
            <a:r>
              <a:rPr lang="en-US" b="true" sz="5199" i="true">
                <a:solidFill>
                  <a:srgbClr val="FFFFFF"/>
                </a:solidFill>
                <a:latin typeface="Open Sans Bold Italics"/>
                <a:ea typeface="Open Sans Bold Italics"/>
                <a:cs typeface="Open Sans Bold Italics"/>
                <a:sym typeface="Open Sans Bold Italics"/>
              </a:rPr>
              <a:t>Ahm</a:t>
            </a:r>
            <a:r>
              <a:rPr lang="en-US" b="true" sz="5199" i="true">
                <a:solidFill>
                  <a:srgbClr val="FFFFFF"/>
                </a:solidFill>
                <a:latin typeface="Open Sans Bold Italics"/>
                <a:ea typeface="Open Sans Bold Italics"/>
                <a:cs typeface="Open Sans Bold Italics"/>
                <a:sym typeface="Open Sans Bold Italics"/>
              </a:rPr>
              <a:t>ed Saeed</a:t>
            </a:r>
          </a:p>
        </p:txBody>
      </p:sp>
      <p:sp>
        <p:nvSpPr>
          <p:cNvPr name="TextBox 38" id="38"/>
          <p:cNvSpPr txBox="true"/>
          <p:nvPr/>
        </p:nvSpPr>
        <p:spPr>
          <a:xfrm rot="0">
            <a:off x="10757904" y="2721764"/>
            <a:ext cx="7353637" cy="887097"/>
          </a:xfrm>
          <a:prstGeom prst="rect">
            <a:avLst/>
          </a:prstGeom>
        </p:spPr>
        <p:txBody>
          <a:bodyPr anchor="t" rtlCol="false" tIns="0" lIns="0" bIns="0" rIns="0">
            <a:spAutoFit/>
          </a:bodyPr>
          <a:lstStyle/>
          <a:p>
            <a:pPr algn="ctr">
              <a:lnSpc>
                <a:spcPts val="7279"/>
              </a:lnSpc>
            </a:pPr>
            <a:r>
              <a:rPr lang="en-US" b="true" sz="5199" i="true">
                <a:solidFill>
                  <a:srgbClr val="FFFFFF"/>
                </a:solidFill>
                <a:latin typeface="Open Sans Bold Italics"/>
                <a:ea typeface="Open Sans Bold Italics"/>
                <a:cs typeface="Open Sans Bold Italics"/>
                <a:sym typeface="Open Sans Bold Italics"/>
              </a:rPr>
              <a:t>Abd</a:t>
            </a:r>
            <a:r>
              <a:rPr lang="en-US" b="true" sz="5199" i="true">
                <a:solidFill>
                  <a:srgbClr val="FFFFFF"/>
                </a:solidFill>
                <a:latin typeface="Open Sans Bold Italics"/>
                <a:ea typeface="Open Sans Bold Italics"/>
                <a:cs typeface="Open Sans Bold Italics"/>
                <a:sym typeface="Open Sans Bold Italics"/>
              </a:rPr>
              <a:t>elrahman Darwish</a:t>
            </a:r>
          </a:p>
        </p:txBody>
      </p:sp>
      <p:sp>
        <p:nvSpPr>
          <p:cNvPr name="TextBox 39" id="39"/>
          <p:cNvSpPr txBox="true"/>
          <p:nvPr/>
        </p:nvSpPr>
        <p:spPr>
          <a:xfrm rot="0">
            <a:off x="11526500" y="5048250"/>
            <a:ext cx="5732800" cy="887097"/>
          </a:xfrm>
          <a:prstGeom prst="rect">
            <a:avLst/>
          </a:prstGeom>
        </p:spPr>
        <p:txBody>
          <a:bodyPr anchor="t" rtlCol="false" tIns="0" lIns="0" bIns="0" rIns="0">
            <a:spAutoFit/>
          </a:bodyPr>
          <a:lstStyle/>
          <a:p>
            <a:pPr algn="ctr">
              <a:lnSpc>
                <a:spcPts val="7279"/>
              </a:lnSpc>
            </a:pPr>
            <a:r>
              <a:rPr lang="en-US" b="true" sz="5199" i="true">
                <a:solidFill>
                  <a:srgbClr val="FFFFFF"/>
                </a:solidFill>
                <a:latin typeface="Open Sans Bold Italics"/>
                <a:ea typeface="Open Sans Bold Italics"/>
                <a:cs typeface="Open Sans Bold Italics"/>
                <a:sym typeface="Open Sans Bold Italics"/>
              </a:rPr>
              <a:t>Amr</a:t>
            </a:r>
            <a:r>
              <a:rPr lang="en-US" b="true" sz="5199" i="true">
                <a:solidFill>
                  <a:srgbClr val="FFFFFF"/>
                </a:solidFill>
                <a:latin typeface="Open Sans Bold Italics"/>
                <a:ea typeface="Open Sans Bold Italics"/>
                <a:cs typeface="Open Sans Bold Italics"/>
                <a:sym typeface="Open Sans Bold Italics"/>
              </a:rPr>
              <a:t> Fouad</a:t>
            </a:r>
          </a:p>
        </p:txBody>
      </p:sp>
      <p:sp>
        <p:nvSpPr>
          <p:cNvPr name="TextBox 40" id="40"/>
          <p:cNvSpPr txBox="true"/>
          <p:nvPr/>
        </p:nvSpPr>
        <p:spPr>
          <a:xfrm rot="0">
            <a:off x="11527346" y="7636060"/>
            <a:ext cx="5732800" cy="887097"/>
          </a:xfrm>
          <a:prstGeom prst="rect">
            <a:avLst/>
          </a:prstGeom>
        </p:spPr>
        <p:txBody>
          <a:bodyPr anchor="t" rtlCol="false" tIns="0" lIns="0" bIns="0" rIns="0">
            <a:spAutoFit/>
          </a:bodyPr>
          <a:lstStyle/>
          <a:p>
            <a:pPr algn="ctr">
              <a:lnSpc>
                <a:spcPts val="7279"/>
              </a:lnSpc>
            </a:pPr>
            <a:r>
              <a:rPr lang="en-US" b="true" sz="5199" i="true">
                <a:solidFill>
                  <a:srgbClr val="FFFFFF"/>
                </a:solidFill>
                <a:latin typeface="Open Sans Bold Italics"/>
                <a:ea typeface="Open Sans Bold Italics"/>
                <a:cs typeface="Open Sans Bold Italics"/>
                <a:sym typeface="Open Sans Bold Italics"/>
              </a:rPr>
              <a:t>M</a:t>
            </a:r>
            <a:r>
              <a:rPr lang="en-US" b="true" sz="5199" i="true">
                <a:solidFill>
                  <a:srgbClr val="FFFFFF"/>
                </a:solidFill>
                <a:latin typeface="Open Sans Bold Italics"/>
                <a:ea typeface="Open Sans Bold Italics"/>
                <a:cs typeface="Open Sans Bold Italics"/>
                <a:sym typeface="Open Sans Bold Italics"/>
              </a:rPr>
              <a:t>ahmoud Hallul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881099" y="-3883348"/>
            <a:ext cx="7394274" cy="7394274"/>
          </a:xfrm>
          <a:custGeom>
            <a:avLst/>
            <a:gdLst/>
            <a:ahLst/>
            <a:cxnLst/>
            <a:rect r="r" b="b" t="t" l="l"/>
            <a:pathLst>
              <a:path h="7394274" w="7394274">
                <a:moveTo>
                  <a:pt x="0" y="0"/>
                </a:moveTo>
                <a:lnTo>
                  <a:pt x="7394275" y="0"/>
                </a:lnTo>
                <a:lnTo>
                  <a:pt x="7394275" y="7394275"/>
                </a:lnTo>
                <a:lnTo>
                  <a:pt x="0" y="7394275"/>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0800000">
            <a:off x="-4156279" y="7523558"/>
            <a:ext cx="7394274" cy="7394274"/>
          </a:xfrm>
          <a:custGeom>
            <a:avLst/>
            <a:gdLst/>
            <a:ahLst/>
            <a:cxnLst/>
            <a:rect r="r" b="b" t="t" l="l"/>
            <a:pathLst>
              <a:path h="7394274" w="7394274">
                <a:moveTo>
                  <a:pt x="7394274" y="7394274"/>
                </a:moveTo>
                <a:lnTo>
                  <a:pt x="0" y="7394274"/>
                </a:lnTo>
                <a:lnTo>
                  <a:pt x="0" y="0"/>
                </a:lnTo>
                <a:lnTo>
                  <a:pt x="7394274" y="0"/>
                </a:lnTo>
                <a:lnTo>
                  <a:pt x="7394274" y="7394274"/>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259300" y="501367"/>
            <a:ext cx="357663" cy="271117"/>
            <a:chOff x="0" y="0"/>
            <a:chExt cx="476884" cy="361489"/>
          </a:xfrm>
        </p:grpSpPr>
        <p:sp>
          <p:nvSpPr>
            <p:cNvPr name="AutoShape 5" id="5"/>
            <p:cNvSpPr/>
            <p:nvPr/>
          </p:nvSpPr>
          <p:spPr>
            <a:xfrm>
              <a:off x="0" y="19050"/>
              <a:ext cx="476884" cy="0"/>
            </a:xfrm>
            <a:prstGeom prst="line">
              <a:avLst/>
            </a:prstGeom>
            <a:ln cap="flat" w="38100">
              <a:solidFill>
                <a:srgbClr val="FFFFFF"/>
              </a:solidFill>
              <a:prstDash val="solid"/>
              <a:headEnd type="none" len="sm" w="sm"/>
              <a:tailEnd type="none" len="sm" w="sm"/>
            </a:ln>
          </p:spPr>
        </p:sp>
        <p:sp>
          <p:nvSpPr>
            <p:cNvPr name="AutoShape 6" id="6"/>
            <p:cNvSpPr/>
            <p:nvPr/>
          </p:nvSpPr>
          <p:spPr>
            <a:xfrm>
              <a:off x="0" y="180744"/>
              <a:ext cx="476884" cy="0"/>
            </a:xfrm>
            <a:prstGeom prst="line">
              <a:avLst/>
            </a:prstGeom>
            <a:ln cap="flat" w="38100">
              <a:solidFill>
                <a:srgbClr val="FFFFFF"/>
              </a:solidFill>
              <a:prstDash val="solid"/>
              <a:headEnd type="none" len="sm" w="sm"/>
              <a:tailEnd type="none" len="sm" w="sm"/>
            </a:ln>
          </p:spPr>
        </p:sp>
        <p:sp>
          <p:nvSpPr>
            <p:cNvPr name="AutoShape 7" id="7"/>
            <p:cNvSpPr/>
            <p:nvPr/>
          </p:nvSpPr>
          <p:spPr>
            <a:xfrm>
              <a:off x="0" y="342439"/>
              <a:ext cx="476884" cy="0"/>
            </a:xfrm>
            <a:prstGeom prst="line">
              <a:avLst/>
            </a:prstGeom>
            <a:ln cap="flat" w="38100">
              <a:solidFill>
                <a:srgbClr val="FFFFFF"/>
              </a:solidFill>
              <a:prstDash val="solid"/>
              <a:headEnd type="none" len="sm" w="sm"/>
              <a:tailEnd type="none" len="sm" w="sm"/>
            </a:ln>
          </p:spPr>
        </p:sp>
      </p:grpSp>
      <p:sp>
        <p:nvSpPr>
          <p:cNvPr name="AutoShape 8" id="8"/>
          <p:cNvSpPr/>
          <p:nvPr/>
        </p:nvSpPr>
        <p:spPr>
          <a:xfrm>
            <a:off x="2081527" y="4187731"/>
            <a:ext cx="5982250" cy="0"/>
          </a:xfrm>
          <a:prstGeom prst="line">
            <a:avLst/>
          </a:prstGeom>
          <a:ln cap="flat" w="28575">
            <a:solidFill>
              <a:srgbClr val="FFFFFF"/>
            </a:solidFill>
            <a:prstDash val="solid"/>
            <a:headEnd type="none" len="sm" w="sm"/>
            <a:tailEnd type="none" len="sm" w="sm"/>
          </a:ln>
        </p:spPr>
      </p:sp>
      <p:grpSp>
        <p:nvGrpSpPr>
          <p:cNvPr name="Group 9" id="9"/>
          <p:cNvGrpSpPr/>
          <p:nvPr/>
        </p:nvGrpSpPr>
        <p:grpSpPr>
          <a:xfrm rot="0">
            <a:off x="384810" y="2146264"/>
            <a:ext cx="1228279" cy="1228279"/>
            <a:chOff x="0" y="0"/>
            <a:chExt cx="323497" cy="323497"/>
          </a:xfrm>
        </p:grpSpPr>
        <p:sp>
          <p:nvSpPr>
            <p:cNvPr name="Freeform 10" id="10"/>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1" id="11"/>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2" id="12"/>
          <p:cNvSpPr txBox="true"/>
          <p:nvPr/>
        </p:nvSpPr>
        <p:spPr>
          <a:xfrm rot="0">
            <a:off x="2081527" y="2753513"/>
            <a:ext cx="13431747" cy="1153795"/>
          </a:xfrm>
          <a:prstGeom prst="rect">
            <a:avLst/>
          </a:prstGeom>
        </p:spPr>
        <p:txBody>
          <a:bodyPr anchor="t" rtlCol="false" tIns="0" lIns="0" bIns="0" rIns="0">
            <a:spAutoFit/>
          </a:bodyPr>
          <a:lstStyle/>
          <a:p>
            <a:pPr algn="just">
              <a:lnSpc>
                <a:spcPts val="3079"/>
              </a:lnSpc>
              <a:spcBef>
                <a:spcPct val="0"/>
              </a:spcBef>
            </a:pPr>
            <a:r>
              <a:rPr lang="en-US" sz="2199">
                <a:solidFill>
                  <a:srgbClr val="FFFFFF"/>
                </a:solidFill>
                <a:latin typeface="Open Sans"/>
                <a:ea typeface="Open Sans"/>
                <a:cs typeface="Open Sans"/>
                <a:sym typeface="Open Sans"/>
              </a:rPr>
              <a:t>start by establishing the importance of Sign Language (SL) and the goal of bridging the communication gap using technology. Define the project's scope: real-time recognition of the manual alphabet (fingerspelling) using Computer Vision.</a:t>
            </a:r>
          </a:p>
        </p:txBody>
      </p:sp>
      <p:sp>
        <p:nvSpPr>
          <p:cNvPr name="TextBox 13" id="13"/>
          <p:cNvSpPr txBox="true"/>
          <p:nvPr/>
        </p:nvSpPr>
        <p:spPr>
          <a:xfrm rot="0">
            <a:off x="2081527" y="2089114"/>
            <a:ext cx="5982250"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Introduction</a:t>
            </a:r>
          </a:p>
        </p:txBody>
      </p:sp>
      <p:sp>
        <p:nvSpPr>
          <p:cNvPr name="TextBox 14" id="14"/>
          <p:cNvSpPr txBox="true"/>
          <p:nvPr/>
        </p:nvSpPr>
        <p:spPr>
          <a:xfrm rot="0">
            <a:off x="1902695" y="4918092"/>
            <a:ext cx="15535436" cy="1470660"/>
          </a:xfrm>
          <a:prstGeom prst="rect">
            <a:avLst/>
          </a:prstGeom>
        </p:spPr>
        <p:txBody>
          <a:bodyPr anchor="t" rtlCol="false" tIns="0" lIns="0" bIns="0" rIns="0">
            <a:spAutoFit/>
          </a:bodyPr>
          <a:lstStyle/>
          <a:p>
            <a:pPr algn="just">
              <a:lnSpc>
                <a:spcPts val="2939"/>
              </a:lnSpc>
              <a:spcBef>
                <a:spcPct val="0"/>
              </a:spcBef>
            </a:pPr>
            <a:r>
              <a:rPr lang="en-US" sz="2099">
                <a:solidFill>
                  <a:srgbClr val="FFFFFF"/>
                </a:solidFill>
                <a:latin typeface="Open Sans"/>
                <a:ea typeface="Open Sans"/>
                <a:cs typeface="Open Sans"/>
                <a:sym typeface="Open Sans"/>
              </a:rPr>
              <a:t>Detail the initial attempt using the widely known SNL (Sign Language) dataset and the CNN (Convolutional Neural Network) architecture. Describe the unexpected failure: High accuracy on static images but poor, random prediction in real-time camera feed. Mention the hypothesis: The variance in the public dataset (lighting, backgrounds, and hand physiology) was too high to generalize effectively to a live camera feed.</a:t>
            </a:r>
          </a:p>
        </p:txBody>
      </p:sp>
      <p:sp>
        <p:nvSpPr>
          <p:cNvPr name="TextBox 15" id="15"/>
          <p:cNvSpPr txBox="true"/>
          <p:nvPr/>
        </p:nvSpPr>
        <p:spPr>
          <a:xfrm rot="0">
            <a:off x="1902695" y="4332487"/>
            <a:ext cx="5982250"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The Initial Challenge</a:t>
            </a:r>
          </a:p>
        </p:txBody>
      </p:sp>
      <p:grpSp>
        <p:nvGrpSpPr>
          <p:cNvPr name="Group 16" id="16"/>
          <p:cNvGrpSpPr/>
          <p:nvPr/>
        </p:nvGrpSpPr>
        <p:grpSpPr>
          <a:xfrm rot="0">
            <a:off x="384810" y="4529361"/>
            <a:ext cx="1228279" cy="1228279"/>
            <a:chOff x="0" y="0"/>
            <a:chExt cx="323497" cy="323497"/>
          </a:xfrm>
        </p:grpSpPr>
        <p:sp>
          <p:nvSpPr>
            <p:cNvPr name="Freeform 17" id="17"/>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8" id="18"/>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9" id="19"/>
          <p:cNvSpPr txBox="true"/>
          <p:nvPr/>
        </p:nvSpPr>
        <p:spPr>
          <a:xfrm rot="0">
            <a:off x="592708" y="2515945"/>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01</a:t>
            </a:r>
          </a:p>
        </p:txBody>
      </p:sp>
      <p:sp>
        <p:nvSpPr>
          <p:cNvPr name="TextBox 20" id="20"/>
          <p:cNvSpPr txBox="true"/>
          <p:nvPr/>
        </p:nvSpPr>
        <p:spPr>
          <a:xfrm rot="0">
            <a:off x="592708" y="4899042"/>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02</a:t>
            </a:r>
          </a:p>
        </p:txBody>
      </p:sp>
      <p:sp>
        <p:nvSpPr>
          <p:cNvPr name="Freeform 21" id="21"/>
          <p:cNvSpPr/>
          <p:nvPr/>
        </p:nvSpPr>
        <p:spPr>
          <a:xfrm flipH="false" flipV="false" rot="0">
            <a:off x="13018811" y="1658957"/>
            <a:ext cx="471358" cy="487306"/>
          </a:xfrm>
          <a:custGeom>
            <a:avLst/>
            <a:gdLst/>
            <a:ahLst/>
            <a:cxnLst/>
            <a:rect r="r" b="b" t="t" l="l"/>
            <a:pathLst>
              <a:path h="487306" w="471358">
                <a:moveTo>
                  <a:pt x="0" y="0"/>
                </a:moveTo>
                <a:lnTo>
                  <a:pt x="471358" y="0"/>
                </a:lnTo>
                <a:lnTo>
                  <a:pt x="471358" y="487307"/>
                </a:lnTo>
                <a:lnTo>
                  <a:pt x="0" y="487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81724" y="99080"/>
            <a:ext cx="1229970" cy="537846"/>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Open Sans Medium"/>
                <a:ea typeface="Open Sans Medium"/>
                <a:cs typeface="Open Sans Medium"/>
                <a:sym typeface="Open Sans Medium"/>
              </a:rPr>
              <a:t>DEPI</a:t>
            </a:r>
          </a:p>
        </p:txBody>
      </p:sp>
      <p:sp>
        <p:nvSpPr>
          <p:cNvPr name="TextBox 23" id="23"/>
          <p:cNvSpPr txBox="true"/>
          <p:nvPr/>
        </p:nvSpPr>
        <p:spPr>
          <a:xfrm rot="0">
            <a:off x="181724" y="629609"/>
            <a:ext cx="11812273" cy="1260439"/>
          </a:xfrm>
          <a:prstGeom prst="rect">
            <a:avLst/>
          </a:prstGeom>
        </p:spPr>
        <p:txBody>
          <a:bodyPr anchor="t" rtlCol="false" tIns="0" lIns="0" bIns="0" rIns="0">
            <a:spAutoFit/>
          </a:bodyPr>
          <a:lstStyle/>
          <a:p>
            <a:pPr algn="ctr">
              <a:lnSpc>
                <a:spcPts val="10327"/>
              </a:lnSpc>
              <a:spcBef>
                <a:spcPct val="0"/>
              </a:spcBef>
            </a:pPr>
            <a:r>
              <a:rPr lang="en-US" b="true" sz="7376">
                <a:solidFill>
                  <a:srgbClr val="FFFFFF"/>
                </a:solidFill>
                <a:latin typeface="Pattanakarn Heavy"/>
                <a:ea typeface="Pattanakarn Heavy"/>
                <a:cs typeface="Pattanakarn Heavy"/>
                <a:sym typeface="Pattanakarn Heavy"/>
              </a:rPr>
              <a:t>PROJECT OVERVIEW</a:t>
            </a:r>
          </a:p>
        </p:txBody>
      </p:sp>
      <p:sp>
        <p:nvSpPr>
          <p:cNvPr name="AutoShape 24" id="24"/>
          <p:cNvSpPr/>
          <p:nvPr/>
        </p:nvSpPr>
        <p:spPr>
          <a:xfrm>
            <a:off x="2081527" y="6758005"/>
            <a:ext cx="5982250" cy="0"/>
          </a:xfrm>
          <a:prstGeom prst="line">
            <a:avLst/>
          </a:prstGeom>
          <a:ln cap="flat" w="28575">
            <a:solidFill>
              <a:srgbClr val="FFFFFF"/>
            </a:solidFill>
            <a:prstDash val="solid"/>
            <a:headEnd type="none" len="sm" w="sm"/>
            <a:tailEnd type="none" len="sm" w="sm"/>
          </a:ln>
        </p:spPr>
      </p:sp>
      <p:sp>
        <p:nvSpPr>
          <p:cNvPr name="TextBox 25" id="25"/>
          <p:cNvSpPr txBox="true"/>
          <p:nvPr/>
        </p:nvSpPr>
        <p:spPr>
          <a:xfrm rot="0">
            <a:off x="1902695" y="7478841"/>
            <a:ext cx="15535436" cy="86042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Open Sans"/>
                <a:ea typeface="Open Sans"/>
                <a:cs typeface="Open Sans"/>
                <a:sym typeface="Open Sans"/>
              </a:rPr>
              <a:t>Introduce the critical decision to create a custom dataset. Mention the diversity gained from different team members' hands (finger size, length, and shape variations) and how this improved data relevance.</a:t>
            </a:r>
          </a:p>
        </p:txBody>
      </p:sp>
      <p:sp>
        <p:nvSpPr>
          <p:cNvPr name="TextBox 26" id="26"/>
          <p:cNvSpPr txBox="true"/>
          <p:nvPr/>
        </p:nvSpPr>
        <p:spPr>
          <a:xfrm rot="0">
            <a:off x="1902695" y="6902761"/>
            <a:ext cx="5982250"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The Pivotal Shift</a:t>
            </a:r>
          </a:p>
        </p:txBody>
      </p:sp>
      <p:grpSp>
        <p:nvGrpSpPr>
          <p:cNvPr name="Group 27" id="27"/>
          <p:cNvGrpSpPr/>
          <p:nvPr/>
        </p:nvGrpSpPr>
        <p:grpSpPr>
          <a:xfrm rot="0">
            <a:off x="384810" y="7099634"/>
            <a:ext cx="1228279" cy="1228279"/>
            <a:chOff x="0" y="0"/>
            <a:chExt cx="323497" cy="323497"/>
          </a:xfrm>
        </p:grpSpPr>
        <p:sp>
          <p:nvSpPr>
            <p:cNvPr name="Freeform 28" id="28"/>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29" id="29"/>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30" id="30"/>
          <p:cNvSpPr txBox="true"/>
          <p:nvPr/>
        </p:nvSpPr>
        <p:spPr>
          <a:xfrm rot="0">
            <a:off x="592708" y="7469316"/>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881099" y="-3883348"/>
            <a:ext cx="7394274" cy="7394274"/>
          </a:xfrm>
          <a:custGeom>
            <a:avLst/>
            <a:gdLst/>
            <a:ahLst/>
            <a:cxnLst/>
            <a:rect r="r" b="b" t="t" l="l"/>
            <a:pathLst>
              <a:path h="7394274" w="7394274">
                <a:moveTo>
                  <a:pt x="0" y="0"/>
                </a:moveTo>
                <a:lnTo>
                  <a:pt x="7394275" y="0"/>
                </a:lnTo>
                <a:lnTo>
                  <a:pt x="7394275" y="7394275"/>
                </a:lnTo>
                <a:lnTo>
                  <a:pt x="0" y="7394275"/>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0800000">
            <a:off x="-4156279" y="8250904"/>
            <a:ext cx="7394274" cy="7394274"/>
          </a:xfrm>
          <a:custGeom>
            <a:avLst/>
            <a:gdLst/>
            <a:ahLst/>
            <a:cxnLst/>
            <a:rect r="r" b="b" t="t" l="l"/>
            <a:pathLst>
              <a:path h="7394274" w="7394274">
                <a:moveTo>
                  <a:pt x="7394274" y="7394274"/>
                </a:moveTo>
                <a:lnTo>
                  <a:pt x="0" y="7394274"/>
                </a:lnTo>
                <a:lnTo>
                  <a:pt x="0" y="0"/>
                </a:lnTo>
                <a:lnTo>
                  <a:pt x="7394274" y="0"/>
                </a:lnTo>
                <a:lnTo>
                  <a:pt x="7394274" y="7394274"/>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259300" y="501367"/>
            <a:ext cx="357663" cy="271117"/>
            <a:chOff x="0" y="0"/>
            <a:chExt cx="476884" cy="361489"/>
          </a:xfrm>
        </p:grpSpPr>
        <p:sp>
          <p:nvSpPr>
            <p:cNvPr name="AutoShape 5" id="5"/>
            <p:cNvSpPr/>
            <p:nvPr/>
          </p:nvSpPr>
          <p:spPr>
            <a:xfrm>
              <a:off x="0" y="19050"/>
              <a:ext cx="476884" cy="0"/>
            </a:xfrm>
            <a:prstGeom prst="line">
              <a:avLst/>
            </a:prstGeom>
            <a:ln cap="flat" w="38100">
              <a:solidFill>
                <a:srgbClr val="FFFFFF"/>
              </a:solidFill>
              <a:prstDash val="solid"/>
              <a:headEnd type="none" len="sm" w="sm"/>
              <a:tailEnd type="none" len="sm" w="sm"/>
            </a:ln>
          </p:spPr>
        </p:sp>
        <p:sp>
          <p:nvSpPr>
            <p:cNvPr name="AutoShape 6" id="6"/>
            <p:cNvSpPr/>
            <p:nvPr/>
          </p:nvSpPr>
          <p:spPr>
            <a:xfrm>
              <a:off x="0" y="180744"/>
              <a:ext cx="476884" cy="0"/>
            </a:xfrm>
            <a:prstGeom prst="line">
              <a:avLst/>
            </a:prstGeom>
            <a:ln cap="flat" w="38100">
              <a:solidFill>
                <a:srgbClr val="FFFFFF"/>
              </a:solidFill>
              <a:prstDash val="solid"/>
              <a:headEnd type="none" len="sm" w="sm"/>
              <a:tailEnd type="none" len="sm" w="sm"/>
            </a:ln>
          </p:spPr>
        </p:sp>
        <p:sp>
          <p:nvSpPr>
            <p:cNvPr name="AutoShape 7" id="7"/>
            <p:cNvSpPr/>
            <p:nvPr/>
          </p:nvSpPr>
          <p:spPr>
            <a:xfrm>
              <a:off x="0" y="342439"/>
              <a:ext cx="476884" cy="0"/>
            </a:xfrm>
            <a:prstGeom prst="line">
              <a:avLst/>
            </a:prstGeom>
            <a:ln cap="flat" w="38100">
              <a:solidFill>
                <a:srgbClr val="FFFFFF"/>
              </a:solidFill>
              <a:prstDash val="solid"/>
              <a:headEnd type="none" len="sm" w="sm"/>
              <a:tailEnd type="none" len="sm" w="sm"/>
            </a:ln>
          </p:spPr>
        </p:sp>
      </p:grpSp>
      <p:sp>
        <p:nvSpPr>
          <p:cNvPr name="AutoShape 8" id="8"/>
          <p:cNvSpPr/>
          <p:nvPr/>
        </p:nvSpPr>
        <p:spPr>
          <a:xfrm>
            <a:off x="4893821" y="4670546"/>
            <a:ext cx="5982250" cy="0"/>
          </a:xfrm>
          <a:prstGeom prst="line">
            <a:avLst/>
          </a:prstGeom>
          <a:ln cap="flat" w="28575">
            <a:solidFill>
              <a:srgbClr val="FFFFFF"/>
            </a:solidFill>
            <a:prstDash val="solid"/>
            <a:headEnd type="none" len="sm" w="sm"/>
            <a:tailEnd type="none" len="sm" w="sm"/>
          </a:ln>
        </p:spPr>
      </p:sp>
      <p:grpSp>
        <p:nvGrpSpPr>
          <p:cNvPr name="Group 9" id="9"/>
          <p:cNvGrpSpPr/>
          <p:nvPr/>
        </p:nvGrpSpPr>
        <p:grpSpPr>
          <a:xfrm rot="0">
            <a:off x="384810" y="2023398"/>
            <a:ext cx="1228279" cy="1228279"/>
            <a:chOff x="0" y="0"/>
            <a:chExt cx="323497" cy="323497"/>
          </a:xfrm>
        </p:grpSpPr>
        <p:sp>
          <p:nvSpPr>
            <p:cNvPr name="Freeform 10" id="10"/>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1" id="11"/>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2" id="12"/>
          <p:cNvSpPr txBox="true"/>
          <p:nvPr/>
        </p:nvSpPr>
        <p:spPr>
          <a:xfrm rot="0">
            <a:off x="2081527" y="2412129"/>
            <a:ext cx="15777436" cy="1934845"/>
          </a:xfrm>
          <a:prstGeom prst="rect">
            <a:avLst/>
          </a:prstGeom>
        </p:spPr>
        <p:txBody>
          <a:bodyPr anchor="t" rtlCol="false" tIns="0" lIns="0" bIns="0" rIns="0">
            <a:spAutoFit/>
          </a:bodyPr>
          <a:lstStyle/>
          <a:p>
            <a:pPr algn="just">
              <a:lnSpc>
                <a:spcPts val="3079"/>
              </a:lnSpc>
              <a:spcBef>
                <a:spcPct val="0"/>
              </a:spcBef>
            </a:pPr>
            <a:r>
              <a:rPr lang="en-US" sz="2199">
                <a:solidFill>
                  <a:srgbClr val="FFFFFF"/>
                </a:solidFill>
                <a:latin typeface="Open Sans"/>
                <a:ea typeface="Open Sans"/>
                <a:cs typeface="Open Sans"/>
                <a:sym typeface="Open Sans"/>
              </a:rPr>
              <a:t>State the final, focused problem: To develop a robust, real-Detail the custom data collection process. Emphasize why this was crucial: The data specifically matches the operational environment (lighting, camera type, angle). Describe the preprocessing steps (e.g., background subtraction/segmentation, normalization, image resizing) necessary to isolate the hand gesture and feed clean data into the model.time computer vision system that accurately translates hand gestures for the alphabet into text, overcoming the generalization limitations of standard deep learning models on live feeds.</a:t>
            </a:r>
          </a:p>
        </p:txBody>
      </p:sp>
      <p:sp>
        <p:nvSpPr>
          <p:cNvPr name="TextBox 13" id="13"/>
          <p:cNvSpPr txBox="true"/>
          <p:nvPr/>
        </p:nvSpPr>
        <p:spPr>
          <a:xfrm rot="0">
            <a:off x="2081527" y="1966248"/>
            <a:ext cx="5982250"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Problem Statement</a:t>
            </a:r>
          </a:p>
        </p:txBody>
      </p:sp>
      <p:sp>
        <p:nvSpPr>
          <p:cNvPr name="TextBox 14" id="14"/>
          <p:cNvSpPr txBox="true"/>
          <p:nvPr/>
        </p:nvSpPr>
        <p:spPr>
          <a:xfrm rot="0">
            <a:off x="1902695" y="5482850"/>
            <a:ext cx="15535436" cy="1934845"/>
          </a:xfrm>
          <a:prstGeom prst="rect">
            <a:avLst/>
          </a:prstGeom>
        </p:spPr>
        <p:txBody>
          <a:bodyPr anchor="t" rtlCol="false" tIns="0" lIns="0" bIns="0" rIns="0">
            <a:spAutoFit/>
          </a:bodyPr>
          <a:lstStyle/>
          <a:p>
            <a:pPr algn="just">
              <a:lnSpc>
                <a:spcPts val="3079"/>
              </a:lnSpc>
            </a:pPr>
            <a:r>
              <a:rPr lang="en-US" sz="2199">
                <a:solidFill>
                  <a:srgbClr val="FFFFFF"/>
                </a:solidFill>
                <a:latin typeface="Open Sans"/>
                <a:ea typeface="Open Sans"/>
                <a:cs typeface="Open Sans"/>
                <a:sym typeface="Open Sans"/>
              </a:rPr>
              <a:t>After spending months experimenting with CNNs, the model suffered from clear overfitting. It performed extremely well on images during testing, but once I switched to the live camera, the predictions became almost random.</a:t>
            </a:r>
          </a:p>
          <a:p>
            <a:pPr algn="just">
              <a:lnSpc>
                <a:spcPts val="3079"/>
              </a:lnSpc>
            </a:pPr>
            <a:r>
              <a:rPr lang="en-US" sz="2199">
                <a:solidFill>
                  <a:srgbClr val="FFFFFF"/>
                </a:solidFill>
                <a:latin typeface="Open Sans"/>
                <a:ea typeface="Open Sans"/>
                <a:cs typeface="Open Sans"/>
                <a:sym typeface="Open Sans"/>
              </a:rPr>
              <a:t> This issue was solved when I moved to using MediaPipe for reliable feature extraction and a Random Forest Classifier for stable classification.</a:t>
            </a:r>
          </a:p>
          <a:p>
            <a:pPr algn="just">
              <a:lnSpc>
                <a:spcPts val="3079"/>
              </a:lnSpc>
              <a:spcBef>
                <a:spcPct val="0"/>
              </a:spcBef>
            </a:pPr>
            <a:r>
              <a:rPr lang="en-US" sz="2199">
                <a:solidFill>
                  <a:srgbClr val="FFFFFF"/>
                </a:solidFill>
                <a:latin typeface="Open Sans"/>
                <a:ea typeface="Open Sans"/>
                <a:cs typeface="Open Sans"/>
                <a:sym typeface="Open Sans"/>
              </a:rPr>
              <a:t> This combination delivered much higher efficiency and consistent performance in the live camera feed.</a:t>
            </a:r>
          </a:p>
        </p:txBody>
      </p:sp>
      <p:sp>
        <p:nvSpPr>
          <p:cNvPr name="TextBox 15" id="15"/>
          <p:cNvSpPr txBox="true"/>
          <p:nvPr/>
        </p:nvSpPr>
        <p:spPr>
          <a:xfrm rot="0">
            <a:off x="1902695" y="4897245"/>
            <a:ext cx="11587474"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Data Collection &amp; PreprocThe Successful Model Architectureessing</a:t>
            </a:r>
          </a:p>
        </p:txBody>
      </p:sp>
      <p:grpSp>
        <p:nvGrpSpPr>
          <p:cNvPr name="Group 16" id="16"/>
          <p:cNvGrpSpPr/>
          <p:nvPr/>
        </p:nvGrpSpPr>
        <p:grpSpPr>
          <a:xfrm rot="0">
            <a:off x="384810" y="5094118"/>
            <a:ext cx="1228279" cy="1228279"/>
            <a:chOff x="0" y="0"/>
            <a:chExt cx="323497" cy="323497"/>
          </a:xfrm>
        </p:grpSpPr>
        <p:sp>
          <p:nvSpPr>
            <p:cNvPr name="Freeform 17" id="17"/>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8" id="18"/>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9" id="19"/>
          <p:cNvSpPr txBox="true"/>
          <p:nvPr/>
        </p:nvSpPr>
        <p:spPr>
          <a:xfrm rot="0">
            <a:off x="592708" y="2393079"/>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04</a:t>
            </a:r>
          </a:p>
        </p:txBody>
      </p:sp>
      <p:sp>
        <p:nvSpPr>
          <p:cNvPr name="TextBox 20" id="20"/>
          <p:cNvSpPr txBox="true"/>
          <p:nvPr/>
        </p:nvSpPr>
        <p:spPr>
          <a:xfrm rot="0">
            <a:off x="592708" y="5463800"/>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05</a:t>
            </a:r>
          </a:p>
        </p:txBody>
      </p:sp>
      <p:sp>
        <p:nvSpPr>
          <p:cNvPr name="Freeform 21" id="21"/>
          <p:cNvSpPr/>
          <p:nvPr/>
        </p:nvSpPr>
        <p:spPr>
          <a:xfrm flipH="false" flipV="false" rot="0">
            <a:off x="13018811" y="1658957"/>
            <a:ext cx="471358" cy="487306"/>
          </a:xfrm>
          <a:custGeom>
            <a:avLst/>
            <a:gdLst/>
            <a:ahLst/>
            <a:cxnLst/>
            <a:rect r="r" b="b" t="t" l="l"/>
            <a:pathLst>
              <a:path h="487306" w="471358">
                <a:moveTo>
                  <a:pt x="0" y="0"/>
                </a:moveTo>
                <a:lnTo>
                  <a:pt x="471358" y="0"/>
                </a:lnTo>
                <a:lnTo>
                  <a:pt x="471358" y="487307"/>
                </a:lnTo>
                <a:lnTo>
                  <a:pt x="0" y="487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81724" y="99080"/>
            <a:ext cx="1229970" cy="537846"/>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Open Sans Medium"/>
                <a:ea typeface="Open Sans Medium"/>
                <a:cs typeface="Open Sans Medium"/>
                <a:sym typeface="Open Sans Medium"/>
              </a:rPr>
              <a:t>DEPI</a:t>
            </a:r>
          </a:p>
        </p:txBody>
      </p:sp>
      <p:sp>
        <p:nvSpPr>
          <p:cNvPr name="TextBox 23" id="23"/>
          <p:cNvSpPr txBox="true"/>
          <p:nvPr/>
        </p:nvSpPr>
        <p:spPr>
          <a:xfrm rot="0">
            <a:off x="181724" y="629609"/>
            <a:ext cx="11812273" cy="1260439"/>
          </a:xfrm>
          <a:prstGeom prst="rect">
            <a:avLst/>
          </a:prstGeom>
        </p:spPr>
        <p:txBody>
          <a:bodyPr anchor="t" rtlCol="false" tIns="0" lIns="0" bIns="0" rIns="0">
            <a:spAutoFit/>
          </a:bodyPr>
          <a:lstStyle/>
          <a:p>
            <a:pPr algn="ctr">
              <a:lnSpc>
                <a:spcPts val="10327"/>
              </a:lnSpc>
              <a:spcBef>
                <a:spcPct val="0"/>
              </a:spcBef>
            </a:pPr>
            <a:r>
              <a:rPr lang="en-US" b="true" sz="7376">
                <a:solidFill>
                  <a:srgbClr val="FFFFFF"/>
                </a:solidFill>
                <a:latin typeface="Pattanakarn Heavy"/>
                <a:ea typeface="Pattanakarn Heavy"/>
                <a:cs typeface="Pattanakarn Heavy"/>
                <a:sym typeface="Pattanakarn Heavy"/>
              </a:rPr>
              <a:t>PROJECT OVERVIEW</a:t>
            </a:r>
          </a:p>
        </p:txBody>
      </p:sp>
      <p:sp>
        <p:nvSpPr>
          <p:cNvPr name="AutoShape 24" id="24"/>
          <p:cNvSpPr/>
          <p:nvPr/>
        </p:nvSpPr>
        <p:spPr>
          <a:xfrm>
            <a:off x="4893821" y="7622483"/>
            <a:ext cx="5982250" cy="0"/>
          </a:xfrm>
          <a:prstGeom prst="line">
            <a:avLst/>
          </a:prstGeom>
          <a:ln cap="flat" w="28575">
            <a:solidFill>
              <a:srgbClr val="FFFFFF"/>
            </a:solidFill>
            <a:prstDash val="solid"/>
            <a:headEnd type="none" len="sm" w="sm"/>
            <a:tailEnd type="none" len="sm" w="sm"/>
          </a:ln>
        </p:spPr>
      </p:sp>
      <p:sp>
        <p:nvSpPr>
          <p:cNvPr name="TextBox 25" id="25"/>
          <p:cNvSpPr txBox="true"/>
          <p:nvPr/>
        </p:nvSpPr>
        <p:spPr>
          <a:xfrm rot="0">
            <a:off x="1902695" y="8075718"/>
            <a:ext cx="15535436" cy="2072640"/>
          </a:xfrm>
          <a:prstGeom prst="rect">
            <a:avLst/>
          </a:prstGeom>
        </p:spPr>
        <p:txBody>
          <a:bodyPr anchor="t" rtlCol="false" tIns="0" lIns="0" bIns="0" rIns="0">
            <a:spAutoFit/>
          </a:bodyPr>
          <a:lstStyle/>
          <a:p>
            <a:pPr algn="just">
              <a:lnSpc>
                <a:spcPts val="3359"/>
              </a:lnSpc>
            </a:pPr>
            <a:r>
              <a:rPr lang="en-US" sz="2399">
                <a:solidFill>
                  <a:srgbClr val="FFFFFF"/>
                </a:solidFill>
                <a:latin typeface="Open Sans"/>
                <a:ea typeface="Open Sans"/>
                <a:cs typeface="Open Sans"/>
                <a:sym typeface="Open Sans"/>
              </a:rPr>
              <a:t>The model captures key spatial and geometric features of the hand, such as finger orientation and palm position, using precise MediaPipe landmarks.</a:t>
            </a:r>
          </a:p>
          <a:p>
            <a:pPr algn="just">
              <a:lnSpc>
                <a:spcPts val="3359"/>
              </a:lnSpc>
            </a:pPr>
            <a:r>
              <a:rPr lang="en-US" sz="2399">
                <a:solidFill>
                  <a:srgbClr val="FFFFFF"/>
                </a:solidFill>
                <a:latin typeface="Open Sans"/>
                <a:ea typeface="Open Sans"/>
                <a:cs typeface="Open Sans"/>
                <a:sym typeface="Open Sans"/>
              </a:rPr>
              <a:t> These structured features allow the classifier to understand the hand’s pose more reliably.</a:t>
            </a:r>
          </a:p>
          <a:p>
            <a:pPr algn="just">
              <a:lnSpc>
                <a:spcPts val="3359"/>
              </a:lnSpc>
              <a:spcBef>
                <a:spcPct val="0"/>
              </a:spcBef>
            </a:pPr>
            <a:r>
              <a:rPr lang="en-US" sz="2399">
                <a:solidFill>
                  <a:srgbClr val="FFFFFF"/>
                </a:solidFill>
                <a:latin typeface="Open Sans"/>
                <a:ea typeface="Open Sans"/>
                <a:cs typeface="Open Sans"/>
                <a:sym typeface="Open Sans"/>
              </a:rPr>
              <a:t> This gives it a clear advantage over the previous CNN, which failed to interpret these relationships and predicted randomly in live video</a:t>
            </a:r>
            <a:r>
              <a:rPr lang="en-US" sz="2399">
                <a:solidFill>
                  <a:srgbClr val="FFFFFF"/>
                </a:solidFill>
                <a:latin typeface="Open Sans"/>
                <a:ea typeface="Open Sans"/>
                <a:cs typeface="Open Sans"/>
                <a:sym typeface="Open Sans"/>
              </a:rPr>
              <a:t>.</a:t>
            </a:r>
          </a:p>
        </p:txBody>
      </p:sp>
      <p:sp>
        <p:nvSpPr>
          <p:cNvPr name="TextBox 26" id="26"/>
          <p:cNvSpPr txBox="true"/>
          <p:nvPr/>
        </p:nvSpPr>
        <p:spPr>
          <a:xfrm rot="0">
            <a:off x="1902695" y="7630107"/>
            <a:ext cx="5982250"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Feature Engineering </a:t>
            </a:r>
          </a:p>
        </p:txBody>
      </p:sp>
      <p:grpSp>
        <p:nvGrpSpPr>
          <p:cNvPr name="Group 27" id="27"/>
          <p:cNvGrpSpPr/>
          <p:nvPr/>
        </p:nvGrpSpPr>
        <p:grpSpPr>
          <a:xfrm rot="0">
            <a:off x="384810" y="7826980"/>
            <a:ext cx="1228279" cy="1228279"/>
            <a:chOff x="0" y="0"/>
            <a:chExt cx="323497" cy="323497"/>
          </a:xfrm>
        </p:grpSpPr>
        <p:sp>
          <p:nvSpPr>
            <p:cNvPr name="Freeform 28" id="28"/>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29" id="29"/>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30" id="30"/>
          <p:cNvSpPr txBox="true"/>
          <p:nvPr/>
        </p:nvSpPr>
        <p:spPr>
          <a:xfrm rot="0">
            <a:off x="592708" y="8196662"/>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06</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881099" y="-3883348"/>
            <a:ext cx="7394274" cy="7394274"/>
          </a:xfrm>
          <a:custGeom>
            <a:avLst/>
            <a:gdLst/>
            <a:ahLst/>
            <a:cxnLst/>
            <a:rect r="r" b="b" t="t" l="l"/>
            <a:pathLst>
              <a:path h="7394274" w="7394274">
                <a:moveTo>
                  <a:pt x="0" y="0"/>
                </a:moveTo>
                <a:lnTo>
                  <a:pt x="7394275" y="0"/>
                </a:lnTo>
                <a:lnTo>
                  <a:pt x="7394275" y="7394275"/>
                </a:lnTo>
                <a:lnTo>
                  <a:pt x="0" y="7394275"/>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0800000">
            <a:off x="-5312747" y="8863715"/>
            <a:ext cx="7394274" cy="7394274"/>
          </a:xfrm>
          <a:custGeom>
            <a:avLst/>
            <a:gdLst/>
            <a:ahLst/>
            <a:cxnLst/>
            <a:rect r="r" b="b" t="t" l="l"/>
            <a:pathLst>
              <a:path h="7394274" w="7394274">
                <a:moveTo>
                  <a:pt x="7394274" y="7394274"/>
                </a:moveTo>
                <a:lnTo>
                  <a:pt x="0" y="7394274"/>
                </a:lnTo>
                <a:lnTo>
                  <a:pt x="0" y="0"/>
                </a:lnTo>
                <a:lnTo>
                  <a:pt x="7394274" y="0"/>
                </a:lnTo>
                <a:lnTo>
                  <a:pt x="7394274" y="7394274"/>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259300" y="501367"/>
            <a:ext cx="357663" cy="271117"/>
            <a:chOff x="0" y="0"/>
            <a:chExt cx="476884" cy="361489"/>
          </a:xfrm>
        </p:grpSpPr>
        <p:sp>
          <p:nvSpPr>
            <p:cNvPr name="AutoShape 5" id="5"/>
            <p:cNvSpPr/>
            <p:nvPr/>
          </p:nvSpPr>
          <p:spPr>
            <a:xfrm>
              <a:off x="0" y="19050"/>
              <a:ext cx="476884" cy="0"/>
            </a:xfrm>
            <a:prstGeom prst="line">
              <a:avLst/>
            </a:prstGeom>
            <a:ln cap="flat" w="38100">
              <a:solidFill>
                <a:srgbClr val="FFFFFF"/>
              </a:solidFill>
              <a:prstDash val="solid"/>
              <a:headEnd type="none" len="sm" w="sm"/>
              <a:tailEnd type="none" len="sm" w="sm"/>
            </a:ln>
          </p:spPr>
        </p:sp>
        <p:sp>
          <p:nvSpPr>
            <p:cNvPr name="AutoShape 6" id="6"/>
            <p:cNvSpPr/>
            <p:nvPr/>
          </p:nvSpPr>
          <p:spPr>
            <a:xfrm>
              <a:off x="0" y="180744"/>
              <a:ext cx="476884" cy="0"/>
            </a:xfrm>
            <a:prstGeom prst="line">
              <a:avLst/>
            </a:prstGeom>
            <a:ln cap="flat" w="38100">
              <a:solidFill>
                <a:srgbClr val="FFFFFF"/>
              </a:solidFill>
              <a:prstDash val="solid"/>
              <a:headEnd type="none" len="sm" w="sm"/>
              <a:tailEnd type="none" len="sm" w="sm"/>
            </a:ln>
          </p:spPr>
        </p:sp>
        <p:sp>
          <p:nvSpPr>
            <p:cNvPr name="AutoShape 7" id="7"/>
            <p:cNvSpPr/>
            <p:nvPr/>
          </p:nvSpPr>
          <p:spPr>
            <a:xfrm>
              <a:off x="0" y="342439"/>
              <a:ext cx="476884" cy="0"/>
            </a:xfrm>
            <a:prstGeom prst="line">
              <a:avLst/>
            </a:prstGeom>
            <a:ln cap="flat" w="38100">
              <a:solidFill>
                <a:srgbClr val="FFFFFF"/>
              </a:solidFill>
              <a:prstDash val="solid"/>
              <a:headEnd type="none" len="sm" w="sm"/>
              <a:tailEnd type="none" len="sm" w="sm"/>
            </a:ln>
          </p:spPr>
        </p:sp>
      </p:grpSp>
      <p:sp>
        <p:nvSpPr>
          <p:cNvPr name="AutoShape 8" id="8"/>
          <p:cNvSpPr/>
          <p:nvPr/>
        </p:nvSpPr>
        <p:spPr>
          <a:xfrm>
            <a:off x="4923571" y="5594831"/>
            <a:ext cx="5982250" cy="0"/>
          </a:xfrm>
          <a:prstGeom prst="line">
            <a:avLst/>
          </a:prstGeom>
          <a:ln cap="flat" w="28575">
            <a:solidFill>
              <a:srgbClr val="FFFFFF"/>
            </a:solidFill>
            <a:prstDash val="solid"/>
            <a:headEnd type="none" len="sm" w="sm"/>
            <a:tailEnd type="none" len="sm" w="sm"/>
          </a:ln>
        </p:spPr>
      </p:sp>
      <p:grpSp>
        <p:nvGrpSpPr>
          <p:cNvPr name="Group 9" id="9"/>
          <p:cNvGrpSpPr/>
          <p:nvPr/>
        </p:nvGrpSpPr>
        <p:grpSpPr>
          <a:xfrm rot="0">
            <a:off x="414561" y="1902610"/>
            <a:ext cx="1228279" cy="1228279"/>
            <a:chOff x="0" y="0"/>
            <a:chExt cx="323497" cy="323497"/>
          </a:xfrm>
        </p:grpSpPr>
        <p:sp>
          <p:nvSpPr>
            <p:cNvPr name="Freeform 10" id="10"/>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1" id="11"/>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2" id="12"/>
          <p:cNvSpPr txBox="true"/>
          <p:nvPr/>
        </p:nvSpPr>
        <p:spPr>
          <a:xfrm rot="0">
            <a:off x="2081527" y="2291342"/>
            <a:ext cx="12895145" cy="3030733"/>
          </a:xfrm>
          <a:prstGeom prst="rect">
            <a:avLst/>
          </a:prstGeom>
        </p:spPr>
        <p:txBody>
          <a:bodyPr anchor="t" rtlCol="false" tIns="0" lIns="0" bIns="0" rIns="0">
            <a:spAutoFit/>
          </a:bodyPr>
          <a:lstStyle/>
          <a:p>
            <a:pPr algn="just">
              <a:lnSpc>
                <a:spcPts val="3051"/>
              </a:lnSpc>
            </a:pPr>
            <a:r>
              <a:rPr lang="en-US" sz="2179">
                <a:solidFill>
                  <a:srgbClr val="FFFFFF"/>
                </a:solidFill>
                <a:latin typeface="Open Sans"/>
                <a:ea typeface="Open Sans"/>
                <a:cs typeface="Open Sans"/>
                <a:sym typeface="Open Sans"/>
              </a:rPr>
              <a:t>For live detection, the system uses OpenCV for camera input and fast image processing, ensuring a high FPS for smooth and usable real-time translation.</a:t>
            </a:r>
          </a:p>
          <a:p>
            <a:pPr algn="just">
              <a:lnSpc>
                <a:spcPts val="3051"/>
              </a:lnSpc>
            </a:pPr>
            <a:r>
              <a:rPr lang="en-US" sz="2179">
                <a:solidFill>
                  <a:srgbClr val="FFFFFF"/>
                </a:solidFill>
                <a:latin typeface="Open Sans"/>
                <a:ea typeface="Open Sans"/>
                <a:cs typeface="Open Sans"/>
                <a:sym typeface="Open Sans"/>
              </a:rPr>
              <a:t> The final model achieved 95%+ accuracy on the live feed, unlike the initial CNN which failed to generalize and produced random predictions.</a:t>
            </a:r>
          </a:p>
          <a:p>
            <a:pPr algn="just">
              <a:lnSpc>
                <a:spcPts val="3051"/>
              </a:lnSpc>
            </a:pPr>
            <a:r>
              <a:rPr lang="en-US" sz="2179">
                <a:solidFill>
                  <a:srgbClr val="FFFFFF"/>
                </a:solidFill>
                <a:latin typeface="Open Sans"/>
                <a:ea typeface="Open Sans"/>
                <a:cs typeface="Open Sans"/>
                <a:sym typeface="Open Sans"/>
              </a:rPr>
              <a:t> Key performance metrics include Accuracy, Low Latency (fast predictions), and Robustness across different users and backgrounds.</a:t>
            </a:r>
          </a:p>
          <a:p>
            <a:pPr algn="just">
              <a:lnSpc>
                <a:spcPts val="3051"/>
              </a:lnSpc>
              <a:spcBef>
                <a:spcPct val="0"/>
              </a:spcBef>
            </a:pPr>
            <a:r>
              <a:rPr lang="en-US" sz="2179">
                <a:solidFill>
                  <a:srgbClr val="FFFFFF"/>
                </a:solidFill>
                <a:latin typeface="Open Sans"/>
                <a:ea typeface="Open Sans"/>
                <a:cs typeface="Open Sans"/>
                <a:sym typeface="Open Sans"/>
              </a:rPr>
              <a:t> The main success of the project is the model’s ability to reliably generalize to unseen live data — the core goal of real-time sign detection</a:t>
            </a:r>
          </a:p>
        </p:txBody>
      </p:sp>
      <p:sp>
        <p:nvSpPr>
          <p:cNvPr name="TextBox 13" id="13"/>
          <p:cNvSpPr txBox="true"/>
          <p:nvPr/>
        </p:nvSpPr>
        <p:spPr>
          <a:xfrm rot="0">
            <a:off x="2081527" y="1899646"/>
            <a:ext cx="8487835"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Results and Evaluation</a:t>
            </a:r>
          </a:p>
        </p:txBody>
      </p:sp>
      <p:sp>
        <p:nvSpPr>
          <p:cNvPr name="TextBox 14" id="14"/>
          <p:cNvSpPr txBox="true"/>
          <p:nvPr/>
        </p:nvSpPr>
        <p:spPr>
          <a:xfrm rot="0">
            <a:off x="1990160" y="6537623"/>
            <a:ext cx="15535436" cy="763270"/>
          </a:xfrm>
          <a:prstGeom prst="rect">
            <a:avLst/>
          </a:prstGeom>
        </p:spPr>
        <p:txBody>
          <a:bodyPr anchor="t" rtlCol="false" tIns="0" lIns="0" bIns="0" rIns="0">
            <a:spAutoFit/>
          </a:bodyPr>
          <a:lstStyle/>
          <a:p>
            <a:pPr algn="just">
              <a:lnSpc>
                <a:spcPts val="3079"/>
              </a:lnSpc>
            </a:pPr>
            <a:r>
              <a:rPr lang="en-US" sz="2199">
                <a:solidFill>
                  <a:srgbClr val="FFFFFF"/>
                </a:solidFill>
                <a:latin typeface="Open Sans"/>
                <a:ea typeface="Open Sans"/>
                <a:cs typeface="Open Sans"/>
                <a:sym typeface="Open Sans"/>
              </a:rPr>
              <a:t>The project enables text input through hand gestures, making communication more accessible.</a:t>
            </a:r>
          </a:p>
          <a:p>
            <a:pPr algn="just">
              <a:lnSpc>
                <a:spcPts val="3079"/>
              </a:lnSpc>
              <a:spcBef>
                <a:spcPct val="0"/>
              </a:spcBef>
            </a:pPr>
            <a:r>
              <a:rPr lang="en-US" sz="2199">
                <a:solidFill>
                  <a:srgbClr val="FFFFFF"/>
                </a:solidFill>
                <a:latin typeface="Open Sans"/>
                <a:ea typeface="Open Sans"/>
                <a:cs typeface="Open Sans"/>
                <a:sym typeface="Open Sans"/>
              </a:rPr>
              <a:t> It can be extended to full words, commands, and assistive technology for people with speech impairments</a:t>
            </a:r>
            <a:r>
              <a:rPr lang="en-US" sz="2199">
                <a:solidFill>
                  <a:srgbClr val="FFFFFF"/>
                </a:solidFill>
                <a:latin typeface="Open Sans"/>
                <a:ea typeface="Open Sans"/>
                <a:cs typeface="Open Sans"/>
                <a:sym typeface="Open Sans"/>
              </a:rPr>
              <a:t>.</a:t>
            </a:r>
          </a:p>
        </p:txBody>
      </p:sp>
      <p:sp>
        <p:nvSpPr>
          <p:cNvPr name="TextBox 15" id="15"/>
          <p:cNvSpPr txBox="true"/>
          <p:nvPr/>
        </p:nvSpPr>
        <p:spPr>
          <a:xfrm rot="0">
            <a:off x="1990160" y="5952018"/>
            <a:ext cx="11587474"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Application and Impact</a:t>
            </a:r>
          </a:p>
        </p:txBody>
      </p:sp>
      <p:grpSp>
        <p:nvGrpSpPr>
          <p:cNvPr name="Group 16" id="16"/>
          <p:cNvGrpSpPr/>
          <p:nvPr/>
        </p:nvGrpSpPr>
        <p:grpSpPr>
          <a:xfrm rot="0">
            <a:off x="472274" y="6009168"/>
            <a:ext cx="1228279" cy="1228279"/>
            <a:chOff x="0" y="0"/>
            <a:chExt cx="323497" cy="323497"/>
          </a:xfrm>
        </p:grpSpPr>
        <p:sp>
          <p:nvSpPr>
            <p:cNvPr name="Freeform 17" id="17"/>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8" id="18"/>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9" id="19"/>
          <p:cNvSpPr txBox="true"/>
          <p:nvPr/>
        </p:nvSpPr>
        <p:spPr>
          <a:xfrm rot="0">
            <a:off x="622458" y="2272292"/>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07</a:t>
            </a:r>
          </a:p>
        </p:txBody>
      </p:sp>
      <p:sp>
        <p:nvSpPr>
          <p:cNvPr name="TextBox 20" id="20"/>
          <p:cNvSpPr txBox="true"/>
          <p:nvPr/>
        </p:nvSpPr>
        <p:spPr>
          <a:xfrm rot="0">
            <a:off x="680172" y="6378850"/>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08</a:t>
            </a:r>
          </a:p>
        </p:txBody>
      </p:sp>
      <p:sp>
        <p:nvSpPr>
          <p:cNvPr name="Freeform 21" id="21"/>
          <p:cNvSpPr/>
          <p:nvPr/>
        </p:nvSpPr>
        <p:spPr>
          <a:xfrm flipH="false" flipV="false" rot="0">
            <a:off x="13018811" y="1658957"/>
            <a:ext cx="471358" cy="487306"/>
          </a:xfrm>
          <a:custGeom>
            <a:avLst/>
            <a:gdLst/>
            <a:ahLst/>
            <a:cxnLst/>
            <a:rect r="r" b="b" t="t" l="l"/>
            <a:pathLst>
              <a:path h="487306" w="471358">
                <a:moveTo>
                  <a:pt x="0" y="0"/>
                </a:moveTo>
                <a:lnTo>
                  <a:pt x="471358" y="0"/>
                </a:lnTo>
                <a:lnTo>
                  <a:pt x="471358" y="487307"/>
                </a:lnTo>
                <a:lnTo>
                  <a:pt x="0" y="487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81724" y="99080"/>
            <a:ext cx="1229970" cy="537846"/>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Open Sans Medium"/>
                <a:ea typeface="Open Sans Medium"/>
                <a:cs typeface="Open Sans Medium"/>
                <a:sym typeface="Open Sans Medium"/>
              </a:rPr>
              <a:t>DEPI</a:t>
            </a:r>
          </a:p>
        </p:txBody>
      </p:sp>
      <p:sp>
        <p:nvSpPr>
          <p:cNvPr name="TextBox 23" id="23"/>
          <p:cNvSpPr txBox="true"/>
          <p:nvPr/>
        </p:nvSpPr>
        <p:spPr>
          <a:xfrm rot="0">
            <a:off x="0" y="494051"/>
            <a:ext cx="11812273" cy="1260439"/>
          </a:xfrm>
          <a:prstGeom prst="rect">
            <a:avLst/>
          </a:prstGeom>
        </p:spPr>
        <p:txBody>
          <a:bodyPr anchor="t" rtlCol="false" tIns="0" lIns="0" bIns="0" rIns="0">
            <a:spAutoFit/>
          </a:bodyPr>
          <a:lstStyle/>
          <a:p>
            <a:pPr algn="ctr">
              <a:lnSpc>
                <a:spcPts val="10327"/>
              </a:lnSpc>
              <a:spcBef>
                <a:spcPct val="0"/>
              </a:spcBef>
            </a:pPr>
            <a:r>
              <a:rPr lang="en-US" b="true" sz="7376">
                <a:solidFill>
                  <a:srgbClr val="FFFFFF"/>
                </a:solidFill>
                <a:latin typeface="Pattanakarn Heavy"/>
                <a:ea typeface="Pattanakarn Heavy"/>
                <a:cs typeface="Pattanakarn Heavy"/>
                <a:sym typeface="Pattanakarn Heavy"/>
              </a:rPr>
              <a:t>PROJECT OVERVIEW</a:t>
            </a:r>
          </a:p>
        </p:txBody>
      </p:sp>
      <p:sp>
        <p:nvSpPr>
          <p:cNvPr name="AutoShape 24" id="24"/>
          <p:cNvSpPr/>
          <p:nvPr/>
        </p:nvSpPr>
        <p:spPr>
          <a:xfrm>
            <a:off x="3780097" y="7710468"/>
            <a:ext cx="5982250" cy="0"/>
          </a:xfrm>
          <a:prstGeom prst="line">
            <a:avLst/>
          </a:prstGeom>
          <a:ln cap="flat" w="28575">
            <a:solidFill>
              <a:srgbClr val="FFFFFF"/>
            </a:solidFill>
            <a:prstDash val="solid"/>
            <a:headEnd type="none" len="sm" w="sm"/>
            <a:tailEnd type="none" len="sm" w="sm"/>
          </a:ln>
        </p:spPr>
      </p:sp>
      <p:sp>
        <p:nvSpPr>
          <p:cNvPr name="TextBox 25" id="25"/>
          <p:cNvSpPr txBox="true"/>
          <p:nvPr/>
        </p:nvSpPr>
        <p:spPr>
          <a:xfrm rot="0">
            <a:off x="1932446" y="8648499"/>
            <a:ext cx="16013982" cy="763270"/>
          </a:xfrm>
          <a:prstGeom prst="rect">
            <a:avLst/>
          </a:prstGeom>
        </p:spPr>
        <p:txBody>
          <a:bodyPr anchor="t" rtlCol="false" tIns="0" lIns="0" bIns="0" rIns="0">
            <a:spAutoFit/>
          </a:bodyPr>
          <a:lstStyle/>
          <a:p>
            <a:pPr algn="just">
              <a:lnSpc>
                <a:spcPts val="3079"/>
              </a:lnSpc>
            </a:pPr>
            <a:r>
              <a:rPr lang="en-US" sz="2199">
                <a:solidFill>
                  <a:srgbClr val="FFFFFF"/>
                </a:solidFill>
                <a:latin typeface="Open Sans"/>
                <a:ea typeface="Open Sans"/>
                <a:cs typeface="Open Sans"/>
                <a:sym typeface="Open Sans"/>
              </a:rPr>
              <a:t>Next Steps: Expand dataset, add full Sign Language vocabulary, optimize deployment, and track gesture sequences.</a:t>
            </a:r>
          </a:p>
          <a:p>
            <a:pPr algn="just">
              <a:lnSpc>
                <a:spcPts val="3079"/>
              </a:lnSpc>
              <a:spcBef>
                <a:spcPct val="0"/>
              </a:spcBef>
            </a:pPr>
            <a:r>
              <a:rPr lang="en-US" sz="2199">
                <a:solidFill>
                  <a:srgbClr val="FFFFFF"/>
                </a:solidFill>
                <a:latin typeface="Open Sans"/>
                <a:ea typeface="Open Sans"/>
                <a:cs typeface="Open Sans"/>
                <a:sym typeface="Open Sans"/>
              </a:rPr>
              <a:t>Summary: Quality data and the right model matter more than popular architectures or public datasets.</a:t>
            </a:r>
          </a:p>
        </p:txBody>
      </p:sp>
      <p:sp>
        <p:nvSpPr>
          <p:cNvPr name="TextBox 26" id="26"/>
          <p:cNvSpPr txBox="true"/>
          <p:nvPr/>
        </p:nvSpPr>
        <p:spPr>
          <a:xfrm rot="0">
            <a:off x="1932446" y="8062893"/>
            <a:ext cx="5982250"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Future Work &amp; Conclusion</a:t>
            </a:r>
          </a:p>
        </p:txBody>
      </p:sp>
      <p:grpSp>
        <p:nvGrpSpPr>
          <p:cNvPr name="Group 27" id="27"/>
          <p:cNvGrpSpPr/>
          <p:nvPr/>
        </p:nvGrpSpPr>
        <p:grpSpPr>
          <a:xfrm rot="0">
            <a:off x="414561" y="8120043"/>
            <a:ext cx="1228279" cy="1228279"/>
            <a:chOff x="0" y="0"/>
            <a:chExt cx="323497" cy="323497"/>
          </a:xfrm>
        </p:grpSpPr>
        <p:sp>
          <p:nvSpPr>
            <p:cNvPr name="Freeform 28" id="28"/>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29" id="29"/>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30" id="30"/>
          <p:cNvSpPr txBox="true"/>
          <p:nvPr/>
        </p:nvSpPr>
        <p:spPr>
          <a:xfrm rot="0">
            <a:off x="622458" y="8489725"/>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09</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881099" y="-3883348"/>
            <a:ext cx="7394274" cy="7394274"/>
          </a:xfrm>
          <a:custGeom>
            <a:avLst/>
            <a:gdLst/>
            <a:ahLst/>
            <a:cxnLst/>
            <a:rect r="r" b="b" t="t" l="l"/>
            <a:pathLst>
              <a:path h="7394274" w="7394274">
                <a:moveTo>
                  <a:pt x="0" y="0"/>
                </a:moveTo>
                <a:lnTo>
                  <a:pt x="7394275" y="0"/>
                </a:lnTo>
                <a:lnTo>
                  <a:pt x="7394275" y="7394275"/>
                </a:lnTo>
                <a:lnTo>
                  <a:pt x="0" y="7394275"/>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0800000">
            <a:off x="-5312747" y="8863715"/>
            <a:ext cx="7394274" cy="7394274"/>
          </a:xfrm>
          <a:custGeom>
            <a:avLst/>
            <a:gdLst/>
            <a:ahLst/>
            <a:cxnLst/>
            <a:rect r="r" b="b" t="t" l="l"/>
            <a:pathLst>
              <a:path h="7394274" w="7394274">
                <a:moveTo>
                  <a:pt x="7394274" y="7394274"/>
                </a:moveTo>
                <a:lnTo>
                  <a:pt x="0" y="7394274"/>
                </a:lnTo>
                <a:lnTo>
                  <a:pt x="0" y="0"/>
                </a:lnTo>
                <a:lnTo>
                  <a:pt x="7394274" y="0"/>
                </a:lnTo>
                <a:lnTo>
                  <a:pt x="7394274" y="7394274"/>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259300" y="501367"/>
            <a:ext cx="357663" cy="271117"/>
            <a:chOff x="0" y="0"/>
            <a:chExt cx="476884" cy="361489"/>
          </a:xfrm>
        </p:grpSpPr>
        <p:sp>
          <p:nvSpPr>
            <p:cNvPr name="AutoShape 5" id="5"/>
            <p:cNvSpPr/>
            <p:nvPr/>
          </p:nvSpPr>
          <p:spPr>
            <a:xfrm>
              <a:off x="0" y="19050"/>
              <a:ext cx="476884" cy="0"/>
            </a:xfrm>
            <a:prstGeom prst="line">
              <a:avLst/>
            </a:prstGeom>
            <a:ln cap="flat" w="38100">
              <a:solidFill>
                <a:srgbClr val="FFFFFF"/>
              </a:solidFill>
              <a:prstDash val="solid"/>
              <a:headEnd type="none" len="sm" w="sm"/>
              <a:tailEnd type="none" len="sm" w="sm"/>
            </a:ln>
          </p:spPr>
        </p:sp>
        <p:sp>
          <p:nvSpPr>
            <p:cNvPr name="AutoShape 6" id="6"/>
            <p:cNvSpPr/>
            <p:nvPr/>
          </p:nvSpPr>
          <p:spPr>
            <a:xfrm>
              <a:off x="0" y="180744"/>
              <a:ext cx="476884" cy="0"/>
            </a:xfrm>
            <a:prstGeom prst="line">
              <a:avLst/>
            </a:prstGeom>
            <a:ln cap="flat" w="38100">
              <a:solidFill>
                <a:srgbClr val="FFFFFF"/>
              </a:solidFill>
              <a:prstDash val="solid"/>
              <a:headEnd type="none" len="sm" w="sm"/>
              <a:tailEnd type="none" len="sm" w="sm"/>
            </a:ln>
          </p:spPr>
        </p:sp>
        <p:sp>
          <p:nvSpPr>
            <p:cNvPr name="AutoShape 7" id="7"/>
            <p:cNvSpPr/>
            <p:nvPr/>
          </p:nvSpPr>
          <p:spPr>
            <a:xfrm>
              <a:off x="0" y="342439"/>
              <a:ext cx="476884" cy="0"/>
            </a:xfrm>
            <a:prstGeom prst="line">
              <a:avLst/>
            </a:prstGeom>
            <a:ln cap="flat" w="38100">
              <a:solidFill>
                <a:srgbClr val="FFFFFF"/>
              </a:solidFill>
              <a:prstDash val="solid"/>
              <a:headEnd type="none" len="sm" w="sm"/>
              <a:tailEnd type="none" len="sm" w="sm"/>
            </a:ln>
          </p:spPr>
        </p:sp>
      </p:grpSp>
      <p:sp>
        <p:nvSpPr>
          <p:cNvPr name="AutoShape 8" id="8"/>
          <p:cNvSpPr/>
          <p:nvPr/>
        </p:nvSpPr>
        <p:spPr>
          <a:xfrm>
            <a:off x="5293123" y="5501241"/>
            <a:ext cx="5982250" cy="0"/>
          </a:xfrm>
          <a:prstGeom prst="line">
            <a:avLst/>
          </a:prstGeom>
          <a:ln cap="flat" w="28575">
            <a:solidFill>
              <a:srgbClr val="FFFFFF"/>
            </a:solidFill>
            <a:prstDash val="solid"/>
            <a:headEnd type="none" len="sm" w="sm"/>
            <a:tailEnd type="none" len="sm" w="sm"/>
          </a:ln>
        </p:spPr>
      </p:sp>
      <p:sp>
        <p:nvSpPr>
          <p:cNvPr name="TextBox 9" id="9"/>
          <p:cNvSpPr txBox="true"/>
          <p:nvPr/>
        </p:nvSpPr>
        <p:spPr>
          <a:xfrm rot="0">
            <a:off x="796709" y="1769260"/>
            <a:ext cx="15777436" cy="348932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Open Sans"/>
                <a:ea typeface="Open Sans"/>
                <a:cs typeface="Open Sans"/>
                <a:sym typeface="Open Sans"/>
              </a:rPr>
              <a:t>Sign Language (SL) is a vital form of communication for millions of individuals globally. Our project is driven by the imperative to leverage modern technology to enhance accessibility, foster inclusion, and provide innovative solutions for the Deaf and Hard of Hearing community. Specifically, we aim to address the need for reliable, accessible, and low-cost methods for real-time translation of the manual alphabet (fingerspelling) into text. By turning any standard computer camera into an effective tool, we seek to enable a natural, hands-free text input method that can significantly improve interaction and communication for users in various settings. This effort aligns with the broader mission of using Computer Vision (CV) to create truly helpful assistive technologies.</a:t>
            </a:r>
          </a:p>
        </p:txBody>
      </p:sp>
      <p:sp>
        <p:nvSpPr>
          <p:cNvPr name="Freeform 10" id="10"/>
          <p:cNvSpPr/>
          <p:nvPr/>
        </p:nvSpPr>
        <p:spPr>
          <a:xfrm flipH="false" flipV="false" rot="0">
            <a:off x="13018811" y="1658957"/>
            <a:ext cx="471358" cy="487306"/>
          </a:xfrm>
          <a:custGeom>
            <a:avLst/>
            <a:gdLst/>
            <a:ahLst/>
            <a:cxnLst/>
            <a:rect r="r" b="b" t="t" l="l"/>
            <a:pathLst>
              <a:path h="487306" w="471358">
                <a:moveTo>
                  <a:pt x="0" y="0"/>
                </a:moveTo>
                <a:lnTo>
                  <a:pt x="471358" y="0"/>
                </a:lnTo>
                <a:lnTo>
                  <a:pt x="471358" y="487307"/>
                </a:lnTo>
                <a:lnTo>
                  <a:pt x="0" y="487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81724" y="99080"/>
            <a:ext cx="1229970" cy="537846"/>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Open Sans Medium"/>
                <a:ea typeface="Open Sans Medium"/>
                <a:cs typeface="Open Sans Medium"/>
                <a:sym typeface="Open Sans Medium"/>
              </a:rPr>
              <a:t>DEPI</a:t>
            </a:r>
          </a:p>
        </p:txBody>
      </p:sp>
      <p:sp>
        <p:nvSpPr>
          <p:cNvPr name="TextBox 12" id="12"/>
          <p:cNvSpPr txBox="true"/>
          <p:nvPr/>
        </p:nvSpPr>
        <p:spPr>
          <a:xfrm rot="0">
            <a:off x="181724" y="589467"/>
            <a:ext cx="7069341" cy="1227419"/>
          </a:xfrm>
          <a:prstGeom prst="rect">
            <a:avLst/>
          </a:prstGeom>
        </p:spPr>
        <p:txBody>
          <a:bodyPr anchor="t" rtlCol="false" tIns="0" lIns="0" bIns="0" rIns="0">
            <a:spAutoFit/>
          </a:bodyPr>
          <a:lstStyle/>
          <a:p>
            <a:pPr algn="ctr">
              <a:lnSpc>
                <a:spcPts val="10047"/>
              </a:lnSpc>
              <a:spcBef>
                <a:spcPct val="0"/>
              </a:spcBef>
            </a:pPr>
            <a:r>
              <a:rPr lang="en-US" b="true" sz="7176">
                <a:solidFill>
                  <a:srgbClr val="FFFFFF"/>
                </a:solidFill>
                <a:latin typeface="Pattanakarn Heavy"/>
                <a:ea typeface="Pattanakarn Heavy"/>
                <a:cs typeface="Pattanakarn Heavy"/>
                <a:sym typeface="Pattanakarn Heavy"/>
              </a:rPr>
              <a:t>MOTIVATION</a:t>
            </a:r>
          </a:p>
        </p:txBody>
      </p:sp>
      <p:sp>
        <p:nvSpPr>
          <p:cNvPr name="TextBox 13" id="13"/>
          <p:cNvSpPr txBox="true"/>
          <p:nvPr/>
        </p:nvSpPr>
        <p:spPr>
          <a:xfrm rot="0">
            <a:off x="796709" y="6647697"/>
            <a:ext cx="15777436" cy="348932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Open Sans"/>
                <a:ea typeface="Open Sans"/>
                <a:cs typeface="Open Sans"/>
                <a:sym typeface="Open Sans"/>
              </a:rPr>
              <a:t>Our initial technical investigation involved training Convolutional Neural Networks (CNNs) on large, publicly available datasets, such as the widely known Sign Language dataset (SNL). This approach successfully yielded high accuracy on static test images. However, a critical failure occurred when the model was deployed into the target environment: the live webcam feed. The system exhibited random, unusable predictions in real-time. We identified the core technical problem as a severe lack of generalization. The high variance found in public datasets—stemming from diverse lighting, varied backgrounds, and significant differences in hand physiology (finger size, length, and shape)—did not match our local operating conditions</a:t>
            </a:r>
          </a:p>
        </p:txBody>
      </p:sp>
      <p:sp>
        <p:nvSpPr>
          <p:cNvPr name="TextBox 14" id="14"/>
          <p:cNvSpPr txBox="true"/>
          <p:nvPr/>
        </p:nvSpPr>
        <p:spPr>
          <a:xfrm rot="0">
            <a:off x="181724" y="5496478"/>
            <a:ext cx="17077576" cy="1019773"/>
          </a:xfrm>
          <a:prstGeom prst="rect">
            <a:avLst/>
          </a:prstGeom>
        </p:spPr>
        <p:txBody>
          <a:bodyPr anchor="t" rtlCol="false" tIns="0" lIns="0" bIns="0" rIns="0">
            <a:spAutoFit/>
          </a:bodyPr>
          <a:lstStyle/>
          <a:p>
            <a:pPr algn="ctr">
              <a:lnSpc>
                <a:spcPts val="8367"/>
              </a:lnSpc>
              <a:spcBef>
                <a:spcPct val="0"/>
              </a:spcBef>
            </a:pPr>
            <a:r>
              <a:rPr lang="en-US" b="true" sz="5976">
                <a:solidFill>
                  <a:srgbClr val="FFFFFF"/>
                </a:solidFill>
                <a:latin typeface="Pattanakarn Heavy"/>
                <a:ea typeface="Pattanakarn Heavy"/>
                <a:cs typeface="Pattanakarn Heavy"/>
                <a:sym typeface="Pattanakarn Heavy"/>
              </a:rPr>
              <a:t>THE GENERALIZATION CHALLENGE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881099" y="-3883348"/>
            <a:ext cx="7394274" cy="7394274"/>
          </a:xfrm>
          <a:custGeom>
            <a:avLst/>
            <a:gdLst/>
            <a:ahLst/>
            <a:cxnLst/>
            <a:rect r="r" b="b" t="t" l="l"/>
            <a:pathLst>
              <a:path h="7394274" w="7394274">
                <a:moveTo>
                  <a:pt x="0" y="0"/>
                </a:moveTo>
                <a:lnTo>
                  <a:pt x="7394275" y="0"/>
                </a:lnTo>
                <a:lnTo>
                  <a:pt x="7394275" y="7394275"/>
                </a:lnTo>
                <a:lnTo>
                  <a:pt x="0" y="7394275"/>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0800000">
            <a:off x="-5312747" y="8863715"/>
            <a:ext cx="7394274" cy="7394274"/>
          </a:xfrm>
          <a:custGeom>
            <a:avLst/>
            <a:gdLst/>
            <a:ahLst/>
            <a:cxnLst/>
            <a:rect r="r" b="b" t="t" l="l"/>
            <a:pathLst>
              <a:path h="7394274" w="7394274">
                <a:moveTo>
                  <a:pt x="7394274" y="7394274"/>
                </a:moveTo>
                <a:lnTo>
                  <a:pt x="0" y="7394274"/>
                </a:lnTo>
                <a:lnTo>
                  <a:pt x="0" y="0"/>
                </a:lnTo>
                <a:lnTo>
                  <a:pt x="7394274" y="0"/>
                </a:lnTo>
                <a:lnTo>
                  <a:pt x="7394274" y="7394274"/>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259300" y="501367"/>
            <a:ext cx="357663" cy="271117"/>
            <a:chOff x="0" y="0"/>
            <a:chExt cx="476884" cy="361489"/>
          </a:xfrm>
        </p:grpSpPr>
        <p:sp>
          <p:nvSpPr>
            <p:cNvPr name="AutoShape 5" id="5"/>
            <p:cNvSpPr/>
            <p:nvPr/>
          </p:nvSpPr>
          <p:spPr>
            <a:xfrm>
              <a:off x="0" y="19050"/>
              <a:ext cx="476884" cy="0"/>
            </a:xfrm>
            <a:prstGeom prst="line">
              <a:avLst/>
            </a:prstGeom>
            <a:ln cap="flat" w="38100">
              <a:solidFill>
                <a:srgbClr val="FFFFFF"/>
              </a:solidFill>
              <a:prstDash val="solid"/>
              <a:headEnd type="none" len="sm" w="sm"/>
              <a:tailEnd type="none" len="sm" w="sm"/>
            </a:ln>
          </p:spPr>
        </p:sp>
        <p:sp>
          <p:nvSpPr>
            <p:cNvPr name="AutoShape 6" id="6"/>
            <p:cNvSpPr/>
            <p:nvPr/>
          </p:nvSpPr>
          <p:spPr>
            <a:xfrm>
              <a:off x="0" y="180744"/>
              <a:ext cx="476884" cy="0"/>
            </a:xfrm>
            <a:prstGeom prst="line">
              <a:avLst/>
            </a:prstGeom>
            <a:ln cap="flat" w="38100">
              <a:solidFill>
                <a:srgbClr val="FFFFFF"/>
              </a:solidFill>
              <a:prstDash val="solid"/>
              <a:headEnd type="none" len="sm" w="sm"/>
              <a:tailEnd type="none" len="sm" w="sm"/>
            </a:ln>
          </p:spPr>
        </p:sp>
        <p:sp>
          <p:nvSpPr>
            <p:cNvPr name="AutoShape 7" id="7"/>
            <p:cNvSpPr/>
            <p:nvPr/>
          </p:nvSpPr>
          <p:spPr>
            <a:xfrm>
              <a:off x="0" y="342439"/>
              <a:ext cx="476884" cy="0"/>
            </a:xfrm>
            <a:prstGeom prst="line">
              <a:avLst/>
            </a:prstGeom>
            <a:ln cap="flat" w="38100">
              <a:solidFill>
                <a:srgbClr val="FFFFFF"/>
              </a:solidFill>
              <a:prstDash val="solid"/>
              <a:headEnd type="none" len="sm" w="sm"/>
              <a:tailEnd type="none" len="sm" w="sm"/>
            </a:ln>
          </p:spPr>
        </p:sp>
      </p:grpSp>
      <p:sp>
        <p:nvSpPr>
          <p:cNvPr name="AutoShape 8" id="8"/>
          <p:cNvSpPr/>
          <p:nvPr/>
        </p:nvSpPr>
        <p:spPr>
          <a:xfrm>
            <a:off x="4748448" y="3908857"/>
            <a:ext cx="5982250" cy="0"/>
          </a:xfrm>
          <a:prstGeom prst="line">
            <a:avLst/>
          </a:prstGeom>
          <a:ln cap="flat" w="28575">
            <a:solidFill>
              <a:srgbClr val="FFFFFF"/>
            </a:solidFill>
            <a:prstDash val="solid"/>
            <a:headEnd type="none" len="sm" w="sm"/>
            <a:tailEnd type="none" len="sm" w="sm"/>
          </a:ln>
        </p:spPr>
      </p:sp>
      <p:grpSp>
        <p:nvGrpSpPr>
          <p:cNvPr name="Group 9" id="9"/>
          <p:cNvGrpSpPr/>
          <p:nvPr/>
        </p:nvGrpSpPr>
        <p:grpSpPr>
          <a:xfrm rot="0">
            <a:off x="414561" y="1902610"/>
            <a:ext cx="1228279" cy="1228279"/>
            <a:chOff x="0" y="0"/>
            <a:chExt cx="323497" cy="323497"/>
          </a:xfrm>
        </p:grpSpPr>
        <p:sp>
          <p:nvSpPr>
            <p:cNvPr name="Freeform 10" id="10"/>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1" id="11"/>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2" id="12"/>
          <p:cNvSpPr txBox="true"/>
          <p:nvPr/>
        </p:nvSpPr>
        <p:spPr>
          <a:xfrm rot="0">
            <a:off x="2081527" y="2383904"/>
            <a:ext cx="15777436" cy="1234440"/>
          </a:xfrm>
          <a:prstGeom prst="rect">
            <a:avLst/>
          </a:prstGeom>
        </p:spPr>
        <p:txBody>
          <a:bodyPr anchor="t" rtlCol="false" tIns="0" lIns="0" bIns="0" rIns="0">
            <a:spAutoFit/>
          </a:bodyPr>
          <a:lstStyle/>
          <a:p>
            <a:pPr algn="just">
              <a:lnSpc>
                <a:spcPts val="3359"/>
              </a:lnSpc>
              <a:spcBef>
                <a:spcPct val="0"/>
              </a:spcBef>
            </a:pPr>
            <a:r>
              <a:rPr lang="en-US" sz="2399">
                <a:solidFill>
                  <a:srgbClr val="FFFFFF"/>
                </a:solidFill>
                <a:latin typeface="Open Sans"/>
                <a:ea typeface="Open Sans"/>
                <a:cs typeface="Open Sans"/>
                <a:sym typeface="Open Sans"/>
              </a:rPr>
              <a:t>Expand the Custom Dataset: Systematically collect data from a significantly larger and more diverse user base (different ages, genders, skin tones) and under varying real-world conditions (different lighting levels and backgrounds) to further boost the model's generalization capabilities.</a:t>
            </a:r>
          </a:p>
        </p:txBody>
      </p:sp>
      <p:sp>
        <p:nvSpPr>
          <p:cNvPr name="TextBox 13" id="13"/>
          <p:cNvSpPr txBox="true"/>
          <p:nvPr/>
        </p:nvSpPr>
        <p:spPr>
          <a:xfrm rot="0">
            <a:off x="2081527" y="1899646"/>
            <a:ext cx="8487835"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Dataset Expansion and Robustness</a:t>
            </a:r>
          </a:p>
        </p:txBody>
      </p:sp>
      <p:sp>
        <p:nvSpPr>
          <p:cNvPr name="TextBox 14" id="14"/>
          <p:cNvSpPr txBox="true"/>
          <p:nvPr/>
        </p:nvSpPr>
        <p:spPr>
          <a:xfrm rot="0">
            <a:off x="1757323" y="4642099"/>
            <a:ext cx="15535436" cy="1153795"/>
          </a:xfrm>
          <a:prstGeom prst="rect">
            <a:avLst/>
          </a:prstGeom>
        </p:spPr>
        <p:txBody>
          <a:bodyPr anchor="t" rtlCol="false" tIns="0" lIns="0" bIns="0" rIns="0">
            <a:spAutoFit/>
          </a:bodyPr>
          <a:lstStyle/>
          <a:p>
            <a:pPr algn="just">
              <a:lnSpc>
                <a:spcPts val="3079"/>
              </a:lnSpc>
              <a:spcBef>
                <a:spcPct val="0"/>
              </a:spcBef>
            </a:pPr>
            <a:r>
              <a:rPr lang="en-US" sz="2199">
                <a:solidFill>
                  <a:srgbClr val="FFFFFF"/>
                </a:solidFill>
                <a:latin typeface="Open Sans"/>
                <a:ea typeface="Open Sans"/>
                <a:cs typeface="Open Sans"/>
                <a:sym typeface="Open Sans"/>
              </a:rPr>
              <a:t>Transition from Fingerspelling to Full Signs: Develop the model to recognize not just individual letters (fingerspelling) but complete, common Sign Language vocabulary words. This would require integrating temporal analysis (tracking the movement and sequence of signs over time).</a:t>
            </a:r>
          </a:p>
        </p:txBody>
      </p:sp>
      <p:sp>
        <p:nvSpPr>
          <p:cNvPr name="TextBox 15" id="15"/>
          <p:cNvSpPr txBox="true"/>
          <p:nvPr/>
        </p:nvSpPr>
        <p:spPr>
          <a:xfrm rot="0">
            <a:off x="1757323" y="4056494"/>
            <a:ext cx="11587474"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Feature and Scope Enhancement</a:t>
            </a:r>
          </a:p>
        </p:txBody>
      </p:sp>
      <p:grpSp>
        <p:nvGrpSpPr>
          <p:cNvPr name="Group 16" id="16"/>
          <p:cNvGrpSpPr/>
          <p:nvPr/>
        </p:nvGrpSpPr>
        <p:grpSpPr>
          <a:xfrm rot="0">
            <a:off x="239437" y="4113644"/>
            <a:ext cx="1228279" cy="1228279"/>
            <a:chOff x="0" y="0"/>
            <a:chExt cx="323497" cy="323497"/>
          </a:xfrm>
        </p:grpSpPr>
        <p:sp>
          <p:nvSpPr>
            <p:cNvPr name="Freeform 17" id="17"/>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8" id="18"/>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9" id="19"/>
          <p:cNvSpPr txBox="true"/>
          <p:nvPr/>
        </p:nvSpPr>
        <p:spPr>
          <a:xfrm rot="0">
            <a:off x="622458" y="2272292"/>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01</a:t>
            </a:r>
          </a:p>
        </p:txBody>
      </p:sp>
      <p:sp>
        <p:nvSpPr>
          <p:cNvPr name="TextBox 20" id="20"/>
          <p:cNvSpPr txBox="true"/>
          <p:nvPr/>
        </p:nvSpPr>
        <p:spPr>
          <a:xfrm rot="0">
            <a:off x="447335" y="4483326"/>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02</a:t>
            </a:r>
          </a:p>
        </p:txBody>
      </p:sp>
      <p:sp>
        <p:nvSpPr>
          <p:cNvPr name="Freeform 21" id="21"/>
          <p:cNvSpPr/>
          <p:nvPr/>
        </p:nvSpPr>
        <p:spPr>
          <a:xfrm flipH="false" flipV="false" rot="0">
            <a:off x="13018811" y="1658957"/>
            <a:ext cx="471358" cy="487306"/>
          </a:xfrm>
          <a:custGeom>
            <a:avLst/>
            <a:gdLst/>
            <a:ahLst/>
            <a:cxnLst/>
            <a:rect r="r" b="b" t="t" l="l"/>
            <a:pathLst>
              <a:path h="487306" w="471358">
                <a:moveTo>
                  <a:pt x="0" y="0"/>
                </a:moveTo>
                <a:lnTo>
                  <a:pt x="471358" y="0"/>
                </a:lnTo>
                <a:lnTo>
                  <a:pt x="471358" y="487307"/>
                </a:lnTo>
                <a:lnTo>
                  <a:pt x="0" y="487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81724" y="99080"/>
            <a:ext cx="1229970" cy="537846"/>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Open Sans Medium"/>
                <a:ea typeface="Open Sans Medium"/>
                <a:cs typeface="Open Sans Medium"/>
                <a:sym typeface="Open Sans Medium"/>
              </a:rPr>
              <a:t>DEPI</a:t>
            </a:r>
          </a:p>
        </p:txBody>
      </p:sp>
      <p:sp>
        <p:nvSpPr>
          <p:cNvPr name="TextBox 23" id="23"/>
          <p:cNvSpPr txBox="true"/>
          <p:nvPr/>
        </p:nvSpPr>
        <p:spPr>
          <a:xfrm rot="0">
            <a:off x="0" y="513101"/>
            <a:ext cx="17438132" cy="1102323"/>
          </a:xfrm>
          <a:prstGeom prst="rect">
            <a:avLst/>
          </a:prstGeom>
        </p:spPr>
        <p:txBody>
          <a:bodyPr anchor="t" rtlCol="false" tIns="0" lIns="0" bIns="0" rIns="0">
            <a:spAutoFit/>
          </a:bodyPr>
          <a:lstStyle/>
          <a:p>
            <a:pPr algn="ctr">
              <a:lnSpc>
                <a:spcPts val="9067"/>
              </a:lnSpc>
              <a:spcBef>
                <a:spcPct val="0"/>
              </a:spcBef>
            </a:pPr>
            <a:r>
              <a:rPr lang="en-US" b="true" sz="6476">
                <a:solidFill>
                  <a:srgbClr val="FFFFFF"/>
                </a:solidFill>
                <a:latin typeface="Pattanakarn Heavy"/>
                <a:ea typeface="Pattanakarn Heavy"/>
                <a:cs typeface="Pattanakarn Heavy"/>
                <a:sym typeface="Pattanakarn Heavy"/>
              </a:rPr>
              <a:t>FUTURE TECHNICAL DEVELOPMENT</a:t>
            </a:r>
          </a:p>
        </p:txBody>
      </p:sp>
      <p:sp>
        <p:nvSpPr>
          <p:cNvPr name="AutoShape 24" id="24"/>
          <p:cNvSpPr/>
          <p:nvPr/>
        </p:nvSpPr>
        <p:spPr>
          <a:xfrm>
            <a:off x="3842622" y="6010207"/>
            <a:ext cx="5982250" cy="0"/>
          </a:xfrm>
          <a:prstGeom prst="line">
            <a:avLst/>
          </a:prstGeom>
          <a:ln cap="flat" w="28575">
            <a:solidFill>
              <a:srgbClr val="FFFFFF"/>
            </a:solidFill>
            <a:prstDash val="solid"/>
            <a:headEnd type="none" len="sm" w="sm"/>
            <a:tailEnd type="none" len="sm" w="sm"/>
          </a:ln>
        </p:spPr>
      </p:sp>
      <p:sp>
        <p:nvSpPr>
          <p:cNvPr name="TextBox 25" id="25"/>
          <p:cNvSpPr txBox="true"/>
          <p:nvPr/>
        </p:nvSpPr>
        <p:spPr>
          <a:xfrm rot="0">
            <a:off x="1699609" y="6752974"/>
            <a:ext cx="16013982" cy="1153795"/>
          </a:xfrm>
          <a:prstGeom prst="rect">
            <a:avLst/>
          </a:prstGeom>
        </p:spPr>
        <p:txBody>
          <a:bodyPr anchor="t" rtlCol="false" tIns="0" lIns="0" bIns="0" rIns="0">
            <a:spAutoFit/>
          </a:bodyPr>
          <a:lstStyle/>
          <a:p>
            <a:pPr algn="just">
              <a:lnSpc>
                <a:spcPts val="3079"/>
              </a:lnSpc>
              <a:spcBef>
                <a:spcPct val="0"/>
              </a:spcBef>
            </a:pPr>
            <a:r>
              <a:rPr lang="en-US" sz="2199">
                <a:solidFill>
                  <a:srgbClr val="FFFFFF"/>
                </a:solidFill>
                <a:latin typeface="Open Sans"/>
                <a:ea typeface="Open Sans"/>
                <a:cs typeface="Open Sans"/>
                <a:sym typeface="Open Sans"/>
              </a:rPr>
              <a:t>Edge Deployment and Optimization: Re-train and optimize the model architecture (e.g., quantize the model, use lightweight architectures like MobileNet/TinyML) to ensure efficient deployment on lower-power devices such as mobile phones or embedded systems, significantly reducing latency.</a:t>
            </a:r>
          </a:p>
        </p:txBody>
      </p:sp>
      <p:sp>
        <p:nvSpPr>
          <p:cNvPr name="TextBox 26" id="26"/>
          <p:cNvSpPr txBox="true"/>
          <p:nvPr/>
        </p:nvSpPr>
        <p:spPr>
          <a:xfrm rot="0">
            <a:off x="1699609" y="6167369"/>
            <a:ext cx="5982250"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Model Optimization and Speed</a:t>
            </a:r>
          </a:p>
        </p:txBody>
      </p:sp>
      <p:grpSp>
        <p:nvGrpSpPr>
          <p:cNvPr name="Group 27" id="27"/>
          <p:cNvGrpSpPr/>
          <p:nvPr/>
        </p:nvGrpSpPr>
        <p:grpSpPr>
          <a:xfrm rot="0">
            <a:off x="181724" y="6224519"/>
            <a:ext cx="1228279" cy="1228279"/>
            <a:chOff x="0" y="0"/>
            <a:chExt cx="323497" cy="323497"/>
          </a:xfrm>
        </p:grpSpPr>
        <p:sp>
          <p:nvSpPr>
            <p:cNvPr name="Freeform 28" id="28"/>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29" id="29"/>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30" id="30"/>
          <p:cNvSpPr txBox="true"/>
          <p:nvPr/>
        </p:nvSpPr>
        <p:spPr>
          <a:xfrm rot="0">
            <a:off x="389621" y="6594201"/>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03</a:t>
            </a:r>
          </a:p>
        </p:txBody>
      </p:sp>
      <p:sp>
        <p:nvSpPr>
          <p:cNvPr name="AutoShape 31" id="31"/>
          <p:cNvSpPr/>
          <p:nvPr/>
        </p:nvSpPr>
        <p:spPr>
          <a:xfrm>
            <a:off x="4748448" y="8102032"/>
            <a:ext cx="5982250" cy="0"/>
          </a:xfrm>
          <a:prstGeom prst="line">
            <a:avLst/>
          </a:prstGeom>
          <a:ln cap="flat" w="28575">
            <a:solidFill>
              <a:srgbClr val="FFFFFF"/>
            </a:solidFill>
            <a:prstDash val="solid"/>
            <a:headEnd type="none" len="sm" w="sm"/>
            <a:tailEnd type="none" len="sm" w="sm"/>
          </a:ln>
        </p:spPr>
      </p:sp>
      <p:sp>
        <p:nvSpPr>
          <p:cNvPr name="TextBox 32" id="32"/>
          <p:cNvSpPr txBox="true"/>
          <p:nvPr/>
        </p:nvSpPr>
        <p:spPr>
          <a:xfrm rot="0">
            <a:off x="1757323" y="8835275"/>
            <a:ext cx="15535436" cy="763270"/>
          </a:xfrm>
          <a:prstGeom prst="rect">
            <a:avLst/>
          </a:prstGeom>
        </p:spPr>
        <p:txBody>
          <a:bodyPr anchor="t" rtlCol="false" tIns="0" lIns="0" bIns="0" rIns="0">
            <a:spAutoFit/>
          </a:bodyPr>
          <a:lstStyle/>
          <a:p>
            <a:pPr algn="just">
              <a:lnSpc>
                <a:spcPts val="3079"/>
              </a:lnSpc>
              <a:spcBef>
                <a:spcPct val="0"/>
              </a:spcBef>
            </a:pPr>
            <a:r>
              <a:rPr lang="en-US" sz="2199">
                <a:solidFill>
                  <a:srgbClr val="FFFFFF"/>
                </a:solidFill>
                <a:latin typeface="Open Sans"/>
                <a:ea typeface="Open Sans"/>
                <a:cs typeface="Open Sans"/>
                <a:sym typeface="Open Sans"/>
              </a:rPr>
              <a:t>Integration with Text Services: Integrate the output with instant messaging applications or live transcription services to make the translation directly usable in daily communication contexts.</a:t>
            </a:r>
          </a:p>
        </p:txBody>
      </p:sp>
      <p:sp>
        <p:nvSpPr>
          <p:cNvPr name="TextBox 33" id="33"/>
          <p:cNvSpPr txBox="true"/>
          <p:nvPr/>
        </p:nvSpPr>
        <p:spPr>
          <a:xfrm rot="0">
            <a:off x="1757323" y="8249670"/>
            <a:ext cx="11587474"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 User Interaction Improvements</a:t>
            </a:r>
          </a:p>
        </p:txBody>
      </p:sp>
      <p:grpSp>
        <p:nvGrpSpPr>
          <p:cNvPr name="Group 34" id="34"/>
          <p:cNvGrpSpPr/>
          <p:nvPr/>
        </p:nvGrpSpPr>
        <p:grpSpPr>
          <a:xfrm rot="0">
            <a:off x="239437" y="8306820"/>
            <a:ext cx="1228279" cy="1228279"/>
            <a:chOff x="0" y="0"/>
            <a:chExt cx="323497" cy="323497"/>
          </a:xfrm>
        </p:grpSpPr>
        <p:sp>
          <p:nvSpPr>
            <p:cNvPr name="Freeform 35" id="35"/>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36" id="36"/>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37" id="37"/>
          <p:cNvSpPr txBox="true"/>
          <p:nvPr/>
        </p:nvSpPr>
        <p:spPr>
          <a:xfrm rot="0">
            <a:off x="447335" y="8676501"/>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881099" y="-3883348"/>
            <a:ext cx="7394274" cy="7394274"/>
          </a:xfrm>
          <a:custGeom>
            <a:avLst/>
            <a:gdLst/>
            <a:ahLst/>
            <a:cxnLst/>
            <a:rect r="r" b="b" t="t" l="l"/>
            <a:pathLst>
              <a:path h="7394274" w="7394274">
                <a:moveTo>
                  <a:pt x="0" y="0"/>
                </a:moveTo>
                <a:lnTo>
                  <a:pt x="7394275" y="0"/>
                </a:lnTo>
                <a:lnTo>
                  <a:pt x="7394275" y="7394275"/>
                </a:lnTo>
                <a:lnTo>
                  <a:pt x="0" y="7394275"/>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0800000">
            <a:off x="-5312747" y="8863715"/>
            <a:ext cx="7394274" cy="7394274"/>
          </a:xfrm>
          <a:custGeom>
            <a:avLst/>
            <a:gdLst/>
            <a:ahLst/>
            <a:cxnLst/>
            <a:rect r="r" b="b" t="t" l="l"/>
            <a:pathLst>
              <a:path h="7394274" w="7394274">
                <a:moveTo>
                  <a:pt x="7394274" y="7394274"/>
                </a:moveTo>
                <a:lnTo>
                  <a:pt x="0" y="7394274"/>
                </a:lnTo>
                <a:lnTo>
                  <a:pt x="0" y="0"/>
                </a:lnTo>
                <a:lnTo>
                  <a:pt x="7394274" y="0"/>
                </a:lnTo>
                <a:lnTo>
                  <a:pt x="7394274" y="7394274"/>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259300" y="501367"/>
            <a:ext cx="357663" cy="271117"/>
            <a:chOff x="0" y="0"/>
            <a:chExt cx="476884" cy="361489"/>
          </a:xfrm>
        </p:grpSpPr>
        <p:sp>
          <p:nvSpPr>
            <p:cNvPr name="AutoShape 5" id="5"/>
            <p:cNvSpPr/>
            <p:nvPr/>
          </p:nvSpPr>
          <p:spPr>
            <a:xfrm>
              <a:off x="0" y="19050"/>
              <a:ext cx="476884" cy="0"/>
            </a:xfrm>
            <a:prstGeom prst="line">
              <a:avLst/>
            </a:prstGeom>
            <a:ln cap="flat" w="38100">
              <a:solidFill>
                <a:srgbClr val="FFFFFF"/>
              </a:solidFill>
              <a:prstDash val="solid"/>
              <a:headEnd type="none" len="sm" w="sm"/>
              <a:tailEnd type="none" len="sm" w="sm"/>
            </a:ln>
          </p:spPr>
        </p:sp>
        <p:sp>
          <p:nvSpPr>
            <p:cNvPr name="AutoShape 6" id="6"/>
            <p:cNvSpPr/>
            <p:nvPr/>
          </p:nvSpPr>
          <p:spPr>
            <a:xfrm>
              <a:off x="0" y="180744"/>
              <a:ext cx="476884" cy="0"/>
            </a:xfrm>
            <a:prstGeom prst="line">
              <a:avLst/>
            </a:prstGeom>
            <a:ln cap="flat" w="38100">
              <a:solidFill>
                <a:srgbClr val="FFFFFF"/>
              </a:solidFill>
              <a:prstDash val="solid"/>
              <a:headEnd type="none" len="sm" w="sm"/>
              <a:tailEnd type="none" len="sm" w="sm"/>
            </a:ln>
          </p:spPr>
        </p:sp>
        <p:sp>
          <p:nvSpPr>
            <p:cNvPr name="AutoShape 7" id="7"/>
            <p:cNvSpPr/>
            <p:nvPr/>
          </p:nvSpPr>
          <p:spPr>
            <a:xfrm>
              <a:off x="0" y="342439"/>
              <a:ext cx="476884" cy="0"/>
            </a:xfrm>
            <a:prstGeom prst="line">
              <a:avLst/>
            </a:prstGeom>
            <a:ln cap="flat" w="38100">
              <a:solidFill>
                <a:srgbClr val="FFFFFF"/>
              </a:solidFill>
              <a:prstDash val="solid"/>
              <a:headEnd type="none" len="sm" w="sm"/>
              <a:tailEnd type="none" len="sm" w="sm"/>
            </a:ln>
          </p:spPr>
        </p:sp>
      </p:grpSp>
      <p:sp>
        <p:nvSpPr>
          <p:cNvPr name="AutoShape 8" id="8"/>
          <p:cNvSpPr/>
          <p:nvPr/>
        </p:nvSpPr>
        <p:spPr>
          <a:xfrm>
            <a:off x="4748448" y="3908857"/>
            <a:ext cx="5982250" cy="0"/>
          </a:xfrm>
          <a:prstGeom prst="line">
            <a:avLst/>
          </a:prstGeom>
          <a:ln cap="flat" w="28575">
            <a:solidFill>
              <a:srgbClr val="FFFFFF"/>
            </a:solidFill>
            <a:prstDash val="solid"/>
            <a:headEnd type="none" len="sm" w="sm"/>
            <a:tailEnd type="none" len="sm" w="sm"/>
          </a:ln>
        </p:spPr>
      </p:sp>
      <p:grpSp>
        <p:nvGrpSpPr>
          <p:cNvPr name="Group 9" id="9"/>
          <p:cNvGrpSpPr/>
          <p:nvPr/>
        </p:nvGrpSpPr>
        <p:grpSpPr>
          <a:xfrm rot="0">
            <a:off x="389621" y="1974561"/>
            <a:ext cx="1228279" cy="1228279"/>
            <a:chOff x="0" y="0"/>
            <a:chExt cx="323497" cy="323497"/>
          </a:xfrm>
        </p:grpSpPr>
        <p:sp>
          <p:nvSpPr>
            <p:cNvPr name="Freeform 10" id="10"/>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1" id="11"/>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2" id="12"/>
          <p:cNvSpPr txBox="true"/>
          <p:nvPr/>
        </p:nvSpPr>
        <p:spPr>
          <a:xfrm rot="0">
            <a:off x="2081527" y="2383904"/>
            <a:ext cx="15777436" cy="1234440"/>
          </a:xfrm>
          <a:prstGeom prst="rect">
            <a:avLst/>
          </a:prstGeom>
        </p:spPr>
        <p:txBody>
          <a:bodyPr anchor="t" rtlCol="false" tIns="0" lIns="0" bIns="0" rIns="0">
            <a:spAutoFit/>
          </a:bodyPr>
          <a:lstStyle/>
          <a:p>
            <a:pPr algn="just">
              <a:lnSpc>
                <a:spcPts val="3359"/>
              </a:lnSpc>
              <a:spcBef>
                <a:spcPct val="0"/>
              </a:spcBef>
            </a:pPr>
            <a:r>
              <a:rPr lang="en-US" sz="2399">
                <a:solidFill>
                  <a:srgbClr val="FFFFFF"/>
                </a:solidFill>
                <a:latin typeface="Open Sans"/>
                <a:ea typeface="Open Sans"/>
                <a:cs typeface="Open Sans"/>
                <a:sym typeface="Open Sans"/>
              </a:rPr>
              <a:t>Develop a Standalone Mobile Application (MVP): Package the system into an easy-to-use mobile application (iOS/Android) marketed as an "Instant Sign-to-Text Translator," making the technology highly portable and accessible.</a:t>
            </a:r>
          </a:p>
        </p:txBody>
      </p:sp>
      <p:sp>
        <p:nvSpPr>
          <p:cNvPr name="TextBox 13" id="13"/>
          <p:cNvSpPr txBox="true"/>
          <p:nvPr/>
        </p:nvSpPr>
        <p:spPr>
          <a:xfrm rot="0">
            <a:off x="2081527" y="1899646"/>
            <a:ext cx="8487835"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Productization Strategy</a:t>
            </a:r>
          </a:p>
        </p:txBody>
      </p:sp>
      <p:sp>
        <p:nvSpPr>
          <p:cNvPr name="TextBox 14" id="14"/>
          <p:cNvSpPr txBox="true"/>
          <p:nvPr/>
        </p:nvSpPr>
        <p:spPr>
          <a:xfrm rot="0">
            <a:off x="1757323" y="4642099"/>
            <a:ext cx="15535436" cy="763270"/>
          </a:xfrm>
          <a:prstGeom prst="rect">
            <a:avLst/>
          </a:prstGeom>
        </p:spPr>
        <p:txBody>
          <a:bodyPr anchor="t" rtlCol="false" tIns="0" lIns="0" bIns="0" rIns="0">
            <a:spAutoFit/>
          </a:bodyPr>
          <a:lstStyle/>
          <a:p>
            <a:pPr algn="just">
              <a:lnSpc>
                <a:spcPts val="3079"/>
              </a:lnSpc>
              <a:spcBef>
                <a:spcPct val="0"/>
              </a:spcBef>
            </a:pPr>
            <a:r>
              <a:rPr lang="en-US" sz="2199">
                <a:solidFill>
                  <a:srgbClr val="FFFFFF"/>
                </a:solidFill>
                <a:latin typeface="Open Sans"/>
                <a:ea typeface="Open Sans"/>
                <a:cs typeface="Open Sans"/>
                <a:sym typeface="Open Sans"/>
              </a:rPr>
              <a:t>Partnering with Educational Institutions: Market the tool to schools and universities as an assistive learning device for students with hearing difficulties or for teaching Sign Language.</a:t>
            </a:r>
          </a:p>
        </p:txBody>
      </p:sp>
      <p:sp>
        <p:nvSpPr>
          <p:cNvPr name="TextBox 15" id="15"/>
          <p:cNvSpPr txBox="true"/>
          <p:nvPr/>
        </p:nvSpPr>
        <p:spPr>
          <a:xfrm rot="0">
            <a:off x="1757323" y="4056494"/>
            <a:ext cx="11587474"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Target Market Penetration</a:t>
            </a:r>
          </a:p>
        </p:txBody>
      </p:sp>
      <p:grpSp>
        <p:nvGrpSpPr>
          <p:cNvPr name="Group 16" id="16"/>
          <p:cNvGrpSpPr/>
          <p:nvPr/>
        </p:nvGrpSpPr>
        <p:grpSpPr>
          <a:xfrm rot="0">
            <a:off x="239437" y="4113644"/>
            <a:ext cx="1228279" cy="1228279"/>
            <a:chOff x="0" y="0"/>
            <a:chExt cx="323497" cy="323497"/>
          </a:xfrm>
        </p:grpSpPr>
        <p:sp>
          <p:nvSpPr>
            <p:cNvPr name="Freeform 17" id="17"/>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18" id="18"/>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19" id="19"/>
          <p:cNvSpPr txBox="true"/>
          <p:nvPr/>
        </p:nvSpPr>
        <p:spPr>
          <a:xfrm rot="0">
            <a:off x="597519" y="2344243"/>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01</a:t>
            </a:r>
          </a:p>
        </p:txBody>
      </p:sp>
      <p:sp>
        <p:nvSpPr>
          <p:cNvPr name="TextBox 20" id="20"/>
          <p:cNvSpPr txBox="true"/>
          <p:nvPr/>
        </p:nvSpPr>
        <p:spPr>
          <a:xfrm rot="0">
            <a:off x="447335" y="4483326"/>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02</a:t>
            </a:r>
          </a:p>
        </p:txBody>
      </p:sp>
      <p:sp>
        <p:nvSpPr>
          <p:cNvPr name="Freeform 21" id="21"/>
          <p:cNvSpPr/>
          <p:nvPr/>
        </p:nvSpPr>
        <p:spPr>
          <a:xfrm flipH="false" flipV="false" rot="0">
            <a:off x="13018811" y="1658957"/>
            <a:ext cx="471358" cy="487306"/>
          </a:xfrm>
          <a:custGeom>
            <a:avLst/>
            <a:gdLst/>
            <a:ahLst/>
            <a:cxnLst/>
            <a:rect r="r" b="b" t="t" l="l"/>
            <a:pathLst>
              <a:path h="487306" w="471358">
                <a:moveTo>
                  <a:pt x="0" y="0"/>
                </a:moveTo>
                <a:lnTo>
                  <a:pt x="471358" y="0"/>
                </a:lnTo>
                <a:lnTo>
                  <a:pt x="471358" y="487307"/>
                </a:lnTo>
                <a:lnTo>
                  <a:pt x="0" y="487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81724" y="99080"/>
            <a:ext cx="1229970" cy="537846"/>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Open Sans Medium"/>
                <a:ea typeface="Open Sans Medium"/>
                <a:cs typeface="Open Sans Medium"/>
                <a:sym typeface="Open Sans Medium"/>
              </a:rPr>
              <a:t>DEPI</a:t>
            </a:r>
          </a:p>
        </p:txBody>
      </p:sp>
      <p:sp>
        <p:nvSpPr>
          <p:cNvPr name="TextBox 23" id="23"/>
          <p:cNvSpPr txBox="true"/>
          <p:nvPr/>
        </p:nvSpPr>
        <p:spPr>
          <a:xfrm rot="0">
            <a:off x="0" y="780790"/>
            <a:ext cx="17438132" cy="878167"/>
          </a:xfrm>
          <a:prstGeom prst="rect">
            <a:avLst/>
          </a:prstGeom>
        </p:spPr>
        <p:txBody>
          <a:bodyPr anchor="t" rtlCol="false" tIns="0" lIns="0" bIns="0" rIns="0">
            <a:spAutoFit/>
          </a:bodyPr>
          <a:lstStyle/>
          <a:p>
            <a:pPr algn="ctr">
              <a:lnSpc>
                <a:spcPts val="7247"/>
              </a:lnSpc>
              <a:spcBef>
                <a:spcPct val="0"/>
              </a:spcBef>
            </a:pPr>
            <a:r>
              <a:rPr lang="en-US" b="true" sz="5176">
                <a:solidFill>
                  <a:srgbClr val="FFFFFF"/>
                </a:solidFill>
                <a:latin typeface="Pattanakarn Heavy"/>
                <a:ea typeface="Pattanakarn Heavy"/>
                <a:cs typeface="Pattanakarn Heavy"/>
                <a:sym typeface="Pattanakarn Heavy"/>
              </a:rPr>
              <a:t>FUTURE MARKETING &amp; COMMERCIALIZATION</a:t>
            </a:r>
          </a:p>
        </p:txBody>
      </p:sp>
      <p:sp>
        <p:nvSpPr>
          <p:cNvPr name="AutoShape 24" id="24"/>
          <p:cNvSpPr/>
          <p:nvPr/>
        </p:nvSpPr>
        <p:spPr>
          <a:xfrm>
            <a:off x="3842622" y="6010207"/>
            <a:ext cx="5982250" cy="0"/>
          </a:xfrm>
          <a:prstGeom prst="line">
            <a:avLst/>
          </a:prstGeom>
          <a:ln cap="flat" w="28575">
            <a:solidFill>
              <a:srgbClr val="FFFFFF"/>
            </a:solidFill>
            <a:prstDash val="solid"/>
            <a:headEnd type="none" len="sm" w="sm"/>
            <a:tailEnd type="none" len="sm" w="sm"/>
          </a:ln>
        </p:spPr>
      </p:sp>
      <p:sp>
        <p:nvSpPr>
          <p:cNvPr name="TextBox 25" id="25"/>
          <p:cNvSpPr txBox="true"/>
          <p:nvPr/>
        </p:nvSpPr>
        <p:spPr>
          <a:xfrm rot="0">
            <a:off x="1699609" y="6752974"/>
            <a:ext cx="16013982" cy="763270"/>
          </a:xfrm>
          <a:prstGeom prst="rect">
            <a:avLst/>
          </a:prstGeom>
        </p:spPr>
        <p:txBody>
          <a:bodyPr anchor="t" rtlCol="false" tIns="0" lIns="0" bIns="0" rIns="0">
            <a:spAutoFit/>
          </a:bodyPr>
          <a:lstStyle/>
          <a:p>
            <a:pPr algn="just">
              <a:lnSpc>
                <a:spcPts val="3079"/>
              </a:lnSpc>
              <a:spcBef>
                <a:spcPct val="0"/>
              </a:spcBef>
            </a:pPr>
            <a:r>
              <a:rPr lang="en-US" sz="2199">
                <a:solidFill>
                  <a:srgbClr val="FFFFFF"/>
                </a:solidFill>
                <a:latin typeface="Open Sans"/>
                <a:ea typeface="Open Sans"/>
                <a:cs typeface="Open Sans"/>
                <a:sym typeface="Open Sans"/>
              </a:rPr>
              <a:t>Enterprise Integration: Approach corporations and public service providers (banks, hospitals) to integrate the system into their service desks or customer kiosks to ensure accessibility compliance and better serve the deaf community</a:t>
            </a:r>
          </a:p>
        </p:txBody>
      </p:sp>
      <p:sp>
        <p:nvSpPr>
          <p:cNvPr name="TextBox 26" id="26"/>
          <p:cNvSpPr txBox="true"/>
          <p:nvPr/>
        </p:nvSpPr>
        <p:spPr>
          <a:xfrm rot="0">
            <a:off x="1699609" y="6167369"/>
            <a:ext cx="5982250"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Corporate Social Responsibility (CSR)</a:t>
            </a:r>
          </a:p>
        </p:txBody>
      </p:sp>
      <p:grpSp>
        <p:nvGrpSpPr>
          <p:cNvPr name="Group 27" id="27"/>
          <p:cNvGrpSpPr/>
          <p:nvPr/>
        </p:nvGrpSpPr>
        <p:grpSpPr>
          <a:xfrm rot="0">
            <a:off x="181724" y="6224519"/>
            <a:ext cx="1228279" cy="1228279"/>
            <a:chOff x="0" y="0"/>
            <a:chExt cx="323497" cy="323497"/>
          </a:xfrm>
        </p:grpSpPr>
        <p:sp>
          <p:nvSpPr>
            <p:cNvPr name="Freeform 28" id="28"/>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29" id="29"/>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30" id="30"/>
          <p:cNvSpPr txBox="true"/>
          <p:nvPr/>
        </p:nvSpPr>
        <p:spPr>
          <a:xfrm rot="0">
            <a:off x="389621" y="6594201"/>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03</a:t>
            </a:r>
          </a:p>
        </p:txBody>
      </p:sp>
      <p:sp>
        <p:nvSpPr>
          <p:cNvPr name="AutoShape 31" id="31"/>
          <p:cNvSpPr/>
          <p:nvPr/>
        </p:nvSpPr>
        <p:spPr>
          <a:xfrm>
            <a:off x="4748448" y="8102032"/>
            <a:ext cx="5982250" cy="0"/>
          </a:xfrm>
          <a:prstGeom prst="line">
            <a:avLst/>
          </a:prstGeom>
          <a:ln cap="flat" w="28575">
            <a:solidFill>
              <a:srgbClr val="FFFFFF"/>
            </a:solidFill>
            <a:prstDash val="solid"/>
            <a:headEnd type="none" len="sm" w="sm"/>
            <a:tailEnd type="none" len="sm" w="sm"/>
          </a:ln>
        </p:spPr>
      </p:sp>
      <p:sp>
        <p:nvSpPr>
          <p:cNvPr name="TextBox 32" id="32"/>
          <p:cNvSpPr txBox="true"/>
          <p:nvPr/>
        </p:nvSpPr>
        <p:spPr>
          <a:xfrm rot="0">
            <a:off x="1757323" y="8835275"/>
            <a:ext cx="15535436" cy="763270"/>
          </a:xfrm>
          <a:prstGeom prst="rect">
            <a:avLst/>
          </a:prstGeom>
        </p:spPr>
        <p:txBody>
          <a:bodyPr anchor="t" rtlCol="false" tIns="0" lIns="0" bIns="0" rIns="0">
            <a:spAutoFit/>
          </a:bodyPr>
          <a:lstStyle/>
          <a:p>
            <a:pPr algn="just">
              <a:lnSpc>
                <a:spcPts val="3079"/>
              </a:lnSpc>
              <a:spcBef>
                <a:spcPct val="0"/>
              </a:spcBef>
            </a:pPr>
            <a:r>
              <a:rPr lang="en-US" sz="2199">
                <a:solidFill>
                  <a:srgbClr val="FFFFFF"/>
                </a:solidFill>
                <a:latin typeface="Open Sans"/>
                <a:ea typeface="Open Sans"/>
                <a:cs typeface="Open Sans"/>
                <a:sym typeface="Open Sans"/>
              </a:rPr>
              <a:t>Freemium Model: Offer the basic alphabet recognition as a free service, with premium features (e.g., full-word sign recognition, personalized hand customization/training, ad-free experience) available through a subscription.</a:t>
            </a:r>
          </a:p>
        </p:txBody>
      </p:sp>
      <p:sp>
        <p:nvSpPr>
          <p:cNvPr name="TextBox 33" id="33"/>
          <p:cNvSpPr txBox="true"/>
          <p:nvPr/>
        </p:nvSpPr>
        <p:spPr>
          <a:xfrm rot="0">
            <a:off x="1757323" y="8249670"/>
            <a:ext cx="11587474" cy="436086"/>
          </a:xfrm>
          <a:prstGeom prst="rect">
            <a:avLst/>
          </a:prstGeom>
        </p:spPr>
        <p:txBody>
          <a:bodyPr anchor="t" rtlCol="false" tIns="0" lIns="0" bIns="0" rIns="0">
            <a:spAutoFit/>
          </a:bodyPr>
          <a:lstStyle/>
          <a:p>
            <a:pPr algn="l">
              <a:lnSpc>
                <a:spcPts val="3501"/>
              </a:lnSpc>
              <a:spcBef>
                <a:spcPct val="0"/>
              </a:spcBef>
            </a:pPr>
            <a:r>
              <a:rPr lang="en-US" b="true" sz="2501">
                <a:solidFill>
                  <a:srgbClr val="FF2768"/>
                </a:solidFill>
                <a:latin typeface="Open Sans Medium"/>
                <a:ea typeface="Open Sans Medium"/>
                <a:cs typeface="Open Sans Medium"/>
                <a:sym typeface="Open Sans Medium"/>
              </a:rPr>
              <a:t> Monetization Model</a:t>
            </a:r>
          </a:p>
        </p:txBody>
      </p:sp>
      <p:grpSp>
        <p:nvGrpSpPr>
          <p:cNvPr name="Group 34" id="34"/>
          <p:cNvGrpSpPr/>
          <p:nvPr/>
        </p:nvGrpSpPr>
        <p:grpSpPr>
          <a:xfrm rot="0">
            <a:off x="239437" y="8306820"/>
            <a:ext cx="1228279" cy="1228279"/>
            <a:chOff x="0" y="0"/>
            <a:chExt cx="323497" cy="323497"/>
          </a:xfrm>
        </p:grpSpPr>
        <p:sp>
          <p:nvSpPr>
            <p:cNvPr name="Freeform 35" id="35"/>
            <p:cNvSpPr/>
            <p:nvPr/>
          </p:nvSpPr>
          <p:spPr>
            <a:xfrm flipH="false" flipV="false" rot="0">
              <a:off x="0" y="0"/>
              <a:ext cx="323497" cy="323497"/>
            </a:xfrm>
            <a:custGeom>
              <a:avLst/>
              <a:gdLst/>
              <a:ahLst/>
              <a:cxnLst/>
              <a:rect r="r" b="b" t="t" l="l"/>
              <a:pathLst>
                <a:path h="323497" w="323497">
                  <a:moveTo>
                    <a:pt x="161749" y="0"/>
                  </a:moveTo>
                  <a:lnTo>
                    <a:pt x="161749" y="0"/>
                  </a:lnTo>
                  <a:cubicBezTo>
                    <a:pt x="251080" y="0"/>
                    <a:pt x="323497" y="72417"/>
                    <a:pt x="323497" y="161749"/>
                  </a:cubicBezTo>
                  <a:lnTo>
                    <a:pt x="323497" y="161749"/>
                  </a:lnTo>
                  <a:cubicBezTo>
                    <a:pt x="323497" y="251080"/>
                    <a:pt x="251080" y="323497"/>
                    <a:pt x="161749" y="323497"/>
                  </a:cubicBezTo>
                  <a:lnTo>
                    <a:pt x="161749" y="323497"/>
                  </a:lnTo>
                  <a:cubicBezTo>
                    <a:pt x="72417" y="323497"/>
                    <a:pt x="0" y="251080"/>
                    <a:pt x="0" y="161749"/>
                  </a:cubicBezTo>
                  <a:lnTo>
                    <a:pt x="0" y="161749"/>
                  </a:lnTo>
                  <a:cubicBezTo>
                    <a:pt x="0" y="72417"/>
                    <a:pt x="72417" y="0"/>
                    <a:pt x="161749" y="0"/>
                  </a:cubicBezTo>
                  <a:close/>
                </a:path>
              </a:pathLst>
            </a:custGeom>
            <a:solidFill>
              <a:srgbClr val="E2A9F1"/>
            </a:solidFill>
          </p:spPr>
        </p:sp>
        <p:sp>
          <p:nvSpPr>
            <p:cNvPr name="TextBox 36" id="36"/>
            <p:cNvSpPr txBox="true"/>
            <p:nvPr/>
          </p:nvSpPr>
          <p:spPr>
            <a:xfrm>
              <a:off x="0" y="-57150"/>
              <a:ext cx="323497" cy="380647"/>
            </a:xfrm>
            <a:prstGeom prst="rect">
              <a:avLst/>
            </a:prstGeom>
          </p:spPr>
          <p:txBody>
            <a:bodyPr anchor="ctr" rtlCol="false" tIns="50800" lIns="50800" bIns="50800" rIns="50800"/>
            <a:lstStyle/>
            <a:p>
              <a:pPr algn="ctr">
                <a:lnSpc>
                  <a:spcPts val="3501"/>
                </a:lnSpc>
              </a:pPr>
            </a:p>
          </p:txBody>
        </p:sp>
      </p:grpSp>
      <p:sp>
        <p:nvSpPr>
          <p:cNvPr name="TextBox 37" id="37"/>
          <p:cNvSpPr txBox="true"/>
          <p:nvPr/>
        </p:nvSpPr>
        <p:spPr>
          <a:xfrm rot="0">
            <a:off x="447335" y="8676501"/>
            <a:ext cx="812484" cy="431766"/>
          </a:xfrm>
          <a:prstGeom prst="rect">
            <a:avLst/>
          </a:prstGeom>
        </p:spPr>
        <p:txBody>
          <a:bodyPr anchor="t" rtlCol="false" tIns="0" lIns="0" bIns="0" rIns="0">
            <a:spAutoFit/>
          </a:bodyPr>
          <a:lstStyle/>
          <a:p>
            <a:pPr algn="ctr">
              <a:lnSpc>
                <a:spcPts val="3501"/>
              </a:lnSpc>
              <a:spcBef>
                <a:spcPct val="0"/>
              </a:spcBef>
            </a:pPr>
            <a:r>
              <a:rPr lang="en-US" b="true" sz="2501">
                <a:solidFill>
                  <a:srgbClr val="FFFFFF"/>
                </a:solidFill>
                <a:latin typeface="Open Sans Medium"/>
                <a:ea typeface="Open Sans Medium"/>
                <a:cs typeface="Open Sans Medium"/>
                <a:sym typeface="Open Sans Medium"/>
              </a:rPr>
              <a:t>04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881099" y="-3883348"/>
            <a:ext cx="7394274" cy="7394274"/>
          </a:xfrm>
          <a:custGeom>
            <a:avLst/>
            <a:gdLst/>
            <a:ahLst/>
            <a:cxnLst/>
            <a:rect r="r" b="b" t="t" l="l"/>
            <a:pathLst>
              <a:path h="7394274" w="7394274">
                <a:moveTo>
                  <a:pt x="0" y="0"/>
                </a:moveTo>
                <a:lnTo>
                  <a:pt x="7394275" y="0"/>
                </a:lnTo>
                <a:lnTo>
                  <a:pt x="7394275" y="7394275"/>
                </a:lnTo>
                <a:lnTo>
                  <a:pt x="0" y="7394275"/>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0800000">
            <a:off x="-5312747" y="8863715"/>
            <a:ext cx="7394274" cy="7394274"/>
          </a:xfrm>
          <a:custGeom>
            <a:avLst/>
            <a:gdLst/>
            <a:ahLst/>
            <a:cxnLst/>
            <a:rect r="r" b="b" t="t" l="l"/>
            <a:pathLst>
              <a:path h="7394274" w="7394274">
                <a:moveTo>
                  <a:pt x="7394274" y="7394274"/>
                </a:moveTo>
                <a:lnTo>
                  <a:pt x="0" y="7394274"/>
                </a:lnTo>
                <a:lnTo>
                  <a:pt x="0" y="0"/>
                </a:lnTo>
                <a:lnTo>
                  <a:pt x="7394274" y="0"/>
                </a:lnTo>
                <a:lnTo>
                  <a:pt x="7394274" y="7394274"/>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259300" y="501367"/>
            <a:ext cx="357663" cy="271117"/>
            <a:chOff x="0" y="0"/>
            <a:chExt cx="476884" cy="361489"/>
          </a:xfrm>
        </p:grpSpPr>
        <p:sp>
          <p:nvSpPr>
            <p:cNvPr name="AutoShape 5" id="5"/>
            <p:cNvSpPr/>
            <p:nvPr/>
          </p:nvSpPr>
          <p:spPr>
            <a:xfrm>
              <a:off x="0" y="19050"/>
              <a:ext cx="476884" cy="0"/>
            </a:xfrm>
            <a:prstGeom prst="line">
              <a:avLst/>
            </a:prstGeom>
            <a:ln cap="flat" w="38100">
              <a:solidFill>
                <a:srgbClr val="FFFFFF"/>
              </a:solidFill>
              <a:prstDash val="solid"/>
              <a:headEnd type="none" len="sm" w="sm"/>
              <a:tailEnd type="none" len="sm" w="sm"/>
            </a:ln>
          </p:spPr>
        </p:sp>
        <p:sp>
          <p:nvSpPr>
            <p:cNvPr name="AutoShape 6" id="6"/>
            <p:cNvSpPr/>
            <p:nvPr/>
          </p:nvSpPr>
          <p:spPr>
            <a:xfrm>
              <a:off x="0" y="180744"/>
              <a:ext cx="476884" cy="0"/>
            </a:xfrm>
            <a:prstGeom prst="line">
              <a:avLst/>
            </a:prstGeom>
            <a:ln cap="flat" w="38100">
              <a:solidFill>
                <a:srgbClr val="FFFFFF"/>
              </a:solidFill>
              <a:prstDash val="solid"/>
              <a:headEnd type="none" len="sm" w="sm"/>
              <a:tailEnd type="none" len="sm" w="sm"/>
            </a:ln>
          </p:spPr>
        </p:sp>
        <p:sp>
          <p:nvSpPr>
            <p:cNvPr name="AutoShape 7" id="7"/>
            <p:cNvSpPr/>
            <p:nvPr/>
          </p:nvSpPr>
          <p:spPr>
            <a:xfrm>
              <a:off x="0" y="342439"/>
              <a:ext cx="476884" cy="0"/>
            </a:xfrm>
            <a:prstGeom prst="line">
              <a:avLst/>
            </a:prstGeom>
            <a:ln cap="flat" w="38100">
              <a:solidFill>
                <a:srgbClr val="FFFFFF"/>
              </a:solidFill>
              <a:prstDash val="solid"/>
              <a:headEnd type="none" len="sm" w="sm"/>
              <a:tailEnd type="none" len="sm" w="sm"/>
            </a:ln>
          </p:spPr>
        </p:sp>
      </p:grpSp>
      <p:sp>
        <p:nvSpPr>
          <p:cNvPr name="Freeform 8" id="8"/>
          <p:cNvSpPr/>
          <p:nvPr/>
        </p:nvSpPr>
        <p:spPr>
          <a:xfrm flipH="false" flipV="false" rot="0">
            <a:off x="13018811" y="1658957"/>
            <a:ext cx="471358" cy="487306"/>
          </a:xfrm>
          <a:custGeom>
            <a:avLst/>
            <a:gdLst/>
            <a:ahLst/>
            <a:cxnLst/>
            <a:rect r="r" b="b" t="t" l="l"/>
            <a:pathLst>
              <a:path h="487306" w="471358">
                <a:moveTo>
                  <a:pt x="0" y="0"/>
                </a:moveTo>
                <a:lnTo>
                  <a:pt x="471358" y="0"/>
                </a:lnTo>
                <a:lnTo>
                  <a:pt x="471358" y="487307"/>
                </a:lnTo>
                <a:lnTo>
                  <a:pt x="0" y="487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437706" y="2146264"/>
            <a:ext cx="7140531" cy="3936217"/>
          </a:xfrm>
          <a:custGeom>
            <a:avLst/>
            <a:gdLst/>
            <a:ahLst/>
            <a:cxnLst/>
            <a:rect r="r" b="b" t="t" l="l"/>
            <a:pathLst>
              <a:path h="3936217" w="7140531">
                <a:moveTo>
                  <a:pt x="0" y="0"/>
                </a:moveTo>
                <a:lnTo>
                  <a:pt x="7140531" y="0"/>
                </a:lnTo>
                <a:lnTo>
                  <a:pt x="7140531" y="3936217"/>
                </a:lnTo>
                <a:lnTo>
                  <a:pt x="0" y="3936217"/>
                </a:lnTo>
                <a:lnTo>
                  <a:pt x="0" y="0"/>
                </a:lnTo>
                <a:close/>
              </a:path>
            </a:pathLst>
          </a:custGeom>
          <a:blipFill>
            <a:blip r:embed="rId6"/>
            <a:stretch>
              <a:fillRect l="0" t="0" r="0" b="0"/>
            </a:stretch>
          </a:blipFill>
        </p:spPr>
      </p:sp>
      <p:sp>
        <p:nvSpPr>
          <p:cNvPr name="Freeform 10" id="10"/>
          <p:cNvSpPr/>
          <p:nvPr/>
        </p:nvSpPr>
        <p:spPr>
          <a:xfrm flipH="false" flipV="false" rot="0">
            <a:off x="4464788" y="6572341"/>
            <a:ext cx="12509072" cy="2486178"/>
          </a:xfrm>
          <a:custGeom>
            <a:avLst/>
            <a:gdLst/>
            <a:ahLst/>
            <a:cxnLst/>
            <a:rect r="r" b="b" t="t" l="l"/>
            <a:pathLst>
              <a:path h="2486178" w="12509072">
                <a:moveTo>
                  <a:pt x="0" y="0"/>
                </a:moveTo>
                <a:lnTo>
                  <a:pt x="12509072" y="0"/>
                </a:lnTo>
                <a:lnTo>
                  <a:pt x="12509072" y="2486178"/>
                </a:lnTo>
                <a:lnTo>
                  <a:pt x="0" y="2486178"/>
                </a:lnTo>
                <a:lnTo>
                  <a:pt x="0" y="0"/>
                </a:lnTo>
                <a:close/>
              </a:path>
            </a:pathLst>
          </a:custGeom>
          <a:blipFill>
            <a:blip r:embed="rId7"/>
            <a:stretch>
              <a:fillRect l="0" t="0" r="0" b="0"/>
            </a:stretch>
          </a:blipFill>
        </p:spPr>
      </p:sp>
      <p:sp>
        <p:nvSpPr>
          <p:cNvPr name="TextBox 11" id="11"/>
          <p:cNvSpPr txBox="true"/>
          <p:nvPr/>
        </p:nvSpPr>
        <p:spPr>
          <a:xfrm rot="0">
            <a:off x="413715" y="203870"/>
            <a:ext cx="1229970" cy="537846"/>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Open Sans Medium"/>
                <a:ea typeface="Open Sans Medium"/>
                <a:cs typeface="Open Sans Medium"/>
                <a:sym typeface="Open Sans Medium"/>
              </a:rPr>
              <a:t>DEPI</a:t>
            </a:r>
          </a:p>
        </p:txBody>
      </p:sp>
      <p:sp>
        <p:nvSpPr>
          <p:cNvPr name="TextBox 12" id="12"/>
          <p:cNvSpPr txBox="true"/>
          <p:nvPr/>
        </p:nvSpPr>
        <p:spPr>
          <a:xfrm rot="0">
            <a:off x="413715" y="918845"/>
            <a:ext cx="4697874" cy="1227419"/>
          </a:xfrm>
          <a:prstGeom prst="rect">
            <a:avLst/>
          </a:prstGeom>
        </p:spPr>
        <p:txBody>
          <a:bodyPr anchor="t" rtlCol="false" tIns="0" lIns="0" bIns="0" rIns="0">
            <a:spAutoFit/>
          </a:bodyPr>
          <a:lstStyle/>
          <a:p>
            <a:pPr algn="ctr">
              <a:lnSpc>
                <a:spcPts val="10047"/>
              </a:lnSpc>
              <a:spcBef>
                <a:spcPct val="0"/>
              </a:spcBef>
            </a:pPr>
            <a:r>
              <a:rPr lang="en-US" b="true" sz="7176">
                <a:solidFill>
                  <a:srgbClr val="FFFFFF"/>
                </a:solidFill>
                <a:latin typeface="Pattanakarn Heavy"/>
                <a:ea typeface="Pattanakarn Heavy"/>
                <a:cs typeface="Pattanakarn Heavy"/>
                <a:sym typeface="Pattanakarn Heavy"/>
              </a:rPr>
              <a:t>OUTPUT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2561086" y="-4036332"/>
            <a:ext cx="7394274" cy="7394274"/>
          </a:xfrm>
          <a:custGeom>
            <a:avLst/>
            <a:gdLst/>
            <a:ahLst/>
            <a:cxnLst/>
            <a:rect r="r" b="b" t="t" l="l"/>
            <a:pathLst>
              <a:path h="7394274" w="7394274">
                <a:moveTo>
                  <a:pt x="0" y="0"/>
                </a:moveTo>
                <a:lnTo>
                  <a:pt x="7394274" y="0"/>
                </a:lnTo>
                <a:lnTo>
                  <a:pt x="7394274" y="7394274"/>
                </a:lnTo>
                <a:lnTo>
                  <a:pt x="0" y="739427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0800000">
            <a:off x="-4156279" y="7523558"/>
            <a:ext cx="7394274" cy="7394274"/>
          </a:xfrm>
          <a:custGeom>
            <a:avLst/>
            <a:gdLst/>
            <a:ahLst/>
            <a:cxnLst/>
            <a:rect r="r" b="b" t="t" l="l"/>
            <a:pathLst>
              <a:path h="7394274" w="7394274">
                <a:moveTo>
                  <a:pt x="7394274" y="7394274"/>
                </a:moveTo>
                <a:lnTo>
                  <a:pt x="0" y="7394274"/>
                </a:lnTo>
                <a:lnTo>
                  <a:pt x="0" y="0"/>
                </a:lnTo>
                <a:lnTo>
                  <a:pt x="7394274" y="0"/>
                </a:lnTo>
                <a:lnTo>
                  <a:pt x="7394274" y="7394274"/>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6901637" y="1028700"/>
            <a:ext cx="357663" cy="271117"/>
            <a:chOff x="0" y="0"/>
            <a:chExt cx="476884" cy="361489"/>
          </a:xfrm>
        </p:grpSpPr>
        <p:sp>
          <p:nvSpPr>
            <p:cNvPr name="AutoShape 5" id="5"/>
            <p:cNvSpPr/>
            <p:nvPr/>
          </p:nvSpPr>
          <p:spPr>
            <a:xfrm>
              <a:off x="0" y="19050"/>
              <a:ext cx="476884" cy="0"/>
            </a:xfrm>
            <a:prstGeom prst="line">
              <a:avLst/>
            </a:prstGeom>
            <a:ln cap="flat" w="38100">
              <a:solidFill>
                <a:srgbClr val="FFFFFF"/>
              </a:solidFill>
              <a:prstDash val="solid"/>
              <a:headEnd type="none" len="sm" w="sm"/>
              <a:tailEnd type="none" len="sm" w="sm"/>
            </a:ln>
          </p:spPr>
        </p:sp>
        <p:sp>
          <p:nvSpPr>
            <p:cNvPr name="AutoShape 6" id="6"/>
            <p:cNvSpPr/>
            <p:nvPr/>
          </p:nvSpPr>
          <p:spPr>
            <a:xfrm>
              <a:off x="0" y="180744"/>
              <a:ext cx="476884" cy="0"/>
            </a:xfrm>
            <a:prstGeom prst="line">
              <a:avLst/>
            </a:prstGeom>
            <a:ln cap="flat" w="38100">
              <a:solidFill>
                <a:srgbClr val="FFFFFF"/>
              </a:solidFill>
              <a:prstDash val="solid"/>
              <a:headEnd type="none" len="sm" w="sm"/>
              <a:tailEnd type="none" len="sm" w="sm"/>
            </a:ln>
          </p:spPr>
        </p:sp>
        <p:sp>
          <p:nvSpPr>
            <p:cNvPr name="AutoShape 7" id="7"/>
            <p:cNvSpPr/>
            <p:nvPr/>
          </p:nvSpPr>
          <p:spPr>
            <a:xfrm>
              <a:off x="0" y="342439"/>
              <a:ext cx="476884" cy="0"/>
            </a:xfrm>
            <a:prstGeom prst="line">
              <a:avLst/>
            </a:prstGeom>
            <a:ln cap="flat" w="38100">
              <a:solidFill>
                <a:srgbClr val="FFFFFF"/>
              </a:solidFill>
              <a:prstDash val="solid"/>
              <a:headEnd type="none" len="sm" w="sm"/>
              <a:tailEnd type="none" len="sm" w="sm"/>
            </a:ln>
          </p:spPr>
        </p:sp>
      </p:grpSp>
      <p:sp>
        <p:nvSpPr>
          <p:cNvPr name="Freeform 8" id="8"/>
          <p:cNvSpPr/>
          <p:nvPr/>
        </p:nvSpPr>
        <p:spPr>
          <a:xfrm flipH="false" flipV="false" rot="0">
            <a:off x="3002316" y="4899847"/>
            <a:ext cx="471358" cy="487306"/>
          </a:xfrm>
          <a:custGeom>
            <a:avLst/>
            <a:gdLst/>
            <a:ahLst/>
            <a:cxnLst/>
            <a:rect r="r" b="b" t="t" l="l"/>
            <a:pathLst>
              <a:path h="487306" w="471358">
                <a:moveTo>
                  <a:pt x="0" y="0"/>
                </a:moveTo>
                <a:lnTo>
                  <a:pt x="471358" y="0"/>
                </a:lnTo>
                <a:lnTo>
                  <a:pt x="471358" y="487306"/>
                </a:lnTo>
                <a:lnTo>
                  <a:pt x="0" y="4873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165493" y="5387153"/>
            <a:ext cx="471358" cy="487306"/>
          </a:xfrm>
          <a:custGeom>
            <a:avLst/>
            <a:gdLst/>
            <a:ahLst/>
            <a:cxnLst/>
            <a:rect r="r" b="b" t="t" l="l"/>
            <a:pathLst>
              <a:path h="487306" w="471358">
                <a:moveTo>
                  <a:pt x="0" y="0"/>
                </a:moveTo>
                <a:lnTo>
                  <a:pt x="471358" y="0"/>
                </a:lnTo>
                <a:lnTo>
                  <a:pt x="471358" y="487307"/>
                </a:lnTo>
                <a:lnTo>
                  <a:pt x="0" y="487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270832" y="255396"/>
            <a:ext cx="14366019" cy="8229600"/>
            <a:chOff x="0" y="0"/>
            <a:chExt cx="19154692" cy="10972800"/>
          </a:xfrm>
        </p:grpSpPr>
        <p:sp>
          <p:nvSpPr>
            <p:cNvPr name="TextBox 11" id="11"/>
            <p:cNvSpPr txBox="true"/>
            <p:nvPr/>
          </p:nvSpPr>
          <p:spPr>
            <a:xfrm rot="-571860">
              <a:off x="555412" y="5342552"/>
              <a:ext cx="18103275" cy="4160178"/>
            </a:xfrm>
            <a:prstGeom prst="rect">
              <a:avLst/>
            </a:prstGeom>
          </p:spPr>
          <p:txBody>
            <a:bodyPr anchor="t" rtlCol="false" tIns="0" lIns="0" bIns="0" rIns="0">
              <a:spAutoFit/>
            </a:bodyPr>
            <a:lstStyle/>
            <a:p>
              <a:pPr algn="ctr">
                <a:lnSpc>
                  <a:spcPts val="15247"/>
                </a:lnSpc>
              </a:pPr>
              <a:r>
                <a:rPr lang="en-US" sz="30495" spc="-914">
                  <a:solidFill>
                    <a:srgbClr val="15789A"/>
                  </a:solidFill>
                  <a:latin typeface="Handelson Two"/>
                  <a:ea typeface="Handelson Two"/>
                  <a:cs typeface="Handelson Two"/>
                  <a:sym typeface="Handelson Two"/>
                </a:rPr>
                <a:t>Thank Tou</a:t>
              </a:r>
            </a:p>
          </p:txBody>
        </p:sp>
        <p:sp>
          <p:nvSpPr>
            <p:cNvPr name="TextBox 12" id="12"/>
            <p:cNvSpPr txBox="true"/>
            <p:nvPr/>
          </p:nvSpPr>
          <p:spPr>
            <a:xfrm rot="-571860">
              <a:off x="425101" y="2859764"/>
              <a:ext cx="18531734" cy="3934768"/>
            </a:xfrm>
            <a:prstGeom prst="rect">
              <a:avLst/>
            </a:prstGeom>
          </p:spPr>
          <p:txBody>
            <a:bodyPr anchor="t" rtlCol="false" tIns="0" lIns="0" bIns="0" rIns="0">
              <a:spAutoFit/>
            </a:bodyPr>
            <a:lstStyle/>
            <a:p>
              <a:pPr algn="ctr">
                <a:lnSpc>
                  <a:spcPts val="16984"/>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DAG5puRY3-Q</dc:identifier>
  <dcterms:modified xsi:type="dcterms:W3CDTF">2011-08-01T06:04:30Z</dcterms:modified>
  <cp:revision>1</cp:revision>
  <dc:title>Presentation - DEPI</dc:title>
</cp:coreProperties>
</file>